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C8E860-F95D-4040-8211-544164A53A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34600" y="794520"/>
            <a:ext cx="9619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4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6BCA24-38AF-498A-8FEC-AB0C1FB6371D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6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ftr" idx="10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11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028066-0D85-4BE4-9F64-E727BE78656D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2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43DB41-1FAE-413E-8671-8F917515BCDE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ftr" idx="13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4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7E37C3-3B5A-4480-826D-CA31180FF9C3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5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ftr" idx="16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7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C009C5-96AB-4AD8-91F1-85AEEDC28F32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8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ftr" idx="19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0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845621-E7AD-4C11-9A80-812F99C8D2EF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1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ftr" idx="22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23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9429CC-E7EB-43B8-A51B-4CF224B6E72D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4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ftr" idx="25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6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B55670-965A-4843-97E5-11A0C0EE133B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27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ftr" idx="28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29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450544-B9CD-441A-905B-7CD68EF020F5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30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ftr" idx="31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32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F226A7-EE3C-4C89-B92C-6763410DA930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33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ftr" idx="34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35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DE1091-ACCC-4D55-8395-8A92C6325779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36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ftr" idx="37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38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AA5D76-9A7E-4172-8A71-929259A0150C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39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ftr" idx="40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41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D0FACF-E31E-4CBD-9422-1AC85336575E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42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ftr" idx="43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 idx="44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EB23E5-CF21-4304-8FDF-CDD45F050248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45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19560" cy="12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19560" cy="437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486120" cy="47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55040" cy="135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792720"/>
            <a:ext cx="9619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653640" y="6881400"/>
            <a:ext cx="3324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66368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D6FE54-14C8-49DB-8548-A11B7E5B4DD1}" type="slidenum">
              <a:rPr b="0" lang="en-US" sz="154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pt-BR" sz="15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34600" y="6881400"/>
            <a:ext cx="2433600" cy="463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2"/>
          <p:cNvGrpSpPr/>
          <p:nvPr/>
        </p:nvGrpSpPr>
        <p:grpSpPr>
          <a:xfrm>
            <a:off x="2625480" y="936360"/>
            <a:ext cx="8010720" cy="891360"/>
            <a:chOff x="2625480" y="936360"/>
            <a:chExt cx="8010720" cy="891360"/>
          </a:xfrm>
        </p:grpSpPr>
        <p:sp>
          <p:nvSpPr>
            <p:cNvPr id="106" name="Freeform 4"/>
            <p:cNvSpPr/>
            <p:nvPr/>
          </p:nvSpPr>
          <p:spPr>
            <a:xfrm>
              <a:off x="2625480" y="936360"/>
              <a:ext cx="8010720" cy="891360"/>
            </a:xfrm>
            <a:custGeom>
              <a:avLst/>
              <a:gdLst>
                <a:gd name="textAreaLeft" fmla="*/ 0 w 8010720"/>
                <a:gd name="textAreaRight" fmla="*/ 8072280 w 8010720"/>
                <a:gd name="textAreaTop" fmla="*/ 0 h 891360"/>
                <a:gd name="textAreaBottom" fmla="*/ 952920 h 89136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07" name="Group 22"/>
          <p:cNvGrpSpPr/>
          <p:nvPr/>
        </p:nvGrpSpPr>
        <p:grpSpPr>
          <a:xfrm>
            <a:off x="0" y="393840"/>
            <a:ext cx="8841960" cy="1566720"/>
            <a:chOff x="0" y="393840"/>
            <a:chExt cx="8841960" cy="1566720"/>
          </a:xfrm>
        </p:grpSpPr>
        <p:sp>
          <p:nvSpPr>
            <p:cNvPr id="108" name="Freeform 5"/>
            <p:cNvSpPr/>
            <p:nvPr/>
          </p:nvSpPr>
          <p:spPr>
            <a:xfrm>
              <a:off x="0" y="393840"/>
              <a:ext cx="208440" cy="208440"/>
            </a:xfrm>
            <a:custGeom>
              <a:avLst/>
              <a:gdLst>
                <a:gd name="textAreaLeft" fmla="*/ 0 w 208440"/>
                <a:gd name="textAreaRight" fmla="*/ 270000 w 208440"/>
                <a:gd name="textAreaTop" fmla="*/ 0 h 208440"/>
                <a:gd name="textAreaBottom" fmla="*/ 270000 h 20844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9" name="Freeform 6"/>
            <p:cNvSpPr/>
            <p:nvPr/>
          </p:nvSpPr>
          <p:spPr>
            <a:xfrm>
              <a:off x="0" y="663480"/>
              <a:ext cx="8841960" cy="1297080"/>
            </a:xfrm>
            <a:custGeom>
              <a:avLst/>
              <a:gdLst>
                <a:gd name="textAreaLeft" fmla="*/ 0 w 8841960"/>
                <a:gd name="textAreaRight" fmla="*/ 8903520 w 8841960"/>
                <a:gd name="textAreaTop" fmla="*/ 0 h 1297080"/>
                <a:gd name="textAreaBottom" fmla="*/ 1358640 h 129708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10" name="TextBox 10"/>
          <p:cNvSpPr/>
          <p:nvPr/>
        </p:nvSpPr>
        <p:spPr>
          <a:xfrm>
            <a:off x="2375640" y="7041960"/>
            <a:ext cx="20221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Calibri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1788480" y="1048680"/>
            <a:ext cx="70538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181" strike="noStrike" u="none">
                <a:solidFill>
                  <a:srgbClr val="ffffff"/>
                </a:solidFill>
                <a:effectLst/>
                <a:uFillTx/>
                <a:latin typeface="Avenir LT Std 35 Light"/>
                <a:ea typeface="Arial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540000" y="3960000"/>
            <a:ext cx="935352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 (Corpo)"/>
                <a:ea typeface="Arial"/>
              </a:rPr>
              <a:t>Participou e concluiu o Treinamento sobre Uso Correto, Guarda e Conservação de EPI - Equipamento de Proteção Individual (teórico e prático), realizado em 15 de junho de 2026, com duração de 2 (duas) horas, pela empresa VOLGA ENGENHARIA INDUSTRIA E COMERCIO LTDA,  na Av. Elmar Arantes Cabral, SN, Quadra 001, Lote 5, Parque Industrial Vice-Presidente José Alencar, Aparecida de Goiânia-GO inscrita no CNPJ: 03.347.463/0001-12. em conformidade com a norma regulamentadora Nº 06, item 6.6.1 letra D.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3"/>
          <p:cNvSpPr/>
          <p:nvPr/>
        </p:nvSpPr>
        <p:spPr>
          <a:xfrm>
            <a:off x="1882080" y="215640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LT Std 35 Light"/>
                <a:ea typeface="Arial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4"/>
          <p:cNvSpPr/>
          <p:nvPr/>
        </p:nvSpPr>
        <p:spPr>
          <a:xfrm>
            <a:off x="135000" y="2520000"/>
            <a:ext cx="1030176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5" name="TextBox 15"/>
          <p:cNvSpPr/>
          <p:nvPr/>
        </p:nvSpPr>
        <p:spPr>
          <a:xfrm>
            <a:off x="1578600" y="6467760"/>
            <a:ext cx="3523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Pedro Exemplo Rocha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6"/>
          <p:cNvSpPr/>
          <p:nvPr/>
        </p:nvSpPr>
        <p:spPr>
          <a:xfrm>
            <a:off x="5400000" y="6504120"/>
            <a:ext cx="37738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Kayque Souza De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7"/>
          <p:cNvSpPr/>
          <p:nvPr/>
        </p:nvSpPr>
        <p:spPr>
          <a:xfrm>
            <a:off x="5400000" y="6681600"/>
            <a:ext cx="379440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 Instrutor/Responsável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Téc. Segurança do Trabalho</a:t>
            </a:r>
            <a:br>
              <a:rPr sz="1300"/>
            </a:b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  0028038/GO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8"/>
          <p:cNvSpPr/>
          <p:nvPr/>
        </p:nvSpPr>
        <p:spPr>
          <a:xfrm>
            <a:off x="0" y="2456280"/>
            <a:ext cx="104151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PEDRO EXEMPLO ROCHA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	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AutoShape 2"/>
          <p:cNvSpPr/>
          <p:nvPr/>
        </p:nvSpPr>
        <p:spPr>
          <a:xfrm flipV="1">
            <a:off x="463320" y="3084480"/>
            <a:ext cx="9766080" cy="1764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0" name="Conector reto 3"/>
          <p:cNvSpPr/>
          <p:nvPr/>
        </p:nvSpPr>
        <p:spPr>
          <a:xfrm>
            <a:off x="18234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1" name="Conector reto 4"/>
          <p:cNvSpPr/>
          <p:nvPr/>
        </p:nvSpPr>
        <p:spPr>
          <a:xfrm>
            <a:off x="56196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0"/>
          <p:cNvSpPr/>
          <p:nvPr/>
        </p:nvSpPr>
        <p:spPr>
          <a:xfrm>
            <a:off x="927000" y="1644480"/>
            <a:ext cx="7634520" cy="56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e legislação aplicadas - NR 06;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internas : Uso obrigatório dos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empregador;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Uso adequado dos equipamentos de proteção individual -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Informações sobre os equipamentos de proteção coletiva - EPC;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Conscientização ao uso correto dos EPI’s;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Penalidades na recusa do uso do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Periodicidade da troca do EPI.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21"/>
          <p:cNvSpPr/>
          <p:nvPr/>
        </p:nvSpPr>
        <p:spPr>
          <a:xfrm>
            <a:off x="927000" y="101628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CONTEÚDO PR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O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G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RA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3"/>
          <p:cNvGrpSpPr/>
          <p:nvPr/>
        </p:nvGrpSpPr>
        <p:grpSpPr>
          <a:xfrm>
            <a:off x="2625480" y="936360"/>
            <a:ext cx="8010720" cy="891360"/>
            <a:chOff x="2625480" y="936360"/>
            <a:chExt cx="8010720" cy="891360"/>
          </a:xfrm>
        </p:grpSpPr>
        <p:sp>
          <p:nvSpPr>
            <p:cNvPr id="125" name="Freeform 7"/>
            <p:cNvSpPr/>
            <p:nvPr/>
          </p:nvSpPr>
          <p:spPr>
            <a:xfrm>
              <a:off x="2625480" y="936360"/>
              <a:ext cx="8010720" cy="891360"/>
            </a:xfrm>
            <a:custGeom>
              <a:avLst/>
              <a:gdLst>
                <a:gd name="textAreaLeft" fmla="*/ 0 w 8010720"/>
                <a:gd name="textAreaRight" fmla="*/ 8072280 w 8010720"/>
                <a:gd name="textAreaTop" fmla="*/ 0 h 891360"/>
                <a:gd name="textAreaBottom" fmla="*/ 952920 h 89136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26" name="Group 4"/>
          <p:cNvGrpSpPr/>
          <p:nvPr/>
        </p:nvGrpSpPr>
        <p:grpSpPr>
          <a:xfrm>
            <a:off x="0" y="393840"/>
            <a:ext cx="8841960" cy="1566720"/>
            <a:chOff x="0" y="393840"/>
            <a:chExt cx="8841960" cy="1566720"/>
          </a:xfrm>
        </p:grpSpPr>
        <p:sp>
          <p:nvSpPr>
            <p:cNvPr id="127" name="Freeform 8"/>
            <p:cNvSpPr/>
            <p:nvPr/>
          </p:nvSpPr>
          <p:spPr>
            <a:xfrm>
              <a:off x="0" y="393840"/>
              <a:ext cx="208440" cy="208440"/>
            </a:xfrm>
            <a:custGeom>
              <a:avLst/>
              <a:gdLst>
                <a:gd name="textAreaLeft" fmla="*/ 0 w 208440"/>
                <a:gd name="textAreaRight" fmla="*/ 270000 w 208440"/>
                <a:gd name="textAreaTop" fmla="*/ 0 h 208440"/>
                <a:gd name="textAreaBottom" fmla="*/ 270000 h 20844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8" name="Freeform 9"/>
            <p:cNvSpPr/>
            <p:nvPr/>
          </p:nvSpPr>
          <p:spPr>
            <a:xfrm>
              <a:off x="0" y="663480"/>
              <a:ext cx="8841960" cy="1297080"/>
            </a:xfrm>
            <a:custGeom>
              <a:avLst/>
              <a:gdLst>
                <a:gd name="textAreaLeft" fmla="*/ 0 w 8841960"/>
                <a:gd name="textAreaRight" fmla="*/ 8903520 w 8841960"/>
                <a:gd name="textAreaTop" fmla="*/ 0 h 1297080"/>
                <a:gd name="textAreaBottom" fmla="*/ 1358640 h 129708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29" name="TextBox 19"/>
          <p:cNvSpPr/>
          <p:nvPr/>
        </p:nvSpPr>
        <p:spPr>
          <a:xfrm>
            <a:off x="2375640" y="7041960"/>
            <a:ext cx="20221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Calibri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0"/>
          <p:cNvSpPr/>
          <p:nvPr/>
        </p:nvSpPr>
        <p:spPr>
          <a:xfrm>
            <a:off x="1788480" y="1048680"/>
            <a:ext cx="70538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181" strike="noStrike" u="none">
                <a:solidFill>
                  <a:srgbClr val="ffffff"/>
                </a:solidFill>
                <a:effectLst/>
                <a:uFillTx/>
                <a:latin typeface="Avenir LT Std 35 Light"/>
                <a:ea typeface="Arial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1"/>
          <p:cNvSpPr/>
          <p:nvPr/>
        </p:nvSpPr>
        <p:spPr>
          <a:xfrm>
            <a:off x="540000" y="3960000"/>
            <a:ext cx="935352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 (Corpo)"/>
                <a:ea typeface="Arial"/>
              </a:rPr>
              <a:t>Participou e concluiu o Treinamento sobre Uso Correto, Guarda e Conservação de EPI - Equipamento de Proteção Individual (teórico e prático), realizado em 15 de junho de 2026, com duração de 2 (duas) horas, pela empresa VOLGA ENGENHARIA INDUSTRIA E COMERCIO LTDA,  na Av. Elmar Arantes Cabral, SN, Quadra 001, Lote 5, Parque Industrial Vice-Presidente José Alencar, Aparecida de Goiânia-GO inscrita no CNPJ: 03.347.463/0001-12. em conformidade com a norma regulamentadora Nº 06, item 6.6.1 letra D.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2"/>
          <p:cNvSpPr/>
          <p:nvPr/>
        </p:nvSpPr>
        <p:spPr>
          <a:xfrm>
            <a:off x="1882080" y="215640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LT Std 35 Light"/>
                <a:ea typeface="Arial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3"/>
          <p:cNvSpPr/>
          <p:nvPr/>
        </p:nvSpPr>
        <p:spPr>
          <a:xfrm>
            <a:off x="135000" y="2520000"/>
            <a:ext cx="1030176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4" name="TextBox 24"/>
          <p:cNvSpPr/>
          <p:nvPr/>
        </p:nvSpPr>
        <p:spPr>
          <a:xfrm>
            <a:off x="1578600" y="6467760"/>
            <a:ext cx="3523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Ana Da Exemplo Pereira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5"/>
          <p:cNvSpPr/>
          <p:nvPr/>
        </p:nvSpPr>
        <p:spPr>
          <a:xfrm>
            <a:off x="5400000" y="6504120"/>
            <a:ext cx="37738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Kayque Souza De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6"/>
          <p:cNvSpPr/>
          <p:nvPr/>
        </p:nvSpPr>
        <p:spPr>
          <a:xfrm>
            <a:off x="5400000" y="6681600"/>
            <a:ext cx="379440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 Instrutor/Responsável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Téc. Segurança do Trabalho</a:t>
            </a:r>
            <a:br>
              <a:rPr sz="1300"/>
            </a:b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  0028038/GO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7"/>
          <p:cNvSpPr/>
          <p:nvPr/>
        </p:nvSpPr>
        <p:spPr>
          <a:xfrm>
            <a:off x="0" y="2456280"/>
            <a:ext cx="104151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  JOAO EXEMPLO DA ALVES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AutoShape 3"/>
          <p:cNvSpPr/>
          <p:nvPr/>
        </p:nvSpPr>
        <p:spPr>
          <a:xfrm flipV="1">
            <a:off x="463320" y="3084480"/>
            <a:ext cx="9766080" cy="1764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9" name="Conector reto 5"/>
          <p:cNvSpPr/>
          <p:nvPr/>
        </p:nvSpPr>
        <p:spPr>
          <a:xfrm>
            <a:off x="18234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0" name="Conector reto 6"/>
          <p:cNvSpPr/>
          <p:nvPr/>
        </p:nvSpPr>
        <p:spPr>
          <a:xfrm>
            <a:off x="56196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2"/>
          <p:cNvSpPr/>
          <p:nvPr/>
        </p:nvSpPr>
        <p:spPr>
          <a:xfrm>
            <a:off x="927000" y="1644480"/>
            <a:ext cx="7634520" cy="56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e legislação aplicadas - NR 06;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internas : Uso obrigatório dos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empregador;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Uso adequado dos equipamentos de proteção individual -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Informações sobre os equipamentos de proteção coletiva - EPC;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Conscientização ao uso correto dos EPI’s;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Penalidades na recusa do uso do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Periodicidade da troca do EPI.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927000" y="101628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CONTEÚDO PR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O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G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RA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5"/>
          <p:cNvGrpSpPr/>
          <p:nvPr/>
        </p:nvGrpSpPr>
        <p:grpSpPr>
          <a:xfrm>
            <a:off x="2625480" y="936360"/>
            <a:ext cx="8010720" cy="891360"/>
            <a:chOff x="2625480" y="936360"/>
            <a:chExt cx="8010720" cy="891360"/>
          </a:xfrm>
        </p:grpSpPr>
        <p:sp>
          <p:nvSpPr>
            <p:cNvPr id="144" name="Freeform 10"/>
            <p:cNvSpPr/>
            <p:nvPr/>
          </p:nvSpPr>
          <p:spPr>
            <a:xfrm>
              <a:off x="2625480" y="936360"/>
              <a:ext cx="8010720" cy="891360"/>
            </a:xfrm>
            <a:custGeom>
              <a:avLst/>
              <a:gdLst>
                <a:gd name="textAreaLeft" fmla="*/ 0 w 8010720"/>
                <a:gd name="textAreaRight" fmla="*/ 8072280 w 8010720"/>
                <a:gd name="textAreaTop" fmla="*/ 0 h 891360"/>
                <a:gd name="textAreaBottom" fmla="*/ 952920 h 89136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45" name="Group 6"/>
          <p:cNvGrpSpPr/>
          <p:nvPr/>
        </p:nvGrpSpPr>
        <p:grpSpPr>
          <a:xfrm>
            <a:off x="0" y="393840"/>
            <a:ext cx="8841960" cy="1566720"/>
            <a:chOff x="0" y="393840"/>
            <a:chExt cx="8841960" cy="1566720"/>
          </a:xfrm>
        </p:grpSpPr>
        <p:sp>
          <p:nvSpPr>
            <p:cNvPr id="146" name="Freeform 11"/>
            <p:cNvSpPr/>
            <p:nvPr/>
          </p:nvSpPr>
          <p:spPr>
            <a:xfrm>
              <a:off x="0" y="393840"/>
              <a:ext cx="208440" cy="208440"/>
            </a:xfrm>
            <a:custGeom>
              <a:avLst/>
              <a:gdLst>
                <a:gd name="textAreaLeft" fmla="*/ 0 w 208440"/>
                <a:gd name="textAreaRight" fmla="*/ 270000 w 208440"/>
                <a:gd name="textAreaTop" fmla="*/ 0 h 208440"/>
                <a:gd name="textAreaBottom" fmla="*/ 270000 h 20844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47" name="Freeform 12"/>
            <p:cNvSpPr/>
            <p:nvPr/>
          </p:nvSpPr>
          <p:spPr>
            <a:xfrm>
              <a:off x="0" y="663480"/>
              <a:ext cx="8841960" cy="1297080"/>
            </a:xfrm>
            <a:custGeom>
              <a:avLst/>
              <a:gdLst>
                <a:gd name="textAreaLeft" fmla="*/ 0 w 8841960"/>
                <a:gd name="textAreaRight" fmla="*/ 8903520 w 8841960"/>
                <a:gd name="textAreaTop" fmla="*/ 0 h 1297080"/>
                <a:gd name="textAreaBottom" fmla="*/ 1358640 h 129708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48" name="TextBox 28"/>
          <p:cNvSpPr/>
          <p:nvPr/>
        </p:nvSpPr>
        <p:spPr>
          <a:xfrm>
            <a:off x="2375640" y="7041960"/>
            <a:ext cx="20221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Calibri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9"/>
          <p:cNvSpPr/>
          <p:nvPr/>
        </p:nvSpPr>
        <p:spPr>
          <a:xfrm>
            <a:off x="1788480" y="1048680"/>
            <a:ext cx="70538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181" strike="noStrike" u="none">
                <a:solidFill>
                  <a:srgbClr val="ffffff"/>
                </a:solidFill>
                <a:effectLst/>
                <a:uFillTx/>
                <a:latin typeface="Avenir LT Std 35 Light"/>
                <a:ea typeface="Arial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0"/>
          <p:cNvSpPr/>
          <p:nvPr/>
        </p:nvSpPr>
        <p:spPr>
          <a:xfrm>
            <a:off x="540000" y="3960000"/>
            <a:ext cx="935352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 (Corpo)"/>
                <a:ea typeface="Arial"/>
              </a:rPr>
              <a:t>Participou e concluiu o Treinamento sobre Uso Correto, Guarda e Conservação de EPI - Equipamento de Proteção Individual (teórico e prático), realizado em 15 de junho de 2026, com duração de 2 (duas) horas, pela empresa VOLGA ENGENHARIA INDUSTRIA E COMERCIO LTDA,  na Av. Elmar Arantes Cabral, SN, Quadra 001, Lote 5, Parque Industrial Vice-Presidente José Alencar, Aparecida de Goiânia-GO inscrita no CNPJ: 03.347.463/0001-12. em conformidade com a norma regulamentadora Nº 06, item 6.6.1 letra D.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1"/>
          <p:cNvSpPr/>
          <p:nvPr/>
        </p:nvSpPr>
        <p:spPr>
          <a:xfrm>
            <a:off x="1882080" y="215640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LT Std 35 Light"/>
                <a:ea typeface="Arial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2"/>
          <p:cNvSpPr/>
          <p:nvPr/>
        </p:nvSpPr>
        <p:spPr>
          <a:xfrm>
            <a:off x="135000" y="2520000"/>
            <a:ext cx="1030176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3" name="TextBox 33"/>
          <p:cNvSpPr/>
          <p:nvPr/>
        </p:nvSpPr>
        <p:spPr>
          <a:xfrm>
            <a:off x="1578600" y="6467760"/>
            <a:ext cx="3523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Carla Exemplo Pinto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4"/>
          <p:cNvSpPr/>
          <p:nvPr/>
        </p:nvSpPr>
        <p:spPr>
          <a:xfrm>
            <a:off x="5400000" y="6504120"/>
            <a:ext cx="37738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Kayque Souza De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5"/>
          <p:cNvSpPr/>
          <p:nvPr/>
        </p:nvSpPr>
        <p:spPr>
          <a:xfrm>
            <a:off x="5400000" y="6681600"/>
            <a:ext cx="379440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 Instrutor/Responsável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Téc. Segurança do Trabalho</a:t>
            </a:r>
            <a:br>
              <a:rPr sz="1300"/>
            </a:b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 0028038/GO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6"/>
          <p:cNvSpPr/>
          <p:nvPr/>
        </p:nvSpPr>
        <p:spPr>
          <a:xfrm>
            <a:off x="0" y="2456280"/>
            <a:ext cx="104151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  LUCIA EXEMPLO NUNES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AutoShape 4"/>
          <p:cNvSpPr/>
          <p:nvPr/>
        </p:nvSpPr>
        <p:spPr>
          <a:xfrm flipV="1">
            <a:off x="463320" y="3084480"/>
            <a:ext cx="9766080" cy="1764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8" name="Conector reto 7"/>
          <p:cNvSpPr/>
          <p:nvPr/>
        </p:nvSpPr>
        <p:spPr>
          <a:xfrm>
            <a:off x="18234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59" name="Conector reto 8"/>
          <p:cNvSpPr/>
          <p:nvPr/>
        </p:nvSpPr>
        <p:spPr>
          <a:xfrm>
            <a:off x="56196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4"/>
          <p:cNvSpPr/>
          <p:nvPr/>
        </p:nvSpPr>
        <p:spPr>
          <a:xfrm>
            <a:off x="927000" y="1644480"/>
            <a:ext cx="7634520" cy="56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e legislação aplicadas - NR 06;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internas : Uso obrigatório dos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empregador;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Uso adequado dos equipamentos de proteção individual -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Informações sobre os equipamentos de proteção coletiva - EPC;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Conscientização ao uso correto dos EPI’s;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Penalidades na recusa do uso do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Periodicidade da troca do EPI.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927000" y="101628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CONTEÚDO PR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O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G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RA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"/>
          <p:cNvGrpSpPr/>
          <p:nvPr/>
        </p:nvGrpSpPr>
        <p:grpSpPr>
          <a:xfrm>
            <a:off x="2625480" y="936360"/>
            <a:ext cx="8010720" cy="891360"/>
            <a:chOff x="2625480" y="936360"/>
            <a:chExt cx="8010720" cy="891360"/>
          </a:xfrm>
        </p:grpSpPr>
        <p:sp>
          <p:nvSpPr>
            <p:cNvPr id="163" name="Freeform 1"/>
            <p:cNvSpPr/>
            <p:nvPr/>
          </p:nvSpPr>
          <p:spPr>
            <a:xfrm>
              <a:off x="2625480" y="936360"/>
              <a:ext cx="8010720" cy="891360"/>
            </a:xfrm>
            <a:custGeom>
              <a:avLst/>
              <a:gdLst>
                <a:gd name="textAreaLeft" fmla="*/ 0 w 8010720"/>
                <a:gd name="textAreaRight" fmla="*/ 8072280 w 8010720"/>
                <a:gd name="textAreaTop" fmla="*/ 0 h 891360"/>
                <a:gd name="textAreaBottom" fmla="*/ 952920 h 89136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64" name="Group 7"/>
          <p:cNvGrpSpPr/>
          <p:nvPr/>
        </p:nvGrpSpPr>
        <p:grpSpPr>
          <a:xfrm>
            <a:off x="0" y="393840"/>
            <a:ext cx="8841960" cy="1566720"/>
            <a:chOff x="0" y="393840"/>
            <a:chExt cx="8841960" cy="1566720"/>
          </a:xfrm>
        </p:grpSpPr>
        <p:sp>
          <p:nvSpPr>
            <p:cNvPr id="165" name="Freeform 2"/>
            <p:cNvSpPr/>
            <p:nvPr/>
          </p:nvSpPr>
          <p:spPr>
            <a:xfrm>
              <a:off x="0" y="393840"/>
              <a:ext cx="208440" cy="208440"/>
            </a:xfrm>
            <a:custGeom>
              <a:avLst/>
              <a:gdLst>
                <a:gd name="textAreaLeft" fmla="*/ 0 w 208440"/>
                <a:gd name="textAreaRight" fmla="*/ 270000 w 208440"/>
                <a:gd name="textAreaTop" fmla="*/ 0 h 208440"/>
                <a:gd name="textAreaBottom" fmla="*/ 270000 h 20844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6" name="Freeform 3"/>
            <p:cNvSpPr/>
            <p:nvPr/>
          </p:nvSpPr>
          <p:spPr>
            <a:xfrm>
              <a:off x="0" y="663480"/>
              <a:ext cx="8841960" cy="1297080"/>
            </a:xfrm>
            <a:custGeom>
              <a:avLst/>
              <a:gdLst>
                <a:gd name="textAreaLeft" fmla="*/ 0 w 8841960"/>
                <a:gd name="textAreaRight" fmla="*/ 8903520 w 8841960"/>
                <a:gd name="textAreaTop" fmla="*/ 0 h 1297080"/>
                <a:gd name="textAreaBottom" fmla="*/ 1358640 h 129708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67" name="TextBox 1"/>
          <p:cNvSpPr/>
          <p:nvPr/>
        </p:nvSpPr>
        <p:spPr>
          <a:xfrm>
            <a:off x="2375640" y="7041960"/>
            <a:ext cx="20221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Calibri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6"/>
          <p:cNvSpPr/>
          <p:nvPr/>
        </p:nvSpPr>
        <p:spPr>
          <a:xfrm>
            <a:off x="1788480" y="1048680"/>
            <a:ext cx="70538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181" strike="noStrike" u="none">
                <a:solidFill>
                  <a:srgbClr val="ffffff"/>
                </a:solidFill>
                <a:effectLst/>
                <a:uFillTx/>
                <a:latin typeface="Avenir LT Std 35 Light"/>
                <a:ea typeface="Arial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540000" y="3960000"/>
            <a:ext cx="935352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 (Corpo)"/>
                <a:ea typeface="Arial"/>
              </a:rPr>
              <a:t>Participou e concluiu o Treinamento sobre Uso Correto, Guarda e Conservação de EPI - Equipamento de Proteção Individual (teórico e prático), realizado em 15 de junho de 2026, com duração de 2 (duas) horas, pela empresa VOLGA ENGENHARIA INDUSTRIA E COMERCIO LTDA,  na Av. Elmar Arantes Cabral, SN, Quadra 001, Lote 5, Parque Industrial Vice-Presidente José Alencar, Aparecida de Goiânia-GO inscrita no CNPJ: 03.347.463/0001-12. em conformidade com a norma regulamentadora Nº 06, item 6.6.1 letra D.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8"/>
          <p:cNvSpPr/>
          <p:nvPr/>
        </p:nvSpPr>
        <p:spPr>
          <a:xfrm>
            <a:off x="1882080" y="215640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LT Std 35 Light"/>
                <a:ea typeface="Arial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9"/>
          <p:cNvSpPr/>
          <p:nvPr/>
        </p:nvSpPr>
        <p:spPr>
          <a:xfrm>
            <a:off x="135000" y="2520000"/>
            <a:ext cx="1030176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2" name="TextBox 37"/>
          <p:cNvSpPr/>
          <p:nvPr/>
        </p:nvSpPr>
        <p:spPr>
          <a:xfrm>
            <a:off x="1578600" y="6467760"/>
            <a:ext cx="3523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Carla Exemplo Pinto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8"/>
          <p:cNvSpPr/>
          <p:nvPr/>
        </p:nvSpPr>
        <p:spPr>
          <a:xfrm>
            <a:off x="5400000" y="6504120"/>
            <a:ext cx="37738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Kayque Souza De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9"/>
          <p:cNvSpPr/>
          <p:nvPr/>
        </p:nvSpPr>
        <p:spPr>
          <a:xfrm>
            <a:off x="5400000" y="6681600"/>
            <a:ext cx="379440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 Instrutor/Responsável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Téc. Segurança do Trabalho</a:t>
            </a:r>
            <a:br>
              <a:rPr sz="1300"/>
            </a:b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 0028038/GO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0"/>
          <p:cNvSpPr/>
          <p:nvPr/>
        </p:nvSpPr>
        <p:spPr>
          <a:xfrm>
            <a:off x="0" y="2456280"/>
            <a:ext cx="104151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PAULO EXEMPLO MOURA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AutoShape 1"/>
          <p:cNvSpPr/>
          <p:nvPr/>
        </p:nvSpPr>
        <p:spPr>
          <a:xfrm flipV="1">
            <a:off x="463320" y="3084480"/>
            <a:ext cx="9766080" cy="1764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7" name="Conector reto 1"/>
          <p:cNvSpPr/>
          <p:nvPr/>
        </p:nvSpPr>
        <p:spPr>
          <a:xfrm>
            <a:off x="18234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8" name="Conector reto 2"/>
          <p:cNvSpPr/>
          <p:nvPr/>
        </p:nvSpPr>
        <p:spPr>
          <a:xfrm>
            <a:off x="56196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41"/>
          <p:cNvSpPr/>
          <p:nvPr/>
        </p:nvSpPr>
        <p:spPr>
          <a:xfrm>
            <a:off x="927000" y="1644480"/>
            <a:ext cx="7634520" cy="56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e legislação aplicadas - NR 06;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internas : Uso obrigatório dos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empregador;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Uso adequado dos equipamentos de proteção individual -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Informações sobre os equipamentos de proteção coletiva - EPC;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Conscientização ao uso correto dos EPI’s;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Penalidades na recusa do uso do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Periodicidade da troca do EPI.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2"/>
          <p:cNvSpPr/>
          <p:nvPr/>
        </p:nvSpPr>
        <p:spPr>
          <a:xfrm>
            <a:off x="927000" y="101628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CONTEÚDO PR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O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G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RA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8"/>
          <p:cNvGrpSpPr/>
          <p:nvPr/>
        </p:nvGrpSpPr>
        <p:grpSpPr>
          <a:xfrm>
            <a:off x="2625480" y="936360"/>
            <a:ext cx="8010720" cy="891360"/>
            <a:chOff x="2625480" y="936360"/>
            <a:chExt cx="8010720" cy="891360"/>
          </a:xfrm>
        </p:grpSpPr>
        <p:sp>
          <p:nvSpPr>
            <p:cNvPr id="182" name="Freeform 13"/>
            <p:cNvSpPr/>
            <p:nvPr/>
          </p:nvSpPr>
          <p:spPr>
            <a:xfrm>
              <a:off x="2625480" y="936360"/>
              <a:ext cx="8010720" cy="891360"/>
            </a:xfrm>
            <a:custGeom>
              <a:avLst/>
              <a:gdLst>
                <a:gd name="textAreaLeft" fmla="*/ 0 w 8010720"/>
                <a:gd name="textAreaRight" fmla="*/ 8072280 w 8010720"/>
                <a:gd name="textAreaTop" fmla="*/ 0 h 891360"/>
                <a:gd name="textAreaBottom" fmla="*/ 952920 h 89136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83" name="Group 9"/>
          <p:cNvGrpSpPr/>
          <p:nvPr/>
        </p:nvGrpSpPr>
        <p:grpSpPr>
          <a:xfrm>
            <a:off x="0" y="393840"/>
            <a:ext cx="8841960" cy="1566720"/>
            <a:chOff x="0" y="393840"/>
            <a:chExt cx="8841960" cy="1566720"/>
          </a:xfrm>
        </p:grpSpPr>
        <p:sp>
          <p:nvSpPr>
            <p:cNvPr id="184" name="Freeform 14"/>
            <p:cNvSpPr/>
            <p:nvPr/>
          </p:nvSpPr>
          <p:spPr>
            <a:xfrm>
              <a:off x="0" y="393840"/>
              <a:ext cx="208440" cy="208440"/>
            </a:xfrm>
            <a:custGeom>
              <a:avLst/>
              <a:gdLst>
                <a:gd name="textAreaLeft" fmla="*/ 0 w 208440"/>
                <a:gd name="textAreaRight" fmla="*/ 270000 w 208440"/>
                <a:gd name="textAreaTop" fmla="*/ 0 h 208440"/>
                <a:gd name="textAreaBottom" fmla="*/ 270000 h 20844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5" name="Freeform 15"/>
            <p:cNvSpPr/>
            <p:nvPr/>
          </p:nvSpPr>
          <p:spPr>
            <a:xfrm>
              <a:off x="0" y="663480"/>
              <a:ext cx="8841960" cy="1297080"/>
            </a:xfrm>
            <a:custGeom>
              <a:avLst/>
              <a:gdLst>
                <a:gd name="textAreaLeft" fmla="*/ 0 w 8841960"/>
                <a:gd name="textAreaRight" fmla="*/ 8903520 w 8841960"/>
                <a:gd name="textAreaTop" fmla="*/ 0 h 1297080"/>
                <a:gd name="textAreaBottom" fmla="*/ 1358640 h 129708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86" name="TextBox 43"/>
          <p:cNvSpPr/>
          <p:nvPr/>
        </p:nvSpPr>
        <p:spPr>
          <a:xfrm>
            <a:off x="2375640" y="7041960"/>
            <a:ext cx="202212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trike="noStrike" u="none">
                <a:solidFill>
                  <a:srgbClr val="2e2e2e"/>
                </a:solidFill>
                <a:effectLst/>
                <a:uFillTx/>
                <a:latin typeface="Calibri"/>
                <a:ea typeface="Open Sans"/>
              </a:rPr>
              <a:t>Colaborador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44"/>
          <p:cNvSpPr/>
          <p:nvPr/>
        </p:nvSpPr>
        <p:spPr>
          <a:xfrm>
            <a:off x="1788480" y="1048680"/>
            <a:ext cx="70538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181" strike="noStrike" u="none">
                <a:solidFill>
                  <a:srgbClr val="ffffff"/>
                </a:solidFill>
                <a:effectLst/>
                <a:uFillTx/>
                <a:latin typeface="Avenir LT Std 35 Light"/>
                <a:ea typeface="Arial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45"/>
          <p:cNvSpPr/>
          <p:nvPr/>
        </p:nvSpPr>
        <p:spPr>
          <a:xfrm>
            <a:off x="540000" y="3960000"/>
            <a:ext cx="9353520" cy="22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 (Corpo)"/>
                <a:ea typeface="Arial"/>
              </a:rPr>
              <a:t>Participou e concluiu o Treinamento sobre Uso Correto, Guarda e Conservação de EPI - Equipamento de Proteção Individual (teórico e prático), realizado em 15 de junho de 2026, com duração de 2 (duas) horas, pela empresa VOLGA ENGENHARIA INDUSTRIA E COMERCIO LTDA,  na Av. Elmar Arantes Cabral, SN, Quadra 001, Lote 5, Parque Industrial Vice-Presidente José Alencar, Aparecida de Goiânia-GO inscrita no CNPJ: 03.347.463/0001-12. em conformidade com a norma regulamentadora Nº 06, item 6.6.1 letra D.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LT Std 55 Roman"/>
                <a:ea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6"/>
          <p:cNvSpPr/>
          <p:nvPr/>
        </p:nvSpPr>
        <p:spPr>
          <a:xfrm>
            <a:off x="1882080" y="215640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1" strike="noStrike" u="none">
                <a:solidFill>
                  <a:srgbClr val="000000"/>
                </a:solidFill>
                <a:effectLst/>
                <a:uFillTx/>
                <a:latin typeface="Avenir LT Std 35 Light"/>
                <a:ea typeface="Arial"/>
              </a:rPr>
              <a:t>CERTIFICAMOS QUE O COLABORADOR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47"/>
          <p:cNvSpPr/>
          <p:nvPr/>
        </p:nvSpPr>
        <p:spPr>
          <a:xfrm>
            <a:off x="135000" y="2520000"/>
            <a:ext cx="10301760" cy="11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1" name="TextBox 48"/>
          <p:cNvSpPr/>
          <p:nvPr/>
        </p:nvSpPr>
        <p:spPr>
          <a:xfrm>
            <a:off x="1578600" y="6467760"/>
            <a:ext cx="3523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DejaVu Sans"/>
              </a:rPr>
              <a:t>Maria de Exemplo Costa Alves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9"/>
          <p:cNvSpPr/>
          <p:nvPr/>
        </p:nvSpPr>
        <p:spPr>
          <a:xfrm>
            <a:off x="5400000" y="6504120"/>
            <a:ext cx="37738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venir LT Std 55 Roman"/>
                <a:ea typeface="Arial"/>
              </a:rPr>
              <a:t>Kayque Souza De Oliveira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50"/>
          <p:cNvSpPr/>
          <p:nvPr/>
        </p:nvSpPr>
        <p:spPr>
          <a:xfrm>
            <a:off x="5400000" y="6681600"/>
            <a:ext cx="379440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 Instrutor/Responsável Técnico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 Téc. Segurança do Trabalho</a:t>
            </a:r>
            <a:br>
              <a:rPr sz="1300"/>
            </a:br>
            <a:r>
              <a:rPr b="0" lang="pt-BR" sz="1300" strike="noStrike" u="none">
                <a:solidFill>
                  <a:srgbClr val="2e2e2e"/>
                </a:solidFill>
                <a:effectLst/>
                <a:uFillTx/>
                <a:latin typeface="Avenir LT Std 55 Roman"/>
                <a:ea typeface="Open Sans"/>
              </a:rPr>
              <a:t>Reg:  0028038/GO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51"/>
          <p:cNvSpPr/>
          <p:nvPr/>
        </p:nvSpPr>
        <p:spPr>
          <a:xfrm>
            <a:off x="0" y="2456280"/>
            <a:ext cx="104151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MARIA DE EXEMPLO COSTA ALVES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CPF:  000.000.000-00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AutoShape 5"/>
          <p:cNvSpPr/>
          <p:nvPr/>
        </p:nvSpPr>
        <p:spPr>
          <a:xfrm flipV="1">
            <a:off x="463320" y="3084480"/>
            <a:ext cx="9766080" cy="1764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6" name="Conector reto 9"/>
          <p:cNvSpPr/>
          <p:nvPr/>
        </p:nvSpPr>
        <p:spPr>
          <a:xfrm>
            <a:off x="18234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7" name="Conector reto 10"/>
          <p:cNvSpPr/>
          <p:nvPr/>
        </p:nvSpPr>
        <p:spPr>
          <a:xfrm>
            <a:off x="5619600" y="644004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52"/>
          <p:cNvSpPr/>
          <p:nvPr/>
        </p:nvSpPr>
        <p:spPr>
          <a:xfrm>
            <a:off x="927000" y="1644480"/>
            <a:ext cx="7634520" cy="56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e legislação aplicadas - NR 06;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Normas internas : Uso obrigatório dos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empregador;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Responsabilidades do empregado;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Uso adequado dos equipamentos de proteção individual -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Informações sobre os equipamentos de proteção coletiva - EPC;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Conscientização ao uso correto dos EPI’s;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Penalidades na recusa do uso do EPI;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Arial"/>
              </a:rPr>
              <a:t>Periodicidade da troca do EPI.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53"/>
          <p:cNvSpPr/>
          <p:nvPr/>
        </p:nvSpPr>
        <p:spPr>
          <a:xfrm>
            <a:off x="927000" y="1016280"/>
            <a:ext cx="5868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CONTEÚDO PR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O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G</a:t>
            </a:r>
            <a:r>
              <a:rPr b="0" lang="pt-BR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RA</a:t>
            </a:r>
            <a:r>
              <a:rPr b="0" lang="en-US" sz="2000" spc="181" strike="noStrike" u="none">
                <a:solidFill>
                  <a:srgbClr val="000000"/>
                </a:solidFill>
                <a:effectLst/>
                <a:uFillTx/>
                <a:latin typeface="Avenir Next LT Pro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25192</TotalTime>
  <Application>LibreOffice/25.2.7.2$Windows_X86_64 LibreOffice_project/5cbfd1ab6520636bb5f7b99185aa69bd7456825d</Application>
  <AppVersion>15.0000</AppVersion>
  <Words>2086</Words>
  <Paragraphs>210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2026-05-22T18:38:15Z</cp:lastPrinted>
  <dcterms:modified xsi:type="dcterms:W3CDTF">2026-07-06T17:38:54Z</dcterms:modified>
  <cp:revision>375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7184A5A35B804543BFB3A714F2F08296</vt:lpwstr>
  </property>
  <property fmtid="{D5CDD505-2E9C-101B-9397-08002B2CF9AE}" pid="3" name="KSOProductBuildVer">
    <vt:lpwstr>1046-11.2.0.10132</vt:lpwstr>
  </property>
  <property fmtid="{D5CDD505-2E9C-101B-9397-08002B2CF9AE}" pid="4" name="PresentationFormat">
    <vt:lpwstr>Personalizar</vt:lpwstr>
  </property>
  <property fmtid="{D5CDD505-2E9C-101B-9397-08002B2CF9AE}" pid="5" name="Slides">
    <vt:i4>20</vt:i4>
  </property>
</Properties>
</file>