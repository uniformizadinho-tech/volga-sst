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3CF44D-DACC-48FE-9BCA-C1860B389E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C72A99-BDB4-4D3D-AFC3-37693623FB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4A9F11-3837-4EA8-B965-81BFC1ED3D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198711-EAD1-42EB-90A9-B31FB9D76B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A725F4-3E63-4B73-8365-634E4353A6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7E8723-1671-418B-BBDF-040F0A0BB3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38A55F-4F2A-4843-9DB4-6D4C99DFD1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B7D9BC-2D07-454E-A844-D019259232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5AE71A-CF40-4B1F-9A6B-FF976AF9B4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F48669-4AB5-4FEA-9418-8090A244E0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A846F5-0CAE-41E7-ADEE-59C08CF5CB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B4FE8D-99EC-4E0E-99AF-2F02880674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240" cy="4836600"/>
          </a:xfrm>
          <a:prstGeom prst="rect">
            <a:avLst/>
          </a:prstGeom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160" cy="1415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D5CF7A-4C4D-45F7-821A-6DA5545DC8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2625480" y="936360"/>
            <a:ext cx="8070840" cy="951480"/>
            <a:chOff x="2625480" y="936360"/>
            <a:chExt cx="8070840" cy="951480"/>
          </a:xfrm>
        </p:grpSpPr>
        <p:sp>
          <p:nvSpPr>
            <p:cNvPr id="46" name="Freeform 3"/>
            <p:cNvSpPr/>
            <p:nvPr/>
          </p:nvSpPr>
          <p:spPr>
            <a:xfrm>
              <a:off x="2625480" y="936360"/>
              <a:ext cx="8070840" cy="951480"/>
            </a:xfrm>
            <a:custGeom>
              <a:avLst/>
              <a:gdLst>
                <a:gd name="textAreaLeft" fmla="*/ 0 w 8070840"/>
                <a:gd name="textAreaRight" fmla="*/ 8072280 w 8070840"/>
                <a:gd name="textAreaTop" fmla="*/ 0 h 951480"/>
                <a:gd name="textAreaBottom" fmla="*/ 952920 h 9514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" name="AutoShape 5"/>
          <p:cNvSpPr/>
          <p:nvPr/>
        </p:nvSpPr>
        <p:spPr>
          <a:xfrm>
            <a:off x="1899360" y="3076560"/>
            <a:ext cx="6408360" cy="36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48" name="Group 8"/>
          <p:cNvGrpSpPr/>
          <p:nvPr/>
        </p:nvGrpSpPr>
        <p:grpSpPr>
          <a:xfrm>
            <a:off x="0" y="393840"/>
            <a:ext cx="8902080" cy="1626840"/>
            <a:chOff x="0" y="393840"/>
            <a:chExt cx="8902080" cy="1626840"/>
          </a:xfrm>
        </p:grpSpPr>
        <p:sp>
          <p:nvSpPr>
            <p:cNvPr id="49" name="Freeform 9"/>
            <p:cNvSpPr/>
            <p:nvPr/>
          </p:nvSpPr>
          <p:spPr>
            <a:xfrm>
              <a:off x="0" y="393840"/>
              <a:ext cx="268560" cy="268560"/>
            </a:xfrm>
            <a:custGeom>
              <a:avLst/>
              <a:gdLst>
                <a:gd name="textAreaLeft" fmla="*/ 0 w 268560"/>
                <a:gd name="textAreaRight" fmla="*/ 270000 w 268560"/>
                <a:gd name="textAreaTop" fmla="*/ 0 h 268560"/>
                <a:gd name="textAreaBottom" fmla="*/ 270000 h 2685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" name="Freeform 10"/>
            <p:cNvSpPr/>
            <p:nvPr/>
          </p:nvSpPr>
          <p:spPr>
            <a:xfrm>
              <a:off x="0" y="663480"/>
              <a:ext cx="8902080" cy="1357200"/>
            </a:xfrm>
            <a:custGeom>
              <a:avLst/>
              <a:gdLst>
                <a:gd name="textAreaLeft" fmla="*/ 0 w 8902080"/>
                <a:gd name="textAreaRight" fmla="*/ 8903520 w 8902080"/>
                <a:gd name="textAreaTop" fmla="*/ 0 h 1357200"/>
                <a:gd name="textAreaBottom" fmla="*/ 1358640 h 13572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1" name="TextBox 17"/>
          <p:cNvSpPr/>
          <p:nvPr/>
        </p:nvSpPr>
        <p:spPr>
          <a:xfrm>
            <a:off x="1788480" y="1041120"/>
            <a:ext cx="71139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6600" spc="-1" strike="noStrike">
                <a:solidFill>
                  <a:schemeClr val="lt1"/>
                </a:solidFill>
                <a:latin typeface="Avenir LT Std 55 Roman"/>
              </a:rPr>
              <a:t>CERTIFICADO</a:t>
            </a:r>
            <a:endParaRPr b="0" lang="pt-BR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8"/>
          <p:cNvSpPr/>
          <p:nvPr/>
        </p:nvSpPr>
        <p:spPr>
          <a:xfrm>
            <a:off x="952200" y="3640680"/>
            <a:ext cx="878616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pc="182" strike="noStrike">
                <a:solidFill>
                  <a:srgbClr val="000000"/>
                </a:solidFill>
                <a:latin typeface="Avenir Next LT Pro"/>
              </a:rPr>
              <a:t>Concluiu com proficiência o treinamento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100" spc="182" strike="noStrike">
                <a:solidFill>
                  <a:srgbClr val="000000"/>
                </a:solidFill>
                <a:latin typeface="Arial"/>
              </a:rPr>
              <a:t>NR10 (Básico)</a:t>
            </a:r>
            <a:r>
              <a:rPr b="1" lang="pt-BR" sz="2100" spc="18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2100" spc="182" strike="noStrike">
                <a:solidFill>
                  <a:srgbClr val="000000"/>
                </a:solidFill>
                <a:latin typeface="Arial"/>
              </a:rPr>
              <a:t>– Segurança em Instalações e serviços em Eletricidade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9"/>
          <p:cNvSpPr/>
          <p:nvPr/>
        </p:nvSpPr>
        <p:spPr>
          <a:xfrm>
            <a:off x="1923480" y="218520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2" strike="noStrike">
                <a:solidFill>
                  <a:srgbClr val="000000"/>
                </a:solidFill>
                <a:latin typeface="Avenir Next LT Pro"/>
              </a:rPr>
              <a:t>CERTIFICAMOS QUE O COLABORADOR 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aixa de Texto 3"/>
          <p:cNvSpPr/>
          <p:nvPr/>
        </p:nvSpPr>
        <p:spPr>
          <a:xfrm>
            <a:off x="883440" y="4618080"/>
            <a:ext cx="89262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600" spc="-1" strike="noStrike">
                <a:solidFill>
                  <a:schemeClr val="dk1"/>
                </a:solidFill>
                <a:latin typeface="Avenir Next LT Pro"/>
              </a:rPr>
              <a:t>No período de 13/10/2025 à 17/10/2025 realizado na empresa Volga Engenharia Ind. E comércio Ltda na Av. Elmar Arantes Cabral, SN, Quadra 001, Lote 5, CEP 74.993-535, Parque Industrial Vice-Presidente José Alencar, Aparecida de Goiânia-GO - CNPJ: 03.347.463/0001-12. Carga horária de 40 (quarenta) horas conforme determina legislação aplicável</a:t>
            </a:r>
            <a:r>
              <a:rPr b="0" lang="pt-BR" sz="1600" spc="-1" strike="noStrike">
                <a:solidFill>
                  <a:schemeClr val="dk1"/>
                </a:solidFill>
                <a:latin typeface="Avenir LT Std 55 Roman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Picture 6" descr=""/>
          <p:cNvPicPr/>
          <p:nvPr/>
        </p:nvPicPr>
        <p:blipFill>
          <a:blip r:embed="rId1"/>
          <a:stretch/>
        </p:blipFill>
        <p:spPr>
          <a:xfrm>
            <a:off x="6156000" y="6393240"/>
            <a:ext cx="2497320" cy="2088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7" descr=""/>
          <p:cNvPicPr/>
          <p:nvPr/>
        </p:nvPicPr>
        <p:blipFill>
          <a:blip r:embed="rId2"/>
          <a:stretch/>
        </p:blipFill>
        <p:spPr>
          <a:xfrm>
            <a:off x="538920" y="6384240"/>
            <a:ext cx="2497320" cy="20880"/>
          </a:xfrm>
          <a:prstGeom prst="rect">
            <a:avLst/>
          </a:prstGeom>
          <a:ln w="0">
            <a:noFill/>
          </a:ln>
        </p:spPr>
      </p:pic>
      <p:sp>
        <p:nvSpPr>
          <p:cNvPr id="57" name="TextBox 15"/>
          <p:cNvSpPr/>
          <p:nvPr/>
        </p:nvSpPr>
        <p:spPr>
          <a:xfrm>
            <a:off x="1092600" y="6763680"/>
            <a:ext cx="12409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venir Next LT Pro"/>
              </a:rPr>
              <a:t>Colaborador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360000" y="6438600"/>
            <a:ext cx="28681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  <a:ea typeface="Microsoft YaHei"/>
              </a:rPr>
              <a:t>Vera Exemplo de Macedo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Picture 7" descr=""/>
          <p:cNvPicPr/>
          <p:nvPr/>
        </p:nvPicPr>
        <p:blipFill>
          <a:blip r:embed="rId3"/>
          <a:stretch/>
        </p:blipFill>
        <p:spPr>
          <a:xfrm>
            <a:off x="3288240" y="6384240"/>
            <a:ext cx="2497320" cy="20880"/>
          </a:xfrm>
          <a:prstGeom prst="rect">
            <a:avLst/>
          </a:prstGeom>
          <a:ln w="0">
            <a:noFill/>
          </a:ln>
        </p:spPr>
      </p:pic>
      <p:sp>
        <p:nvSpPr>
          <p:cNvPr id="60" name="CaixaDeTexto 21"/>
          <p:cNvSpPr/>
          <p:nvPr/>
        </p:nvSpPr>
        <p:spPr>
          <a:xfrm>
            <a:off x="3055320" y="6763680"/>
            <a:ext cx="3125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1" strike="noStrike">
                <a:solidFill>
                  <a:srgbClr val="2e2e2e"/>
                </a:solidFill>
                <a:latin typeface="Calibri"/>
                <a:ea typeface="Open Sans"/>
              </a:rPr>
              <a:t>Instrutor/Responsável Técnico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111" strike="noStrike">
                <a:solidFill>
                  <a:srgbClr val="2e2e2e"/>
                </a:solidFill>
                <a:latin typeface="Calibri"/>
                <a:ea typeface="Open Sans"/>
              </a:rPr>
              <a:t>Engenheira Eletricista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1" strike="noStrike">
                <a:solidFill>
                  <a:srgbClr val="2e2e2e"/>
                </a:solidFill>
                <a:latin typeface="Calibri"/>
                <a:ea typeface="Open Sans"/>
              </a:rPr>
              <a:t>CREA:1005168679D/GO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aixaDeTexto 25"/>
          <p:cNvSpPr/>
          <p:nvPr/>
        </p:nvSpPr>
        <p:spPr>
          <a:xfrm>
            <a:off x="3153240" y="6393960"/>
            <a:ext cx="27666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</a:rPr>
              <a:t>Leandro Mendes Duarte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2"/>
          <p:cNvSpPr/>
          <p:nvPr/>
        </p:nvSpPr>
        <p:spPr>
          <a:xfrm>
            <a:off x="6032520" y="6420600"/>
            <a:ext cx="30078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</a:rPr>
              <a:t>Hiolanda Nascimento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5909400" y="6763680"/>
            <a:ext cx="325404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16"/>
          <p:cNvSpPr/>
          <p:nvPr/>
        </p:nvSpPr>
        <p:spPr>
          <a:xfrm>
            <a:off x="102960" y="2558880"/>
            <a:ext cx="1036188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200" spc="-1" strike="noStrike">
                <a:solidFill>
                  <a:schemeClr val="dk1"/>
                </a:solidFill>
                <a:latin typeface="Arial"/>
                <a:ea typeface="Arial"/>
              </a:rPr>
              <a:t>VERA EXEMPLO DE MACEDO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3200" spc="-1" strike="noStrike">
                <a:solidFill>
                  <a:schemeClr val="dk1"/>
                </a:solidFill>
                <a:latin typeface="Arial"/>
                <a:ea typeface="Microsoft YaHei"/>
              </a:rPr>
              <a:t>CPF</a:t>
            </a:r>
            <a:r>
              <a:rPr b="1" lang="pt-BR" sz="2800" spc="-1" strike="noStrike">
                <a:solidFill>
                  <a:schemeClr val="dk1"/>
                </a:solidFill>
                <a:latin typeface="Arial"/>
                <a:ea typeface="Microsoft YaHei"/>
              </a:rPr>
              <a:t>: </a:t>
            </a:r>
            <a:r>
              <a:rPr b="1" lang="pt-BR" sz="3200" spc="-1" strike="noStrike">
                <a:solidFill>
                  <a:schemeClr val="dk1"/>
                </a:solidFill>
                <a:latin typeface="Arial"/>
                <a:ea typeface="Arial"/>
              </a:rPr>
              <a:t>000.000.000-00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/>
          <p:cNvSpPr/>
          <p:nvPr/>
        </p:nvSpPr>
        <p:spPr>
          <a:xfrm>
            <a:off x="546120" y="535320"/>
            <a:ext cx="4799160" cy="70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Introdução à segurança com eletricidade.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2.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Risco em instalações e serviços com eletricidade: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O choque elétrico, mecanismo e efeitos;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Arcos elétricos, queimaduras e quedas;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Campos eletromagnéticos.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3.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Técnicas de Analise de Risco.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4.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Medidas de Controle de Risco Elétrico: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Desenergização;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b)Aterramento funcional (TN/TT/IT); de proteção temporário;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Equipotencialização;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Seccionamento automático da alimentação;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e) Dispositivos a corrente de fuga;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f) Extra baixa tensão;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g) Barreiras e invólucros;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h) Bloqueios e impedimentos;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i) Obstáculos e anteparos;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j) Isolamento das partes vivas;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K) Isolação dupla ou reforçada;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l) Colocação fora de alcance;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m) Separação elétrica.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5.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Normas Técnicas Brasileiras – NBR da ABNT: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NBR-5410, NBR 14039 e outras;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6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Regulamentações do MTE: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NRs;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NR-10 (Segurança em instalações e Serviços com Eletricidade);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Qualificação, habilitação, capacitação e autorização.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7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Equipamento de proteção coletiva.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571680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8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Equipamento de proteção individual.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9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Rotinas de trabalho – procedimentos.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927000" y="19692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800" spc="182" strike="noStrike">
                <a:solidFill>
                  <a:srgbClr val="000000"/>
                </a:solidFill>
                <a:latin typeface="Arial"/>
                <a:ea typeface="Open Sans"/>
              </a:rPr>
              <a:t>CONTEÚDO PR</a:t>
            </a:r>
            <a:r>
              <a:rPr b="1" lang="pt-BR" sz="1800" spc="182" strike="noStrike">
                <a:solidFill>
                  <a:srgbClr val="000000"/>
                </a:solidFill>
                <a:latin typeface="Arial"/>
                <a:ea typeface="Open Sans"/>
              </a:rPr>
              <a:t>O</a:t>
            </a:r>
            <a:r>
              <a:rPr b="1" lang="en-US" sz="1800" spc="182" strike="noStrike">
                <a:solidFill>
                  <a:srgbClr val="000000"/>
                </a:solidFill>
                <a:latin typeface="Arial"/>
                <a:ea typeface="Open Sans"/>
              </a:rPr>
              <a:t>G</a:t>
            </a:r>
            <a:r>
              <a:rPr b="1" lang="pt-BR" sz="1800" spc="182" strike="noStrike">
                <a:solidFill>
                  <a:srgbClr val="000000"/>
                </a:solidFill>
                <a:latin typeface="Arial"/>
                <a:ea typeface="Open Sans"/>
              </a:rPr>
              <a:t>RA</a:t>
            </a:r>
            <a:r>
              <a:rPr b="1" lang="en-US" sz="1800" spc="182" strike="noStrike">
                <a:solidFill>
                  <a:srgbClr val="000000"/>
                </a:solidFill>
                <a:latin typeface="Arial"/>
                <a:ea typeface="Open Sans"/>
              </a:rPr>
              <a:t>MÁTICO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5482080" y="364320"/>
            <a:ext cx="4570560" cy="67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8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Equipamento de proteção individual.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9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Rotinas de trabalho – procedimentos.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Instalações desenergizadas;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Liberação para serviços;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Sinalização;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Inspeção de áreas, serviços, ferramental e equipamentos.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10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Documentação de instalações elétricas.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11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Risco adicionais: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Altura;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Ambiente confinado;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Áreas classificadas;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Condições atmosféricas.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12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Proteção e combate a incêndios: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Noções básicas;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Medidas preventivas;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Métodos de extinção;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Prática;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13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Acidente de origem elétrica: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Causas diretas e indiretas;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Discussão de Casos;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14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. Primeiros socorros: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a) Noções sobre lesões;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b) Priorização de atendimento;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c) Aplicação de respiração artificial;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d) Massagem Cardíaca;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e) Técnica para remoção de transporte de acidentados;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f) Práticas.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b="1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15. </a:t>
            </a:r>
            <a:r>
              <a:rPr b="0" lang="pt-BR" sz="1000" spc="60" strike="noStrike">
                <a:solidFill>
                  <a:srgbClr val="000000"/>
                </a:solidFill>
                <a:latin typeface="Avenir Next LT Pro"/>
                <a:ea typeface="Open Sans"/>
              </a:rPr>
              <a:t>Responsabilidades.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8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8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Application>LibreOffice/7.6.3.2$Windows_X86_64 LibreOffice_project/29d686fea9f6705b262d369fede658f824154cc0</Application>
  <AppVersion>15.0000</AppVersion>
  <Words>517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2025-10-23T16:11:22Z</cp:lastPrinted>
  <dcterms:modified xsi:type="dcterms:W3CDTF">2025-10-23T17:24:48Z</dcterms:modified>
  <cp:revision>139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766EC41620F44B5DAA151C74893670D1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</vt:i4>
  </property>
</Properties>
</file>