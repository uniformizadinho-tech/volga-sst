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0693400" cy="75565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60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556BCFC-61C0-4EAA-9493-77607CB34B59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34600" y="1767960"/>
            <a:ext cx="9623520" cy="438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90BEF11-E551-4F1D-9064-A85C4F32A741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3520" cy="438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6B379EB-1389-43A6-BC7C-7B7D498F3E3C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438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438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0D0AEFE-F76E-4744-94D0-82652595B0D3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4535841-4107-40F1-9156-5EF0057E33B8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534600" y="301320"/>
            <a:ext cx="9623520" cy="584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0B17D7D-CE3D-4D34-828F-797519DE9C7F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438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534600" y="405720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2E7DCBF-44D3-4A65-B72E-4719FE941D0A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438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5465880" y="405720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9374367-BD65-4FD3-8190-BB19F6301587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534600" y="4057200"/>
            <a:ext cx="9623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E025CE7-3E83-4CFF-B4F2-AD3A10DE3A65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3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534600" y="4057200"/>
            <a:ext cx="9623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ABBAA04-4C3C-4D1D-8B84-9C8D4C9CA392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534600" y="405720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5465880" y="405720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6E6C709-0FBC-4FB3-AE83-7D3466DC4D43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3788280" y="176796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7042320" y="176796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534600" y="405720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3788280" y="405720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7042320" y="405720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205A8BC-C8F2-4BD5-8A98-74C541503B14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/>
          <p:nvPr/>
        </p:nvPicPr>
        <p:blipFill>
          <a:blip r:embed="rId14">
            <a:alphaModFix amt="15000"/>
          </a:blip>
          <a:srcRect l="20075" t="19762" r="21901" b="37365"/>
          <a:stretch/>
        </p:blipFill>
        <p:spPr>
          <a:xfrm>
            <a:off x="1893600" y="2198160"/>
            <a:ext cx="6546240" cy="4836600"/>
          </a:xfrm>
          <a:prstGeom prst="rect">
            <a:avLst/>
          </a:prstGeom>
          <a:ln w="0">
            <a:noFill/>
          </a:ln>
        </p:spPr>
      </p:pic>
      <p:pic>
        <p:nvPicPr>
          <p:cNvPr id="8" name="Picture 11"/>
          <p:cNvPicPr/>
          <p:nvPr/>
        </p:nvPicPr>
        <p:blipFill>
          <a:blip r:embed="rId14"/>
          <a:stretch/>
        </p:blipFill>
        <p:spPr>
          <a:xfrm>
            <a:off x="9275400" y="6143400"/>
            <a:ext cx="1415160" cy="141516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0F9DA9E-1D72-4BFE-8F78-E17E101929D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chemeClr val="dk1"/>
                </a:solidFill>
                <a:latin typeface="Calibri"/>
              </a:rPr>
              <a:t>Clique para editar o formato do texto do título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3520" cy="438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chemeClr val="dk1"/>
                </a:solidFill>
                <a:latin typeface="Calibri"/>
              </a:rPr>
              <a:t>2.º nível de tópicos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Calibri"/>
              </a:rPr>
              <a:t>3.º nível de tópicos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Calibri"/>
              </a:rPr>
              <a:t>4.º nível de tópicos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chemeClr val="dk1"/>
                </a:solidFill>
                <a:latin typeface="Calibri"/>
              </a:rPr>
              <a:t>5.º nível de tópicos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chemeClr val="dk1"/>
                </a:solidFill>
                <a:latin typeface="Calibri"/>
              </a:rPr>
              <a:t>6.º nível de tópicos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chemeClr val="dk1"/>
                </a:solidFill>
                <a:latin typeface="Calibri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2"/>
          <p:cNvGrpSpPr/>
          <p:nvPr/>
        </p:nvGrpSpPr>
        <p:grpSpPr>
          <a:xfrm>
            <a:off x="2625480" y="936360"/>
            <a:ext cx="8070840" cy="951480"/>
            <a:chOff x="2625480" y="936360"/>
            <a:chExt cx="8070840" cy="951480"/>
          </a:xfrm>
        </p:grpSpPr>
        <p:sp>
          <p:nvSpPr>
            <p:cNvPr id="44" name="Freeform 3"/>
            <p:cNvSpPr/>
            <p:nvPr/>
          </p:nvSpPr>
          <p:spPr>
            <a:xfrm>
              <a:off x="2625480" y="936360"/>
              <a:ext cx="8070840" cy="951480"/>
            </a:xfrm>
            <a:custGeom>
              <a:avLst/>
              <a:gdLst>
                <a:gd name="textAreaLeft" fmla="*/ 0 w 8070840"/>
                <a:gd name="textAreaRight" fmla="*/ 8072280 w 8070840"/>
                <a:gd name="textAreaTop" fmla="*/ 0 h 951480"/>
                <a:gd name="textAreaBottom" fmla="*/ 952920 h 95148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pt-BR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5" name="AutoShape 5"/>
          <p:cNvSpPr/>
          <p:nvPr/>
        </p:nvSpPr>
        <p:spPr>
          <a:xfrm>
            <a:off x="1910160" y="3092400"/>
            <a:ext cx="6408000" cy="360"/>
          </a:xfrm>
          <a:prstGeom prst="line">
            <a:avLst/>
          </a:prstGeom>
          <a:ln w="47625" cap="rnd">
            <a:solidFill>
              <a:srgbClr val="A2C73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46" name="Picture 6"/>
          <p:cNvPicPr/>
          <p:nvPr/>
        </p:nvPicPr>
        <p:blipFill>
          <a:blip r:embed="rId2"/>
          <a:stretch/>
        </p:blipFill>
        <p:spPr>
          <a:xfrm>
            <a:off x="6404760" y="6385320"/>
            <a:ext cx="2497320" cy="20880"/>
          </a:xfrm>
          <a:prstGeom prst="rect">
            <a:avLst/>
          </a:prstGeom>
          <a:ln w="0">
            <a:noFill/>
          </a:ln>
        </p:spPr>
      </p:pic>
      <p:pic>
        <p:nvPicPr>
          <p:cNvPr id="47" name="Picture 7"/>
          <p:cNvPicPr/>
          <p:nvPr/>
        </p:nvPicPr>
        <p:blipFill>
          <a:blip r:embed="rId2"/>
          <a:stretch/>
        </p:blipFill>
        <p:spPr>
          <a:xfrm>
            <a:off x="538920" y="6374160"/>
            <a:ext cx="2497320" cy="20880"/>
          </a:xfrm>
          <a:prstGeom prst="rect">
            <a:avLst/>
          </a:prstGeom>
          <a:ln w="0">
            <a:noFill/>
          </a:ln>
        </p:spPr>
      </p:pic>
      <p:grpSp>
        <p:nvGrpSpPr>
          <p:cNvPr id="48" name="Group 8"/>
          <p:cNvGrpSpPr/>
          <p:nvPr/>
        </p:nvGrpSpPr>
        <p:grpSpPr>
          <a:xfrm>
            <a:off x="0" y="393840"/>
            <a:ext cx="8902080" cy="1626840"/>
            <a:chOff x="0" y="393840"/>
            <a:chExt cx="8902080" cy="1626840"/>
          </a:xfrm>
        </p:grpSpPr>
        <p:sp>
          <p:nvSpPr>
            <p:cNvPr id="49" name="Freeform 9"/>
            <p:cNvSpPr/>
            <p:nvPr/>
          </p:nvSpPr>
          <p:spPr>
            <a:xfrm>
              <a:off x="0" y="393840"/>
              <a:ext cx="268560" cy="268560"/>
            </a:xfrm>
            <a:custGeom>
              <a:avLst/>
              <a:gdLst>
                <a:gd name="textAreaLeft" fmla="*/ 0 w 268560"/>
                <a:gd name="textAreaRight" fmla="*/ 270000 w 268560"/>
                <a:gd name="textAreaTop" fmla="*/ 0 h 268560"/>
                <a:gd name="textAreaBottom" fmla="*/ 270000 h 26856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pt-BR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" name="Freeform 10"/>
            <p:cNvSpPr/>
            <p:nvPr/>
          </p:nvSpPr>
          <p:spPr>
            <a:xfrm>
              <a:off x="0" y="663480"/>
              <a:ext cx="8902080" cy="1357200"/>
            </a:xfrm>
            <a:custGeom>
              <a:avLst/>
              <a:gdLst>
                <a:gd name="textAreaLeft" fmla="*/ 0 w 8902080"/>
                <a:gd name="textAreaRight" fmla="*/ 8903520 w 8902080"/>
                <a:gd name="textAreaTop" fmla="*/ 0 h 1357200"/>
                <a:gd name="textAreaBottom" fmla="*/ 1358640 h 135720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pt-BR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1" name="TextBox 13"/>
          <p:cNvSpPr/>
          <p:nvPr/>
        </p:nvSpPr>
        <p:spPr>
          <a:xfrm>
            <a:off x="5747400" y="6951240"/>
            <a:ext cx="308484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395"/>
              </a:lnSpc>
            </a:pPr>
            <a:br>
              <a:rPr sz="1400"/>
            </a:b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Box 15"/>
          <p:cNvSpPr/>
          <p:nvPr/>
        </p:nvSpPr>
        <p:spPr>
          <a:xfrm>
            <a:off x="756000" y="6756120"/>
            <a:ext cx="2082240" cy="13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100"/>
              </a:lnSpc>
            </a:pPr>
            <a:r>
              <a:rPr lang="pt-BR" sz="1400" b="0" strike="noStrike" spc="111">
                <a:solidFill>
                  <a:srgbClr val="2E2E2E"/>
                </a:solidFill>
                <a:latin typeface="Avenir Next LT Pro"/>
                <a:ea typeface="Open Sans"/>
              </a:rPr>
              <a:t>Aluno</a:t>
            </a: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17"/>
          <p:cNvSpPr/>
          <p:nvPr/>
        </p:nvSpPr>
        <p:spPr>
          <a:xfrm>
            <a:off x="1788480" y="1041120"/>
            <a:ext cx="7113960" cy="71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5601"/>
              </a:lnSpc>
            </a:pPr>
            <a:r>
              <a:rPr lang="en-US" sz="5600" b="1" strike="noStrike" spc="494">
                <a:solidFill>
                  <a:srgbClr val="FFFFFF"/>
                </a:solidFill>
                <a:latin typeface="Avenir LT Std 35 Light"/>
              </a:rPr>
              <a:t>CERTIFICADO</a:t>
            </a:r>
            <a:endParaRPr lang="pt-BR" sz="5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18"/>
          <p:cNvSpPr/>
          <p:nvPr/>
        </p:nvSpPr>
        <p:spPr>
          <a:xfrm>
            <a:off x="1003680" y="3626280"/>
            <a:ext cx="8786160" cy="88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0" strike="noStrike" spc="-1">
                <a:solidFill>
                  <a:schemeClr val="dk1"/>
                </a:solidFill>
                <a:latin typeface="Avenir Next LT Pro"/>
              </a:rPr>
              <a:t>Concluiu com proficiência o treinamento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2000" b="1" strike="noStrike" spc="-1">
                <a:solidFill>
                  <a:schemeClr val="dk1"/>
                </a:solidFill>
                <a:latin typeface="Calibri"/>
              </a:rPr>
              <a:t>NR10 (Complementar)  Reciclagem – SEP (Segurança no Sistema elétrico de potência)</a:t>
            </a:r>
            <a:endParaRPr lang="pt-BR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Box 19"/>
          <p:cNvSpPr/>
          <p:nvPr/>
        </p:nvSpPr>
        <p:spPr>
          <a:xfrm>
            <a:off x="1923480" y="2185200"/>
            <a:ext cx="5928120" cy="22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749"/>
              </a:lnSpc>
            </a:pPr>
            <a:r>
              <a:rPr lang="en-US" sz="1750" b="0" strike="noStrike" spc="182">
                <a:solidFill>
                  <a:srgbClr val="000000"/>
                </a:solidFill>
                <a:latin typeface="Avenir LT Std 35 Light"/>
              </a:rPr>
              <a:t>CERTIFICAMOS QUE O ALUNO</a:t>
            </a:r>
            <a:endParaRPr lang="pt-BR" sz="1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Caixa de Texto 3"/>
          <p:cNvSpPr/>
          <p:nvPr/>
        </p:nvSpPr>
        <p:spPr>
          <a:xfrm>
            <a:off x="882360" y="4540320"/>
            <a:ext cx="8926200" cy="10757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pt-BR" sz="1600" b="0" strike="noStrike" spc="-1" dirty="0">
                <a:solidFill>
                  <a:schemeClr val="dk1"/>
                </a:solidFill>
                <a:latin typeface="Avenir LT Std 55 Roman"/>
              </a:rPr>
              <a:t>No período de 14/07/2025 à 16/07/2025 realizado na empresa Volga Engenharia Ind. E comércio Ltda na Av. Elmar Arantes Cabral, SN, Quadra 001, Lote 5, CEP 74.993-535, Parque Industrial Vice-Presidente José Alencar, Aparecida de Goiânia-GO - CNPJ: 03.347.463/0001-12. Carga horária de 20 (vinte) horas conforme determina legislação aplicável</a:t>
            </a:r>
            <a:r>
              <a:rPr lang="pt-BR" sz="1600" b="0" strike="noStrike" spc="-1" dirty="0">
                <a:solidFill>
                  <a:schemeClr val="dk1"/>
                </a:solidFill>
                <a:latin typeface="Avenir Next LT Pro"/>
              </a:rPr>
              <a:t>.</a:t>
            </a:r>
            <a:endParaRPr lang="pt-BR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12"/>
          <p:cNvSpPr/>
          <p:nvPr/>
        </p:nvSpPr>
        <p:spPr>
          <a:xfrm>
            <a:off x="300343" y="6435648"/>
            <a:ext cx="3031920" cy="2308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/>
            <a:r>
              <a:rPr lang="pt-BR" altLang="en-US" sz="1500" b="1" spc="-1" dirty="0">
                <a:solidFill>
                  <a:schemeClr val="dk1"/>
                </a:solidFill>
                <a:latin typeface="Calibri"/>
                <a:sym typeface="+mn-ea"/>
              </a:rPr>
              <a:t>Danilo Exemplo Campos de Melo</a:t>
            </a:r>
          </a:p>
        </p:txBody>
      </p:sp>
      <p:pic>
        <p:nvPicPr>
          <p:cNvPr id="58" name="Picture 7"/>
          <p:cNvPicPr/>
          <p:nvPr/>
        </p:nvPicPr>
        <p:blipFill>
          <a:blip r:embed="rId2"/>
          <a:stretch/>
        </p:blipFill>
        <p:spPr>
          <a:xfrm>
            <a:off x="3405960" y="6384600"/>
            <a:ext cx="2497320" cy="20880"/>
          </a:xfrm>
          <a:prstGeom prst="rect">
            <a:avLst/>
          </a:prstGeom>
          <a:ln w="0">
            <a:noFill/>
          </a:ln>
        </p:spPr>
      </p:pic>
      <p:sp>
        <p:nvSpPr>
          <p:cNvPr id="59" name="CaixaDeTexto 21"/>
          <p:cNvSpPr/>
          <p:nvPr/>
        </p:nvSpPr>
        <p:spPr>
          <a:xfrm>
            <a:off x="3142800" y="6710040"/>
            <a:ext cx="3080880" cy="62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ts val="1409"/>
              </a:lnSpc>
            </a:pPr>
            <a:r>
              <a:rPr lang="pt-BR" sz="1400" b="0" strike="noStrike" spc="109" dirty="0">
                <a:solidFill>
                  <a:srgbClr val="2E2E2E"/>
                </a:solidFill>
                <a:latin typeface="Calibri"/>
                <a:ea typeface="Open Sans"/>
              </a:rPr>
              <a:t>Instrutor/Responsável Técnico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lang="pt-BR" sz="1400" b="0" strike="noStrike" spc="109" dirty="0">
                <a:solidFill>
                  <a:srgbClr val="2E2E2E"/>
                </a:solidFill>
                <a:latin typeface="Calibri"/>
                <a:ea typeface="Open Sans"/>
              </a:rPr>
              <a:t>Engenheira Eletricista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lang="pt-BR" sz="1400" b="0" strike="noStrike" spc="109" dirty="0">
                <a:solidFill>
                  <a:srgbClr val="2E2E2E"/>
                </a:solidFill>
                <a:latin typeface="Calibri"/>
                <a:ea typeface="Open Sans"/>
              </a:rPr>
              <a:t>CREA: 1018815520D/GO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CaixaDeTexto 25"/>
          <p:cNvSpPr/>
          <p:nvPr/>
        </p:nvSpPr>
        <p:spPr>
          <a:xfrm>
            <a:off x="3332110" y="6400135"/>
            <a:ext cx="276660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500" b="1" strike="noStrike" spc="-1" dirty="0">
                <a:solidFill>
                  <a:schemeClr val="dk1"/>
                </a:solidFill>
                <a:latin typeface="Calibri"/>
              </a:rPr>
              <a:t>Naiara Meireles França</a:t>
            </a:r>
            <a:endParaRPr lang="pt-BR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Box 12"/>
          <p:cNvSpPr/>
          <p:nvPr/>
        </p:nvSpPr>
        <p:spPr>
          <a:xfrm>
            <a:off x="6098710" y="6489464"/>
            <a:ext cx="3153699" cy="1795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pt-BR" sz="1400" b="1" strike="noStrike" spc="-1" dirty="0">
                <a:solidFill>
                  <a:schemeClr val="dk1"/>
                </a:solidFill>
                <a:latin typeface="Avenir LT Std 55 Roman"/>
                <a:ea typeface="Microsoft YaHei"/>
              </a:rPr>
              <a:t>Hiolanda Nascimento de Negreiros </a:t>
            </a:r>
            <a:endParaRPr lang="pt-BR" sz="14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Box 13"/>
          <p:cNvSpPr/>
          <p:nvPr/>
        </p:nvSpPr>
        <p:spPr>
          <a:xfrm>
            <a:off x="6006240" y="6792120"/>
            <a:ext cx="3338640" cy="5386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1409"/>
              </a:lnSpc>
            </a:pPr>
            <a:r>
              <a:rPr lang="pt-BR" sz="1400" spc="109" dirty="0">
                <a:solidFill>
                  <a:srgbClr val="2E2E2E"/>
                </a:solidFill>
                <a:latin typeface="Calibri"/>
                <a:ea typeface="Open Sans"/>
              </a:rPr>
              <a:t>Instrutor/Responsável Técnico </a:t>
            </a:r>
          </a:p>
          <a:p>
            <a:pPr algn="ctr">
              <a:lnSpc>
                <a:spcPts val="1409"/>
              </a:lnSpc>
            </a:pPr>
            <a:r>
              <a:rPr lang="pt-BR" sz="1400" spc="109" dirty="0">
                <a:solidFill>
                  <a:srgbClr val="2E2E2E"/>
                </a:solidFill>
                <a:latin typeface="Calibri"/>
                <a:ea typeface="Open Sans"/>
              </a:rPr>
              <a:t>Téc. Segurança do Trabalho</a:t>
            </a:r>
          </a:p>
          <a:p>
            <a:pPr algn="ctr">
              <a:lnSpc>
                <a:spcPts val="1409"/>
              </a:lnSpc>
            </a:pPr>
            <a:r>
              <a:rPr lang="pt-BR" sz="1400" spc="109" dirty="0" err="1">
                <a:solidFill>
                  <a:srgbClr val="2E2E2E"/>
                </a:solidFill>
                <a:latin typeface="Calibri"/>
                <a:ea typeface="Open Sans"/>
              </a:rPr>
              <a:t>Reg</a:t>
            </a:r>
            <a:r>
              <a:rPr lang="pt-BR" sz="1400" spc="109" dirty="0">
                <a:solidFill>
                  <a:srgbClr val="2E2E2E"/>
                </a:solidFill>
                <a:latin typeface="Calibri"/>
                <a:ea typeface="Open Sans"/>
              </a:rPr>
              <a:t>: 0016958/PE</a:t>
            </a:r>
          </a:p>
        </p:txBody>
      </p:sp>
      <p:sp>
        <p:nvSpPr>
          <p:cNvPr id="63" name="TextBox 16"/>
          <p:cNvSpPr/>
          <p:nvPr/>
        </p:nvSpPr>
        <p:spPr>
          <a:xfrm>
            <a:off x="287640" y="2534400"/>
            <a:ext cx="9966960" cy="11079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36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DANILO EXEMPLO CAMPOS DE MELO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36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CPF:000.000.000-00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8"/>
          <p:cNvSpPr/>
          <p:nvPr/>
        </p:nvSpPr>
        <p:spPr>
          <a:xfrm>
            <a:off x="546120" y="739440"/>
            <a:ext cx="4799160" cy="671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685800" lvl="1" indent="-228600" algn="just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Organização do Sistema Elétrico de Potência - SEP.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600" algn="just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Organização do trabalho: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600" algn="just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programação e planejamento dos serviços;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600" algn="just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trabalho em equipe;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600" algn="just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prontuário e cadastro das instalações;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600" algn="just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métodos de trabalho; e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600" algn="just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comunicação.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3. Aspectos comportamentais.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4. Condições impeditivas para serviços.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5. Riscos típicos no SEP e sua prevenção: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600" algn="just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proximidade e contatos com partes energizadas;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b) indução;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c) descargas atmosféricas;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d) estática;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e) campos elétricos e magnéticos;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f) comunicação e identificação;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g) trabalhos em altura, máquinas e equipamentos especiais.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6. Técnicas de análise de Risco no SEP;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7. Procedimentos de trabalho - análise e discussão.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8. Técnicas de trabalho sob tensão: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600" algn="just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em linha viva;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b) ao potencial;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c) em áreas internas;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d) trabalho a distância;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e) trabalhos noturnos;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f) ambientes subterrâneos.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9. Equipamentos e ferramentas de trabalho (escolha, uso, conservação, verificação, ensaios).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10. Sistemas de proteção coletiva.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11. Equipamentos de proteção individual.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Box 19"/>
          <p:cNvSpPr/>
          <p:nvPr/>
        </p:nvSpPr>
        <p:spPr>
          <a:xfrm>
            <a:off x="927000" y="196920"/>
            <a:ext cx="5928120" cy="22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749"/>
              </a:lnSpc>
            </a:pPr>
            <a:r>
              <a:rPr lang="en-US" sz="2000" b="1" strike="noStrike" spc="182">
                <a:solidFill>
                  <a:srgbClr val="000000"/>
                </a:solidFill>
                <a:latin typeface="Avenir Next LT Pro"/>
                <a:ea typeface="Open Sans"/>
              </a:rPr>
              <a:t>CONTEÚDO PR</a:t>
            </a:r>
            <a:r>
              <a:rPr lang="pt-BR" sz="2000" b="1" strike="noStrike" spc="182">
                <a:solidFill>
                  <a:srgbClr val="000000"/>
                </a:solidFill>
                <a:latin typeface="Avenir Next LT Pro"/>
                <a:ea typeface="Open Sans"/>
              </a:rPr>
              <a:t>O</a:t>
            </a:r>
            <a:r>
              <a:rPr lang="en-US" sz="2000" b="1" strike="noStrike" spc="182">
                <a:solidFill>
                  <a:srgbClr val="000000"/>
                </a:solidFill>
                <a:latin typeface="Avenir Next LT Pro"/>
                <a:ea typeface="Open Sans"/>
              </a:rPr>
              <a:t>G</a:t>
            </a:r>
            <a:r>
              <a:rPr lang="pt-BR" sz="2000" b="1" strike="noStrike" spc="182">
                <a:solidFill>
                  <a:srgbClr val="000000"/>
                </a:solidFill>
                <a:latin typeface="Avenir Next LT Pro"/>
                <a:ea typeface="Open Sans"/>
              </a:rPr>
              <a:t>RA</a:t>
            </a:r>
            <a:r>
              <a:rPr lang="en-US" sz="2000" b="1" strike="noStrike" spc="182">
                <a:solidFill>
                  <a:srgbClr val="000000"/>
                </a:solidFill>
                <a:latin typeface="Avenir Next LT Pro"/>
                <a:ea typeface="Open Sans"/>
              </a:rPr>
              <a:t>MÁTICO</a:t>
            </a:r>
            <a:endParaRPr lang="pt-BR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Box 18"/>
          <p:cNvSpPr/>
          <p:nvPr/>
        </p:nvSpPr>
        <p:spPr>
          <a:xfrm>
            <a:off x="5575320" y="618840"/>
            <a:ext cx="4570560" cy="265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  <a:ea typeface="Open Sans"/>
              </a:rPr>
              <a:t>12. Posturas e vestuários de trabalho.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  <a:ea typeface="Open Sans"/>
              </a:rPr>
              <a:t>13. Segurança com veículos e transporte de pessoas, materiais e equipamentos.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  <a:ea typeface="Open Sans"/>
              </a:rPr>
              <a:t>14. Sinalização e isolamento de áreas de trabalho.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  <a:ea typeface="Open Sans"/>
              </a:rPr>
              <a:t>15. Liberação de instalação para serviço e para operação e uso.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  <a:ea typeface="Open Sans"/>
              </a:rPr>
              <a:t>16. Treinamento em técnicas de remoção, atendimento, transporte de acidentados.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  <a:ea typeface="Open Sans"/>
              </a:rPr>
              <a:t>17. Acidentes típicos - Análise, discussão, medidas de proteção.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  <a:ea typeface="Open Sans"/>
              </a:rPr>
              <a:t>18. Responsabilidades.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8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8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296</TotalTime>
  <Words>408</Words>
  <Application>Microsoft Office PowerPoint</Application>
  <PresentationFormat>Personalizar</PresentationFormat>
  <Paragraphs>75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12" baseType="lpstr">
      <vt:lpstr>Arial</vt:lpstr>
      <vt:lpstr>Avenir LT Std 35 Light</vt:lpstr>
      <vt:lpstr>Avenir LT Std 55 Roman</vt:lpstr>
      <vt:lpstr>Avenir Next LT Pro</vt:lpstr>
      <vt:lpstr>Calibri</vt:lpstr>
      <vt:lpstr>OpenSymbol</vt:lpstr>
      <vt:lpstr>Symbol</vt:lpstr>
      <vt:lpstr>Times New Roman</vt:lpstr>
      <vt:lpstr>Wingdings</vt:lpstr>
      <vt:lpstr>Office Theme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 Achievement</dc:title>
  <dc:subject/>
  <dc:creator>Larissa Santana Rabelo</dc:creator>
  <dc:description/>
  <cp:lastModifiedBy>Geovana Alves da Rocha</cp:lastModifiedBy>
  <cp:revision>77</cp:revision>
  <cp:lastPrinted>2025-06-30T15:27:02Z</cp:lastPrinted>
  <dcterms:created xsi:type="dcterms:W3CDTF">2006-08-16T00:00:00Z</dcterms:created>
  <dcterms:modified xsi:type="dcterms:W3CDTF">2025-12-23T20:38:23Z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5FD197FEF10A4E4FB139637E3CF775E3</vt:lpwstr>
  </property>
  <property fmtid="{D5CDD505-2E9C-101B-9397-08002B2CF9AE}" pid="3" name="KSOProductBuildVer">
    <vt:lpwstr>1046-11.2.0.10132</vt:lpwstr>
  </property>
  <property fmtid="{D5CDD505-2E9C-101B-9397-08002B2CF9AE}" pid="4" name="PresentationFormat">
    <vt:lpwstr>Personalizar</vt:lpwstr>
  </property>
  <property fmtid="{D5CDD505-2E9C-101B-9397-08002B2CF9AE}" pid="5" name="Slides">
    <vt:i4>2</vt:i4>
  </property>
</Properties>
</file>