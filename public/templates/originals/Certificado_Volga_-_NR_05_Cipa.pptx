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1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2" r:id="rId4"/>
    <p:sldMasterId id="2147483653" r:id="rId5"/>
    <p:sldMasterId id="2147483654" r:id="rId6"/>
    <p:sldMasterId id="2147483655" r:id="rId7"/>
    <p:sldMasterId id="2147483656" r:id="rId8"/>
    <p:sldMasterId id="2147483657" r:id="rId9"/>
    <p:sldMasterId id="2147483658" r:id="rId10"/>
    <p:sldMasterId id="2147483659" r:id="rId11"/>
    <p:sldMasterId id="2147483660" r:id="rId12"/>
    <p:sldMasterId id="2147483661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</p:sldIdLst>
  <p:sldSz cx="10693400" cy="7556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8AD4170-5508-4744-A956-F3211E64F8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E11A7BB-B98D-4CE7-95DF-D6213E1F80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6600" cy="483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5520" cy="141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4CB540FB-F8B3-4B3D-B342-423BA0A3D0E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352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3520" cy="4382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6600" cy="483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5520" cy="141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316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34600" y="4057200"/>
            <a:ext cx="962316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99FC1A2A-136D-4AA0-A90E-E18D9A77E57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6600" cy="483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5520" cy="141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84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84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34600" y="4057200"/>
            <a:ext cx="469584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5465880" y="4057200"/>
            <a:ext cx="469584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7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56E2DADF-97C5-44DC-A9E6-D6E2FE283B4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8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6600" cy="483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5520" cy="141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309816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3788280" y="1767960"/>
            <a:ext cx="309816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7042320" y="1767960"/>
            <a:ext cx="309816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34600" y="4057200"/>
            <a:ext cx="309816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body"/>
          </p:nvPr>
        </p:nvSpPr>
        <p:spPr>
          <a:xfrm>
            <a:off x="3788280" y="4057200"/>
            <a:ext cx="309816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7"/>
          <p:cNvSpPr>
            <a:spLocks noGrp="1"/>
          </p:cNvSpPr>
          <p:nvPr>
            <p:ph type="body"/>
          </p:nvPr>
        </p:nvSpPr>
        <p:spPr>
          <a:xfrm>
            <a:off x="7042320" y="4057200"/>
            <a:ext cx="309816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2500" lnSpcReduction="1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8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9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4ED74A55-7AF9-41AB-BCDD-AC66FBCF2AE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10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6600" cy="483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5520" cy="141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EC258C91-6DCA-4BC3-9F31-405B3915D32A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6600" cy="483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5520" cy="141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9623160" cy="438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BB3B6C18-AD23-4496-9CAE-75AF0CCE9E9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6600" cy="483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5520" cy="141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840" cy="438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840" cy="438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6CEE310F-B338-49E3-B6A7-CFB16D084AE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6600" cy="483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5520" cy="141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D9871113-95AB-49AD-9E6A-8E7D9CCB3C4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6600" cy="483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5520" cy="141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B88C6A13-E4FE-4F56-AF81-F393FA971997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6600" cy="483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5520" cy="141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84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840" cy="438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534600" y="4057200"/>
            <a:ext cx="469584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7D939483-1026-4E9C-8048-2641C3896BA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6600" cy="483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5520" cy="141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840" cy="438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84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5465880" y="4057200"/>
            <a:ext cx="469584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B153055D-1F11-4407-BF07-E2B198837FD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7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4" descr=""/>
          <p:cNvPicPr/>
          <p:nvPr/>
        </p:nvPicPr>
        <p:blipFill>
          <a:blip r:embed="rId2">
            <a:alphaModFix amt="15000"/>
          </a:blip>
          <a:srcRect l="20075" t="19762" r="21901" b="37365"/>
          <a:stretch/>
        </p:blipFill>
        <p:spPr>
          <a:xfrm>
            <a:off x="1893600" y="2198160"/>
            <a:ext cx="6546600" cy="483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Picture 11" descr=""/>
          <p:cNvPicPr/>
          <p:nvPr/>
        </p:nvPicPr>
        <p:blipFill>
          <a:blip r:embed="rId3"/>
          <a:stretch/>
        </p:blipFill>
        <p:spPr>
          <a:xfrm>
            <a:off x="9275400" y="6143400"/>
            <a:ext cx="1415520" cy="141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34600" y="301320"/>
            <a:ext cx="9622800" cy="12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534600" y="1767960"/>
            <a:ext cx="469584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5465880" y="1767960"/>
            <a:ext cx="469584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534600" y="4057200"/>
            <a:ext cx="9623160" cy="208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6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E7904AC6-9072-47F5-8BC2-F1E893C0C91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7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roup 2"/>
          <p:cNvGrpSpPr/>
          <p:nvPr/>
        </p:nvGrpSpPr>
        <p:grpSpPr>
          <a:xfrm>
            <a:off x="2625480" y="936360"/>
            <a:ext cx="8071200" cy="951840"/>
            <a:chOff x="2625480" y="936360"/>
            <a:chExt cx="8071200" cy="951840"/>
          </a:xfrm>
        </p:grpSpPr>
        <p:sp>
          <p:nvSpPr>
            <p:cNvPr id="99" name="Freeform 3"/>
            <p:cNvSpPr/>
            <p:nvPr/>
          </p:nvSpPr>
          <p:spPr>
            <a:xfrm>
              <a:off x="2625480" y="936360"/>
              <a:ext cx="8071200" cy="951840"/>
            </a:xfrm>
            <a:custGeom>
              <a:avLst/>
              <a:gdLst>
                <a:gd name="textAreaLeft" fmla="*/ 0 w 8071200"/>
                <a:gd name="textAreaRight" fmla="*/ 8072280 w 8071200"/>
                <a:gd name="textAreaTop" fmla="*/ 0 h 951840"/>
                <a:gd name="textAreaBottom" fmla="*/ 952920 h 9518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100" name="AutoShape 5"/>
          <p:cNvSpPr/>
          <p:nvPr/>
        </p:nvSpPr>
        <p:spPr>
          <a:xfrm>
            <a:off x="1947960" y="3092400"/>
            <a:ext cx="640836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1" lang="pt-BR" sz="1800" strike="noStrike" u="none">
              <a:solidFill>
                <a:schemeClr val="dk1"/>
              </a:solidFill>
              <a:effectLst/>
              <a:uFillTx/>
              <a:latin typeface="Avenir LT Std 55 Roman"/>
            </a:endParaRPr>
          </a:p>
        </p:txBody>
      </p:sp>
      <p:grpSp>
        <p:nvGrpSpPr>
          <p:cNvPr id="101" name="Group 8"/>
          <p:cNvGrpSpPr/>
          <p:nvPr/>
        </p:nvGrpSpPr>
        <p:grpSpPr>
          <a:xfrm>
            <a:off x="0" y="393840"/>
            <a:ext cx="8902440" cy="1627200"/>
            <a:chOff x="0" y="393840"/>
            <a:chExt cx="8902440" cy="1627200"/>
          </a:xfrm>
        </p:grpSpPr>
        <p:sp>
          <p:nvSpPr>
            <p:cNvPr id="102" name="Freeform 9"/>
            <p:cNvSpPr/>
            <p:nvPr/>
          </p:nvSpPr>
          <p:spPr>
            <a:xfrm>
              <a:off x="0" y="393840"/>
              <a:ext cx="268920" cy="268920"/>
            </a:xfrm>
            <a:custGeom>
              <a:avLst/>
              <a:gdLst>
                <a:gd name="textAreaLeft" fmla="*/ 0 w 268920"/>
                <a:gd name="textAreaRight" fmla="*/ 270000 w 268920"/>
                <a:gd name="textAreaTop" fmla="*/ 0 h 268920"/>
                <a:gd name="textAreaBottom" fmla="*/ 270000 h 2689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  <p:sp>
          <p:nvSpPr>
            <p:cNvPr id="103" name="Freeform 10"/>
            <p:cNvSpPr/>
            <p:nvPr/>
          </p:nvSpPr>
          <p:spPr>
            <a:xfrm>
              <a:off x="0" y="663480"/>
              <a:ext cx="8902440" cy="1357560"/>
            </a:xfrm>
            <a:custGeom>
              <a:avLst/>
              <a:gdLst>
                <a:gd name="textAreaLeft" fmla="*/ 0 w 8902440"/>
                <a:gd name="textAreaRight" fmla="*/ 8903520 w 8902440"/>
                <a:gd name="textAreaTop" fmla="*/ 0 h 1357560"/>
                <a:gd name="textAreaBottom" fmla="*/ 1358640 h 13575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104" name="TextBox 12"/>
          <p:cNvSpPr/>
          <p:nvPr/>
        </p:nvSpPr>
        <p:spPr>
          <a:xfrm>
            <a:off x="5740560" y="6418800"/>
            <a:ext cx="32792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Lidian Katlheen R. Oliveira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3"/>
          <p:cNvSpPr/>
          <p:nvPr/>
        </p:nvSpPr>
        <p:spPr>
          <a:xfrm>
            <a:off x="5594400" y="6660000"/>
            <a:ext cx="340560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Instrutor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Reg: 0023880/GO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5"/>
          <p:cNvSpPr/>
          <p:nvPr/>
        </p:nvSpPr>
        <p:spPr>
          <a:xfrm>
            <a:off x="1395000" y="6892920"/>
            <a:ext cx="20826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Aluno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6"/>
          <p:cNvSpPr/>
          <p:nvPr/>
        </p:nvSpPr>
        <p:spPr>
          <a:xfrm>
            <a:off x="1003320" y="2716560"/>
            <a:ext cx="925596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00"/>
              </a:lnSpc>
            </a:pP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RAFAEL EXEMPLO VIANA DA SOUZA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CPF: </a:t>
            </a: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000.000.000-00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7"/>
          <p:cNvSpPr/>
          <p:nvPr/>
        </p:nvSpPr>
        <p:spPr>
          <a:xfrm>
            <a:off x="1788480" y="1048680"/>
            <a:ext cx="711432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99" strike="noStrike" u="none">
                <a:solidFill>
                  <a:srgbClr val="ffffff"/>
                </a:solidFill>
                <a:effectLst/>
                <a:uFillTx/>
                <a:latin typeface="Avenir LT Std 65 Medium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8"/>
          <p:cNvSpPr/>
          <p:nvPr/>
        </p:nvSpPr>
        <p:spPr>
          <a:xfrm>
            <a:off x="1079640" y="3577680"/>
            <a:ext cx="8535240" cy="20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articipou e concluiu o Treinamento sobre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CIPA - Comissão Interna de Prevenção de Acidentes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(teórico e prático), realizado em 16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 17 de Janeiro  de 2026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 duração de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dezesseis)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horas,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pela empresa VOLGA ENGENHARIA INDUSTRIA E COMERCIO LTDA,  na Av. Elmar Arantes Cabral, SN, Quadra 001, Lote 5, Parque Industrial Vice-Presidente José Alencar, Aparecida de Goiânia-GO inscrita no CNPJ: 03.347.463/0001 -12. em conformidade com a norma regulamentadora Nº 05, item 5.7.4 letra C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9"/>
          <p:cNvSpPr/>
          <p:nvPr/>
        </p:nvSpPr>
        <p:spPr>
          <a:xfrm>
            <a:off x="1079280" y="210204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7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CERTIFICAMOS QUE O ALUNO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2"/>
          <p:cNvSpPr/>
          <p:nvPr/>
        </p:nvSpPr>
        <p:spPr>
          <a:xfrm>
            <a:off x="514080" y="6418800"/>
            <a:ext cx="41086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Rafael Exemplo </a:t>
            </a: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Viana</a:t>
            </a:r>
            <a:r>
              <a:rPr b="1" lang="pt-BR" sz="14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Da Souza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2" name="Conector reto 2"/>
          <p:cNvCxnSpPr/>
          <p:nvPr/>
        </p:nvCxnSpPr>
        <p:spPr>
          <a:xfrm>
            <a:off x="100296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cxnSp>
        <p:nvCxnSpPr>
          <p:cNvPr id="113" name="Conector reto 3"/>
          <p:cNvCxnSpPr/>
          <p:nvPr/>
        </p:nvCxnSpPr>
        <p:spPr>
          <a:xfrm>
            <a:off x="577224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8"/>
          <p:cNvSpPr/>
          <p:nvPr/>
        </p:nvSpPr>
        <p:spPr>
          <a:xfrm>
            <a:off x="317520" y="1035000"/>
            <a:ext cx="9919440" cy="54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a)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Estudo do ambiente, das condições de trabalho, bem como dos riscos originados do processo produtivo;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b)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acidentes e doenças relacionadas ao trabalho decorrentes das condições de trabalho e da exposição aos riscos existentes no estabelecimento e suas medidas de prevenção;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c)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Metodologia de investigação e análise de acidentes e doenças relacionadas ao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d)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princípios gerais de higiene do trabalho e de medidas de prevenção dos riscos;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as legislações trabalhista e previdenciária relativas à segurança e saúde no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f)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Noções sobre a inclusão de pessoas com deficiência e reabilitados nos processos de trabalho; 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g)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Organização da CIPA e outros assuntos necessários ao exercício das atribuições da Comissão.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h)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prevenção e combate ao assédio sexual e a outras formas de violência no trabalho.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19"/>
          <p:cNvSpPr/>
          <p:nvPr/>
        </p:nvSpPr>
        <p:spPr>
          <a:xfrm>
            <a:off x="1079640" y="42516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CONTEÚDO PR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O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G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RA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3"/>
          <p:cNvGrpSpPr/>
          <p:nvPr/>
        </p:nvGrpSpPr>
        <p:grpSpPr>
          <a:xfrm>
            <a:off x="2625480" y="936360"/>
            <a:ext cx="8071200" cy="951840"/>
            <a:chOff x="2625480" y="936360"/>
            <a:chExt cx="8071200" cy="951840"/>
          </a:xfrm>
        </p:grpSpPr>
        <p:sp>
          <p:nvSpPr>
            <p:cNvPr id="117" name="Freeform 5"/>
            <p:cNvSpPr/>
            <p:nvPr/>
          </p:nvSpPr>
          <p:spPr>
            <a:xfrm>
              <a:off x="2625480" y="936360"/>
              <a:ext cx="8071200" cy="951840"/>
            </a:xfrm>
            <a:custGeom>
              <a:avLst/>
              <a:gdLst>
                <a:gd name="textAreaLeft" fmla="*/ 0 w 8071200"/>
                <a:gd name="textAreaRight" fmla="*/ 8072280 w 8071200"/>
                <a:gd name="textAreaTop" fmla="*/ 0 h 951840"/>
                <a:gd name="textAreaBottom" fmla="*/ 952920 h 9518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118" name="AutoShape 2"/>
          <p:cNvSpPr/>
          <p:nvPr/>
        </p:nvSpPr>
        <p:spPr>
          <a:xfrm>
            <a:off x="1947960" y="3092400"/>
            <a:ext cx="640836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1" lang="pt-BR" sz="1800" strike="noStrike" u="none">
              <a:solidFill>
                <a:schemeClr val="dk1"/>
              </a:solidFill>
              <a:effectLst/>
              <a:uFillTx/>
              <a:latin typeface="Avenir LT Std 55 Roman"/>
            </a:endParaRPr>
          </a:p>
        </p:txBody>
      </p:sp>
      <p:grpSp>
        <p:nvGrpSpPr>
          <p:cNvPr id="119" name="Group 4"/>
          <p:cNvGrpSpPr/>
          <p:nvPr/>
        </p:nvGrpSpPr>
        <p:grpSpPr>
          <a:xfrm>
            <a:off x="0" y="393840"/>
            <a:ext cx="8902440" cy="1627200"/>
            <a:chOff x="0" y="393840"/>
            <a:chExt cx="8902440" cy="1627200"/>
          </a:xfrm>
        </p:grpSpPr>
        <p:sp>
          <p:nvSpPr>
            <p:cNvPr id="120" name="Freeform 6"/>
            <p:cNvSpPr/>
            <p:nvPr/>
          </p:nvSpPr>
          <p:spPr>
            <a:xfrm>
              <a:off x="0" y="393840"/>
              <a:ext cx="268920" cy="268920"/>
            </a:xfrm>
            <a:custGeom>
              <a:avLst/>
              <a:gdLst>
                <a:gd name="textAreaLeft" fmla="*/ 0 w 268920"/>
                <a:gd name="textAreaRight" fmla="*/ 270000 w 268920"/>
                <a:gd name="textAreaTop" fmla="*/ 0 h 268920"/>
                <a:gd name="textAreaBottom" fmla="*/ 270000 h 2689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  <p:sp>
          <p:nvSpPr>
            <p:cNvPr id="121" name="Freeform 7"/>
            <p:cNvSpPr/>
            <p:nvPr/>
          </p:nvSpPr>
          <p:spPr>
            <a:xfrm>
              <a:off x="0" y="663480"/>
              <a:ext cx="8902440" cy="1357560"/>
            </a:xfrm>
            <a:custGeom>
              <a:avLst/>
              <a:gdLst>
                <a:gd name="textAreaLeft" fmla="*/ 0 w 8902440"/>
                <a:gd name="textAreaRight" fmla="*/ 8903520 w 8902440"/>
                <a:gd name="textAreaTop" fmla="*/ 0 h 1357560"/>
                <a:gd name="textAreaBottom" fmla="*/ 1358640 h 13575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122" name="TextBox 9"/>
          <p:cNvSpPr/>
          <p:nvPr/>
        </p:nvSpPr>
        <p:spPr>
          <a:xfrm>
            <a:off x="5740560" y="6418800"/>
            <a:ext cx="32792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Lidian Katlheen R. Oliveira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0"/>
          <p:cNvSpPr/>
          <p:nvPr/>
        </p:nvSpPr>
        <p:spPr>
          <a:xfrm>
            <a:off x="5594400" y="6660000"/>
            <a:ext cx="340560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Instrutor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Reg: 0023880/GO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1"/>
          <p:cNvSpPr/>
          <p:nvPr/>
        </p:nvSpPr>
        <p:spPr>
          <a:xfrm>
            <a:off x="1395000" y="6892920"/>
            <a:ext cx="20826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Aluno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14"/>
          <p:cNvSpPr/>
          <p:nvPr/>
        </p:nvSpPr>
        <p:spPr>
          <a:xfrm>
            <a:off x="1003320" y="2716560"/>
            <a:ext cx="925596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00"/>
              </a:lnSpc>
            </a:pPr>
            <a:r>
              <a:rPr b="1" lang="pt-BR" sz="3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HELENA EXEMPLO DE NUNES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CPF: </a:t>
            </a: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000.000.000-00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0"/>
          <p:cNvSpPr/>
          <p:nvPr/>
        </p:nvSpPr>
        <p:spPr>
          <a:xfrm>
            <a:off x="1788480" y="1048680"/>
            <a:ext cx="711432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99" strike="noStrike" u="none">
                <a:solidFill>
                  <a:srgbClr val="ffffff"/>
                </a:solidFill>
                <a:effectLst/>
                <a:uFillTx/>
                <a:latin typeface="Avenir LT Std 65 Medium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21"/>
          <p:cNvSpPr/>
          <p:nvPr/>
        </p:nvSpPr>
        <p:spPr>
          <a:xfrm>
            <a:off x="1079640" y="3577680"/>
            <a:ext cx="8535240" cy="20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articipou e concluiu o Treinamento sobre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CIPA - Comissão Interna de Prevenção de Acidentes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(teórico e prático), realizado em 16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 17 de Janeiro  de 2026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 duração de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dezesseis)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horas,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pela empresa VOLGA ENGENHARIA INDUSTRIA E COMERCIO LTDA,  na Av. Elmar Arantes Cabral, SN, Quadra 001, Lote 5, Parque Industrial Vice-Presidente José Alencar, Aparecida de Goiânia-GO inscrita no CNPJ: 03.347.463/0001 -12. em conformidade com a norma regulamentadora Nº 05, item 5.7.4 letra C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2"/>
          <p:cNvSpPr/>
          <p:nvPr/>
        </p:nvSpPr>
        <p:spPr>
          <a:xfrm>
            <a:off x="1079280" y="210204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7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CERTIFICAMOS QUE O ALUNO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23"/>
          <p:cNvSpPr/>
          <p:nvPr/>
        </p:nvSpPr>
        <p:spPr>
          <a:xfrm>
            <a:off x="1218960" y="6418800"/>
            <a:ext cx="269856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Helena Exemplo De Nunes</a:t>
            </a:r>
            <a:endParaRPr b="1" lang="pt-BR" sz="1400" spc="187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30" name="Conector reto 5"/>
          <p:cNvCxnSpPr/>
          <p:nvPr/>
        </p:nvCxnSpPr>
        <p:spPr>
          <a:xfrm>
            <a:off x="100296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cxnSp>
        <p:nvCxnSpPr>
          <p:cNvPr id="131" name="Conector reto 6"/>
          <p:cNvCxnSpPr/>
          <p:nvPr/>
        </p:nvCxnSpPr>
        <p:spPr>
          <a:xfrm>
            <a:off x="577224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2"/>
          <p:cNvSpPr/>
          <p:nvPr/>
        </p:nvSpPr>
        <p:spPr>
          <a:xfrm>
            <a:off x="317520" y="1035000"/>
            <a:ext cx="9919440" cy="54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a)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Estudo do ambiente, das condições de trabalho, bem como dos riscos originados do processo produtivo;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b)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acidentes e doenças relacionadas ao trabalho decorrentes das condições de trabalho e da exposição aos riscos existentes no estabelecimento e suas medidas de prevenção;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c)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Metodologia de investigação e análise de acidentes e doenças relacionadas ao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d)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princípios gerais de higiene do trabalho e de medidas de prevenção dos riscos;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as legislações trabalhista e previdenciária relativas à segurança e saúde no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f)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Noções sobre a inclusão de pessoas com deficiência e reabilitados nos processos de trabalho; 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g)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Organização da CIPA e outros assuntos necessários ao exercício das atribuições da Comissão.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h)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prevenção e combate ao assédio sexual e a outras formas de violência no trabalho.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1079640" y="42516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CONTEÚDO PR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O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G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RA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5"/>
          <p:cNvGrpSpPr/>
          <p:nvPr/>
        </p:nvGrpSpPr>
        <p:grpSpPr>
          <a:xfrm>
            <a:off x="2625480" y="936360"/>
            <a:ext cx="8071200" cy="951840"/>
            <a:chOff x="2625480" y="936360"/>
            <a:chExt cx="8071200" cy="951840"/>
          </a:xfrm>
        </p:grpSpPr>
        <p:sp>
          <p:nvSpPr>
            <p:cNvPr id="135" name="Freeform 8"/>
            <p:cNvSpPr/>
            <p:nvPr/>
          </p:nvSpPr>
          <p:spPr>
            <a:xfrm>
              <a:off x="2625480" y="936360"/>
              <a:ext cx="8071200" cy="951840"/>
            </a:xfrm>
            <a:custGeom>
              <a:avLst/>
              <a:gdLst>
                <a:gd name="textAreaLeft" fmla="*/ 0 w 8071200"/>
                <a:gd name="textAreaRight" fmla="*/ 8072280 w 8071200"/>
                <a:gd name="textAreaTop" fmla="*/ 0 h 951840"/>
                <a:gd name="textAreaBottom" fmla="*/ 952920 h 9518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136" name="AutoShape 3"/>
          <p:cNvSpPr/>
          <p:nvPr/>
        </p:nvSpPr>
        <p:spPr>
          <a:xfrm>
            <a:off x="1947960" y="3092400"/>
            <a:ext cx="640836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1" lang="pt-BR" sz="1800" strike="noStrike" u="none">
              <a:solidFill>
                <a:schemeClr val="dk1"/>
              </a:solidFill>
              <a:effectLst/>
              <a:uFillTx/>
              <a:latin typeface="Avenir LT Std 55 Roman"/>
            </a:endParaRPr>
          </a:p>
        </p:txBody>
      </p:sp>
      <p:grpSp>
        <p:nvGrpSpPr>
          <p:cNvPr id="137" name="Group 6"/>
          <p:cNvGrpSpPr/>
          <p:nvPr/>
        </p:nvGrpSpPr>
        <p:grpSpPr>
          <a:xfrm>
            <a:off x="0" y="393840"/>
            <a:ext cx="8902440" cy="1627200"/>
            <a:chOff x="0" y="393840"/>
            <a:chExt cx="8902440" cy="1627200"/>
          </a:xfrm>
        </p:grpSpPr>
        <p:sp>
          <p:nvSpPr>
            <p:cNvPr id="138" name="Freeform 11"/>
            <p:cNvSpPr/>
            <p:nvPr/>
          </p:nvSpPr>
          <p:spPr>
            <a:xfrm>
              <a:off x="0" y="393840"/>
              <a:ext cx="268920" cy="268920"/>
            </a:xfrm>
            <a:custGeom>
              <a:avLst/>
              <a:gdLst>
                <a:gd name="textAreaLeft" fmla="*/ 0 w 268920"/>
                <a:gd name="textAreaRight" fmla="*/ 270000 w 268920"/>
                <a:gd name="textAreaTop" fmla="*/ 0 h 268920"/>
                <a:gd name="textAreaBottom" fmla="*/ 270000 h 2689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  <p:sp>
          <p:nvSpPr>
            <p:cNvPr id="139" name="Freeform 12"/>
            <p:cNvSpPr/>
            <p:nvPr/>
          </p:nvSpPr>
          <p:spPr>
            <a:xfrm>
              <a:off x="0" y="663480"/>
              <a:ext cx="8902440" cy="1357560"/>
            </a:xfrm>
            <a:custGeom>
              <a:avLst/>
              <a:gdLst>
                <a:gd name="textAreaLeft" fmla="*/ 0 w 8902440"/>
                <a:gd name="textAreaRight" fmla="*/ 8903520 w 8902440"/>
                <a:gd name="textAreaTop" fmla="*/ 0 h 1357560"/>
                <a:gd name="textAreaBottom" fmla="*/ 1358640 h 13575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140" name="TextBox 24"/>
          <p:cNvSpPr/>
          <p:nvPr/>
        </p:nvSpPr>
        <p:spPr>
          <a:xfrm>
            <a:off x="5740560" y="6418800"/>
            <a:ext cx="32792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Lidian Katlheen R. Oliveira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25"/>
          <p:cNvSpPr/>
          <p:nvPr/>
        </p:nvSpPr>
        <p:spPr>
          <a:xfrm>
            <a:off x="5594400" y="6673680"/>
            <a:ext cx="340560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Instrutor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Reg: 0023880/GO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26"/>
          <p:cNvSpPr/>
          <p:nvPr/>
        </p:nvSpPr>
        <p:spPr>
          <a:xfrm>
            <a:off x="1395000" y="6892920"/>
            <a:ext cx="20826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Aluno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27"/>
          <p:cNvSpPr/>
          <p:nvPr/>
        </p:nvSpPr>
        <p:spPr>
          <a:xfrm>
            <a:off x="1003320" y="2716560"/>
            <a:ext cx="925596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00"/>
              </a:lnSpc>
            </a:pPr>
            <a:r>
              <a:rPr b="1" lang="pt-BR" sz="3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SILVIA EXEMPLO PRADO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CPF: 000.000.000-00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28"/>
          <p:cNvSpPr/>
          <p:nvPr/>
        </p:nvSpPr>
        <p:spPr>
          <a:xfrm>
            <a:off x="1788480" y="1048680"/>
            <a:ext cx="711432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99" strike="noStrike" u="none">
                <a:solidFill>
                  <a:srgbClr val="ffffff"/>
                </a:solidFill>
                <a:effectLst/>
                <a:uFillTx/>
                <a:latin typeface="Avenir LT Std 65 Medium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9"/>
          <p:cNvSpPr/>
          <p:nvPr/>
        </p:nvSpPr>
        <p:spPr>
          <a:xfrm>
            <a:off x="1079640" y="3577680"/>
            <a:ext cx="8535240" cy="20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articipou e concluiu o Treinamento sobre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CIPA - Comissão Interna de Prevenção de Acidentes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(teórico e prático), realizado em 16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 17 de Janeiro  de 2026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 duração de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dezesseis)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horas,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pela empresa VOLGA ENGENHARIA INDUSTRIA E COMERCIO LTDA,  na Av. Elmar Arantes Cabral, SN, Quadra 001, Lote 5, Parque Industrial Vice-Presidente José Alencar, Aparecida de Goiânia-GO inscrita no CNPJ: 03.347.463/0001 -12. em conformidade com a norma regulamentadora Nº 05, item 5.7.4 letra C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30"/>
          <p:cNvSpPr/>
          <p:nvPr/>
        </p:nvSpPr>
        <p:spPr>
          <a:xfrm>
            <a:off x="1079280" y="210204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7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CERTIFICAMOS QUE O ALUNO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31"/>
          <p:cNvSpPr/>
          <p:nvPr/>
        </p:nvSpPr>
        <p:spPr>
          <a:xfrm>
            <a:off x="514080" y="6418800"/>
            <a:ext cx="41086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Silvia Exemplo Prado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8" name="Conector reto 7"/>
          <p:cNvCxnSpPr/>
          <p:nvPr/>
        </p:nvCxnSpPr>
        <p:spPr>
          <a:xfrm>
            <a:off x="100296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cxnSp>
        <p:nvCxnSpPr>
          <p:cNvPr id="149" name="Conector reto 8"/>
          <p:cNvCxnSpPr/>
          <p:nvPr/>
        </p:nvCxnSpPr>
        <p:spPr>
          <a:xfrm>
            <a:off x="577224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4"/>
          <p:cNvSpPr/>
          <p:nvPr/>
        </p:nvSpPr>
        <p:spPr>
          <a:xfrm>
            <a:off x="317520" y="1035000"/>
            <a:ext cx="9919440" cy="54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a)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Estudo do ambiente, das condições de trabalho, bem como dos riscos originados do processo produtivo;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b)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acidentes e doenças relacionadas ao trabalho decorrentes das condições de trabalho e da exposição aos riscos existentes no estabelecimento e suas medidas de prevenção;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c)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Metodologia de investigação e análise de acidentes e doenças relacionadas ao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d)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princípios gerais de higiene do trabalho e de medidas de prevenção dos riscos;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as legislações trabalhista e previdenciária relativas à segurança e saúde no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f)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Noções sobre a inclusão de pessoas com deficiência e reabilitados nos processos de trabalho; 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g)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Organização da CIPA e outros assuntos necessários ao exercício das atribuições da Comissão.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h)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prevenção e combate ao assédio sexual e a outras formas de violência no trabalho.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5"/>
          <p:cNvSpPr/>
          <p:nvPr/>
        </p:nvSpPr>
        <p:spPr>
          <a:xfrm>
            <a:off x="1079640" y="42516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CONTEÚDO PR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O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G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RA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roup 7"/>
          <p:cNvGrpSpPr/>
          <p:nvPr/>
        </p:nvGrpSpPr>
        <p:grpSpPr>
          <a:xfrm>
            <a:off x="2625480" y="936360"/>
            <a:ext cx="8071200" cy="951840"/>
            <a:chOff x="2625480" y="936360"/>
            <a:chExt cx="8071200" cy="951840"/>
          </a:xfrm>
        </p:grpSpPr>
        <p:sp>
          <p:nvSpPr>
            <p:cNvPr id="153" name="Freeform 13"/>
            <p:cNvSpPr/>
            <p:nvPr/>
          </p:nvSpPr>
          <p:spPr>
            <a:xfrm>
              <a:off x="2625480" y="936360"/>
              <a:ext cx="8071200" cy="951840"/>
            </a:xfrm>
            <a:custGeom>
              <a:avLst/>
              <a:gdLst>
                <a:gd name="textAreaLeft" fmla="*/ 0 w 8071200"/>
                <a:gd name="textAreaRight" fmla="*/ 8072280 w 8071200"/>
                <a:gd name="textAreaTop" fmla="*/ 0 h 951840"/>
                <a:gd name="textAreaBottom" fmla="*/ 952920 h 9518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154" name="AutoShape 4"/>
          <p:cNvSpPr/>
          <p:nvPr/>
        </p:nvSpPr>
        <p:spPr>
          <a:xfrm>
            <a:off x="1947960" y="3092400"/>
            <a:ext cx="640836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1" lang="pt-BR" sz="1800" strike="noStrike" u="none">
              <a:solidFill>
                <a:schemeClr val="dk1"/>
              </a:solidFill>
              <a:effectLst/>
              <a:uFillTx/>
              <a:latin typeface="Avenir LT Std 55 Roman"/>
            </a:endParaRPr>
          </a:p>
        </p:txBody>
      </p:sp>
      <p:grpSp>
        <p:nvGrpSpPr>
          <p:cNvPr id="155" name="Group 9"/>
          <p:cNvGrpSpPr/>
          <p:nvPr/>
        </p:nvGrpSpPr>
        <p:grpSpPr>
          <a:xfrm>
            <a:off x="0" y="393840"/>
            <a:ext cx="8902440" cy="1627200"/>
            <a:chOff x="0" y="393840"/>
            <a:chExt cx="8902440" cy="1627200"/>
          </a:xfrm>
        </p:grpSpPr>
        <p:sp>
          <p:nvSpPr>
            <p:cNvPr id="156" name="Freeform 14"/>
            <p:cNvSpPr/>
            <p:nvPr/>
          </p:nvSpPr>
          <p:spPr>
            <a:xfrm>
              <a:off x="0" y="393840"/>
              <a:ext cx="268920" cy="268920"/>
            </a:xfrm>
            <a:custGeom>
              <a:avLst/>
              <a:gdLst>
                <a:gd name="textAreaLeft" fmla="*/ 0 w 268920"/>
                <a:gd name="textAreaRight" fmla="*/ 270000 w 268920"/>
                <a:gd name="textAreaTop" fmla="*/ 0 h 268920"/>
                <a:gd name="textAreaBottom" fmla="*/ 270000 h 2689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  <p:sp>
          <p:nvSpPr>
            <p:cNvPr id="157" name="Freeform 15"/>
            <p:cNvSpPr/>
            <p:nvPr/>
          </p:nvSpPr>
          <p:spPr>
            <a:xfrm>
              <a:off x="0" y="663480"/>
              <a:ext cx="8902440" cy="1357560"/>
            </a:xfrm>
            <a:custGeom>
              <a:avLst/>
              <a:gdLst>
                <a:gd name="textAreaLeft" fmla="*/ 0 w 8902440"/>
                <a:gd name="textAreaRight" fmla="*/ 8903520 w 8902440"/>
                <a:gd name="textAreaTop" fmla="*/ 0 h 1357560"/>
                <a:gd name="textAreaBottom" fmla="*/ 1358640 h 13575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158" name="TextBox 32"/>
          <p:cNvSpPr/>
          <p:nvPr/>
        </p:nvSpPr>
        <p:spPr>
          <a:xfrm>
            <a:off x="5740560" y="6418800"/>
            <a:ext cx="32792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Lidian Katlheen R. Oliveira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33"/>
          <p:cNvSpPr/>
          <p:nvPr/>
        </p:nvSpPr>
        <p:spPr>
          <a:xfrm>
            <a:off x="5760000" y="6660000"/>
            <a:ext cx="340560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Instrutor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Reg: 0023880/GO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34"/>
          <p:cNvSpPr/>
          <p:nvPr/>
        </p:nvSpPr>
        <p:spPr>
          <a:xfrm>
            <a:off x="1395000" y="6892920"/>
            <a:ext cx="20826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Aluno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35"/>
          <p:cNvSpPr/>
          <p:nvPr/>
        </p:nvSpPr>
        <p:spPr>
          <a:xfrm>
            <a:off x="1003320" y="2716560"/>
            <a:ext cx="925596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00"/>
              </a:lnSpc>
            </a:pPr>
            <a:r>
              <a:rPr b="1" lang="pt-BR" sz="3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BEATRIZ EXEMPLO E PEREIRA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CPF: </a:t>
            </a: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000.000.000-00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36"/>
          <p:cNvSpPr/>
          <p:nvPr/>
        </p:nvSpPr>
        <p:spPr>
          <a:xfrm>
            <a:off x="1788480" y="1048680"/>
            <a:ext cx="711432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99" strike="noStrike" u="none">
                <a:solidFill>
                  <a:srgbClr val="ffffff"/>
                </a:solidFill>
                <a:effectLst/>
                <a:uFillTx/>
                <a:latin typeface="Avenir LT Std 65 Medium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37"/>
          <p:cNvSpPr/>
          <p:nvPr/>
        </p:nvSpPr>
        <p:spPr>
          <a:xfrm>
            <a:off x="1079640" y="3577680"/>
            <a:ext cx="8535240" cy="20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articipou e concluiu o Treinamento sobre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CIPA - Comissão Interna de Prevenção de Acidentes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(teórico e prático), realizado em 16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 17 de Janeiro  de 2026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 duração de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dezesseis)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horas,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pela empresa VOLGA ENGENHARIA INDUSTRIA E COMERCIO LTDA,  na Av. Elmar Arantes Cabral, SN, Quadra 001, Lote 5, Parque Industrial Vice-Presidente José Alencar, Aparecida de Goiânia-GO inscrita no CNPJ: 03.347.463/0001 -12. em conformidade com a norma regulamentadora Nº 05, item 5.7.4 letra C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38"/>
          <p:cNvSpPr/>
          <p:nvPr/>
        </p:nvSpPr>
        <p:spPr>
          <a:xfrm>
            <a:off x="1079280" y="210204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7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CERTIFICAMOS QUE O ALUNO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39"/>
          <p:cNvSpPr/>
          <p:nvPr/>
        </p:nvSpPr>
        <p:spPr>
          <a:xfrm>
            <a:off x="1394640" y="6418800"/>
            <a:ext cx="234612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Beatriz Exemplo E Pereira </a:t>
            </a:r>
            <a:endParaRPr b="1" lang="pt-BR" sz="1400" spc="187" strike="noStrike" u="non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  <p:cxnSp>
        <p:nvCxnSpPr>
          <p:cNvPr id="166" name="Conector reto 9"/>
          <p:cNvCxnSpPr/>
          <p:nvPr/>
        </p:nvCxnSpPr>
        <p:spPr>
          <a:xfrm>
            <a:off x="100296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cxnSp>
        <p:nvCxnSpPr>
          <p:cNvPr id="167" name="Conector reto 10"/>
          <p:cNvCxnSpPr/>
          <p:nvPr/>
        </p:nvCxnSpPr>
        <p:spPr>
          <a:xfrm>
            <a:off x="577224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6"/>
          <p:cNvSpPr/>
          <p:nvPr/>
        </p:nvSpPr>
        <p:spPr>
          <a:xfrm>
            <a:off x="317520" y="1035000"/>
            <a:ext cx="9919440" cy="54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a)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Estudo do ambiente, das condições de trabalho, bem como dos riscos originados do processo produtivo;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b)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acidentes e doenças relacionadas ao trabalho decorrentes das condições de trabalho e da exposição aos riscos existentes no estabelecimento e suas medidas de prevenção;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c)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Metodologia de investigação e análise de acidentes e doenças relacionadas ao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d)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princípios gerais de higiene do trabalho e de medidas de prevenção dos riscos;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as legislações trabalhista e previdenciária relativas à segurança e saúde no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f)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Noções sobre a inclusão de pessoas com deficiência e reabilitados nos processos de trabalho; 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g)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Organização da CIPA e outros assuntos necessários ao exercício das atribuições da Comissão.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h)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prevenção e combate ao assédio sexual e a outras formas de violência no trabalho.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7"/>
          <p:cNvSpPr/>
          <p:nvPr/>
        </p:nvSpPr>
        <p:spPr>
          <a:xfrm>
            <a:off x="1079640" y="42516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CONTEÚDO PR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O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G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RA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roup 10"/>
          <p:cNvGrpSpPr/>
          <p:nvPr/>
        </p:nvGrpSpPr>
        <p:grpSpPr>
          <a:xfrm>
            <a:off x="2625480" y="936360"/>
            <a:ext cx="8071200" cy="951840"/>
            <a:chOff x="2625480" y="936360"/>
            <a:chExt cx="8071200" cy="951840"/>
          </a:xfrm>
        </p:grpSpPr>
        <p:sp>
          <p:nvSpPr>
            <p:cNvPr id="171" name="Freeform 16"/>
            <p:cNvSpPr/>
            <p:nvPr/>
          </p:nvSpPr>
          <p:spPr>
            <a:xfrm>
              <a:off x="2625480" y="936360"/>
              <a:ext cx="8071200" cy="951840"/>
            </a:xfrm>
            <a:custGeom>
              <a:avLst/>
              <a:gdLst>
                <a:gd name="textAreaLeft" fmla="*/ 0 w 8071200"/>
                <a:gd name="textAreaRight" fmla="*/ 8072280 w 8071200"/>
                <a:gd name="textAreaTop" fmla="*/ 0 h 951840"/>
                <a:gd name="textAreaBottom" fmla="*/ 952920 h 9518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172" name="AutoShape 6"/>
          <p:cNvSpPr/>
          <p:nvPr/>
        </p:nvSpPr>
        <p:spPr>
          <a:xfrm>
            <a:off x="1947960" y="3092400"/>
            <a:ext cx="640836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1" lang="pt-BR" sz="1800" strike="noStrike" u="none">
              <a:solidFill>
                <a:schemeClr val="dk1"/>
              </a:solidFill>
              <a:effectLst/>
              <a:uFillTx/>
              <a:latin typeface="Avenir LT Std 55 Roman"/>
            </a:endParaRPr>
          </a:p>
        </p:txBody>
      </p:sp>
      <p:grpSp>
        <p:nvGrpSpPr>
          <p:cNvPr id="173" name="Group 11"/>
          <p:cNvGrpSpPr/>
          <p:nvPr/>
        </p:nvGrpSpPr>
        <p:grpSpPr>
          <a:xfrm>
            <a:off x="0" y="393840"/>
            <a:ext cx="8902440" cy="1627200"/>
            <a:chOff x="0" y="393840"/>
            <a:chExt cx="8902440" cy="1627200"/>
          </a:xfrm>
        </p:grpSpPr>
        <p:sp>
          <p:nvSpPr>
            <p:cNvPr id="174" name="Freeform 17"/>
            <p:cNvSpPr/>
            <p:nvPr/>
          </p:nvSpPr>
          <p:spPr>
            <a:xfrm>
              <a:off x="0" y="393840"/>
              <a:ext cx="268920" cy="268920"/>
            </a:xfrm>
            <a:custGeom>
              <a:avLst/>
              <a:gdLst>
                <a:gd name="textAreaLeft" fmla="*/ 0 w 268920"/>
                <a:gd name="textAreaRight" fmla="*/ 270000 w 268920"/>
                <a:gd name="textAreaTop" fmla="*/ 0 h 268920"/>
                <a:gd name="textAreaBottom" fmla="*/ 270000 h 2689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  <p:sp>
          <p:nvSpPr>
            <p:cNvPr id="175" name="Freeform 18"/>
            <p:cNvSpPr/>
            <p:nvPr/>
          </p:nvSpPr>
          <p:spPr>
            <a:xfrm>
              <a:off x="0" y="663480"/>
              <a:ext cx="8902440" cy="1357560"/>
            </a:xfrm>
            <a:custGeom>
              <a:avLst/>
              <a:gdLst>
                <a:gd name="textAreaLeft" fmla="*/ 0 w 8902440"/>
                <a:gd name="textAreaRight" fmla="*/ 8903520 w 8902440"/>
                <a:gd name="textAreaTop" fmla="*/ 0 h 1357560"/>
                <a:gd name="textAreaBottom" fmla="*/ 1358640 h 13575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176" name="TextBox 40"/>
          <p:cNvSpPr/>
          <p:nvPr/>
        </p:nvSpPr>
        <p:spPr>
          <a:xfrm>
            <a:off x="5740560" y="6418800"/>
            <a:ext cx="32792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Lidian Katlheen R. Oliveira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41"/>
          <p:cNvSpPr/>
          <p:nvPr/>
        </p:nvSpPr>
        <p:spPr>
          <a:xfrm>
            <a:off x="5594400" y="6660000"/>
            <a:ext cx="340560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Instrutor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Reg: 0023880/GO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42"/>
          <p:cNvSpPr/>
          <p:nvPr/>
        </p:nvSpPr>
        <p:spPr>
          <a:xfrm>
            <a:off x="1395000" y="6892920"/>
            <a:ext cx="20826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Aluno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43"/>
          <p:cNvSpPr/>
          <p:nvPr/>
        </p:nvSpPr>
        <p:spPr>
          <a:xfrm>
            <a:off x="1003320" y="2716560"/>
            <a:ext cx="925596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00"/>
              </a:lnSpc>
            </a:pPr>
            <a:r>
              <a:rPr b="1" lang="pt-BR" sz="3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IGOR DE EXEMPLO MOURA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CPF: </a:t>
            </a: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000.000.000-00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44"/>
          <p:cNvSpPr/>
          <p:nvPr/>
        </p:nvSpPr>
        <p:spPr>
          <a:xfrm>
            <a:off x="1788480" y="1048680"/>
            <a:ext cx="711432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99" strike="noStrike" u="none">
                <a:solidFill>
                  <a:srgbClr val="ffffff"/>
                </a:solidFill>
                <a:effectLst/>
                <a:uFillTx/>
                <a:latin typeface="Avenir LT Std 65 Medium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45"/>
          <p:cNvSpPr/>
          <p:nvPr/>
        </p:nvSpPr>
        <p:spPr>
          <a:xfrm>
            <a:off x="1079640" y="3577680"/>
            <a:ext cx="8535240" cy="20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articipou e concluiu o Treinamento sobre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CIPA - Comissão Interna de Prevenção de Acidentes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(teórico e prático), realizado em 16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 17 de Janeiro  de 2026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 duração de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dezesseis)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horas,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pela empresa VOLGA ENGENHARIA INDUSTRIA E COMERCIO LTDA,  na Av. Elmar Arantes Cabral, SN, Quadra 001, Lote 5, Parque Industrial Vice-Presidente José Alencar, Aparecida de Goiânia-GO inscrita no CNPJ: 03.347.463/0001 -12. em conformidade com a norma regulamentadora Nº 05, item 5.7.4 letra C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46"/>
          <p:cNvSpPr/>
          <p:nvPr/>
        </p:nvSpPr>
        <p:spPr>
          <a:xfrm>
            <a:off x="1079280" y="210204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7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CERTIFICAMOS QUE O ALUNO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47"/>
          <p:cNvSpPr/>
          <p:nvPr/>
        </p:nvSpPr>
        <p:spPr>
          <a:xfrm>
            <a:off x="1233000" y="6418800"/>
            <a:ext cx="26726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Igor De Exemplo Moura</a:t>
            </a:r>
            <a:endParaRPr b="1" lang="pt-BR" sz="1400" spc="187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84" name="Conector reto 11"/>
          <p:cNvCxnSpPr/>
          <p:nvPr/>
        </p:nvCxnSpPr>
        <p:spPr>
          <a:xfrm>
            <a:off x="100296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cxnSp>
        <p:nvCxnSpPr>
          <p:cNvPr id="185" name="Conector reto 12"/>
          <p:cNvCxnSpPr/>
          <p:nvPr/>
        </p:nvCxnSpPr>
        <p:spPr>
          <a:xfrm>
            <a:off x="577224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93"/>
          <p:cNvSpPr/>
          <p:nvPr/>
        </p:nvSpPr>
        <p:spPr>
          <a:xfrm>
            <a:off x="317520" y="1035000"/>
            <a:ext cx="9919440" cy="54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a)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Estudo do ambiente, das condições de trabalho, bem como dos riscos originados do processo produtivo;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b)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acidentes e doenças relacionadas ao trabalho decorrentes das condições de trabalho e da exposição aos riscos existentes no estabelecimento e suas medidas de prevenção;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c)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Metodologia de investigação e análise de acidentes e doenças relacionadas ao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d)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princípios gerais de higiene do trabalho e de medidas de prevenção dos riscos;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as legislações trabalhista e previdenciária relativas à segurança e saúde no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f)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Noções sobre a inclusão de pessoas com deficiência e reabilitados nos processos de trabalho; 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g)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Organização da CIPA e outros assuntos necessários ao exercício das atribuições da Comissão.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h)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prevenção e combate ao assédio sexual e a outras formas de violência no trabalho.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94"/>
          <p:cNvSpPr/>
          <p:nvPr/>
        </p:nvSpPr>
        <p:spPr>
          <a:xfrm>
            <a:off x="1079640" y="42516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CONTEÚDO PR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O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G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RA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roup 14"/>
          <p:cNvGrpSpPr/>
          <p:nvPr/>
        </p:nvGrpSpPr>
        <p:grpSpPr>
          <a:xfrm>
            <a:off x="2625480" y="936360"/>
            <a:ext cx="8071200" cy="951840"/>
            <a:chOff x="2625480" y="936360"/>
            <a:chExt cx="8071200" cy="951840"/>
          </a:xfrm>
        </p:grpSpPr>
        <p:sp>
          <p:nvSpPr>
            <p:cNvPr id="189" name="Freeform 22"/>
            <p:cNvSpPr/>
            <p:nvPr/>
          </p:nvSpPr>
          <p:spPr>
            <a:xfrm>
              <a:off x="2625480" y="936360"/>
              <a:ext cx="8071200" cy="951840"/>
            </a:xfrm>
            <a:custGeom>
              <a:avLst/>
              <a:gdLst>
                <a:gd name="textAreaLeft" fmla="*/ 0 w 8071200"/>
                <a:gd name="textAreaRight" fmla="*/ 8072280 w 8071200"/>
                <a:gd name="textAreaTop" fmla="*/ 0 h 951840"/>
                <a:gd name="textAreaBottom" fmla="*/ 952920 h 9518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190" name="AutoShape 8"/>
          <p:cNvSpPr/>
          <p:nvPr/>
        </p:nvSpPr>
        <p:spPr>
          <a:xfrm>
            <a:off x="1947960" y="3092400"/>
            <a:ext cx="640836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1" lang="pt-BR" sz="1800" strike="noStrike" u="none">
              <a:solidFill>
                <a:schemeClr val="dk1"/>
              </a:solidFill>
              <a:effectLst/>
              <a:uFillTx/>
              <a:latin typeface="Avenir LT Std 55 Roman"/>
            </a:endParaRPr>
          </a:p>
        </p:txBody>
      </p:sp>
      <p:grpSp>
        <p:nvGrpSpPr>
          <p:cNvPr id="191" name="Group 15"/>
          <p:cNvGrpSpPr/>
          <p:nvPr/>
        </p:nvGrpSpPr>
        <p:grpSpPr>
          <a:xfrm>
            <a:off x="0" y="393840"/>
            <a:ext cx="8902440" cy="1627200"/>
            <a:chOff x="0" y="393840"/>
            <a:chExt cx="8902440" cy="1627200"/>
          </a:xfrm>
        </p:grpSpPr>
        <p:sp>
          <p:nvSpPr>
            <p:cNvPr id="192" name="Freeform 23"/>
            <p:cNvSpPr/>
            <p:nvPr/>
          </p:nvSpPr>
          <p:spPr>
            <a:xfrm>
              <a:off x="0" y="393840"/>
              <a:ext cx="268920" cy="268920"/>
            </a:xfrm>
            <a:custGeom>
              <a:avLst/>
              <a:gdLst>
                <a:gd name="textAreaLeft" fmla="*/ 0 w 268920"/>
                <a:gd name="textAreaRight" fmla="*/ 270000 w 268920"/>
                <a:gd name="textAreaTop" fmla="*/ 0 h 268920"/>
                <a:gd name="textAreaBottom" fmla="*/ 270000 h 2689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  <p:sp>
          <p:nvSpPr>
            <p:cNvPr id="193" name="Freeform 24"/>
            <p:cNvSpPr/>
            <p:nvPr/>
          </p:nvSpPr>
          <p:spPr>
            <a:xfrm>
              <a:off x="0" y="663480"/>
              <a:ext cx="8902440" cy="1357560"/>
            </a:xfrm>
            <a:custGeom>
              <a:avLst/>
              <a:gdLst>
                <a:gd name="textAreaLeft" fmla="*/ 0 w 8902440"/>
                <a:gd name="textAreaRight" fmla="*/ 8903520 w 8902440"/>
                <a:gd name="textAreaTop" fmla="*/ 0 h 1357560"/>
                <a:gd name="textAreaBottom" fmla="*/ 1358640 h 13575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194" name="TextBox 56"/>
          <p:cNvSpPr/>
          <p:nvPr/>
        </p:nvSpPr>
        <p:spPr>
          <a:xfrm>
            <a:off x="5760000" y="6418800"/>
            <a:ext cx="32792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Lidian Katlheen R. Oliveira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57"/>
          <p:cNvSpPr/>
          <p:nvPr/>
        </p:nvSpPr>
        <p:spPr>
          <a:xfrm>
            <a:off x="5594400" y="6663600"/>
            <a:ext cx="340560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Instrutor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Reg: 0023880/GO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58"/>
          <p:cNvSpPr/>
          <p:nvPr/>
        </p:nvSpPr>
        <p:spPr>
          <a:xfrm>
            <a:off x="1395000" y="6892920"/>
            <a:ext cx="20826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Aluno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59"/>
          <p:cNvSpPr/>
          <p:nvPr/>
        </p:nvSpPr>
        <p:spPr>
          <a:xfrm>
            <a:off x="1003320" y="2716560"/>
            <a:ext cx="925596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00"/>
              </a:lnSpc>
            </a:pPr>
            <a:r>
              <a:rPr b="1" lang="pt-BR" sz="3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CAIO DE EXEMPLO ROCHA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CPF: </a:t>
            </a: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000.000.000-00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60"/>
          <p:cNvSpPr/>
          <p:nvPr/>
        </p:nvSpPr>
        <p:spPr>
          <a:xfrm>
            <a:off x="1788480" y="1048680"/>
            <a:ext cx="711432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99" strike="noStrike" u="none">
                <a:solidFill>
                  <a:srgbClr val="ffffff"/>
                </a:solidFill>
                <a:effectLst/>
                <a:uFillTx/>
                <a:latin typeface="Avenir LT Std 65 Medium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61"/>
          <p:cNvSpPr/>
          <p:nvPr/>
        </p:nvSpPr>
        <p:spPr>
          <a:xfrm>
            <a:off x="1079640" y="3577680"/>
            <a:ext cx="8535240" cy="20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articipou e concluiu o Treinamento sobre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CIPA - Comissão Interna de Prevenção de Acidentes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(teórico e prático), realizado em 16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 17 de Janeiro  de 2026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 duração de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dezesseis)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horas,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pela empresa VOLGA ENGENHARIA INDUSTRIA E COMERCIO LTDA,  na Av. Elmar Arantes Cabral, SN, Quadra 001, Lote 5, Parque Industrial Vice-Presidente José Alencar, Aparecida de Goiânia-GO inscrita no CNPJ: 03.347.463/0001 -12. em conformidade com a norma regulamentadora Nº 05, item 5.7.4 letra C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62"/>
          <p:cNvSpPr/>
          <p:nvPr/>
        </p:nvSpPr>
        <p:spPr>
          <a:xfrm>
            <a:off x="1079280" y="210204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7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CERTIFICAMOS QUE O ALUNO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63"/>
          <p:cNvSpPr/>
          <p:nvPr/>
        </p:nvSpPr>
        <p:spPr>
          <a:xfrm>
            <a:off x="514080" y="6418800"/>
            <a:ext cx="41086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Caio De Exemplo Rocha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2" name="Conector reto 15"/>
          <p:cNvCxnSpPr/>
          <p:nvPr/>
        </p:nvCxnSpPr>
        <p:spPr>
          <a:xfrm>
            <a:off x="100296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cxnSp>
        <p:nvCxnSpPr>
          <p:cNvPr id="203" name="Conector reto 16"/>
          <p:cNvCxnSpPr/>
          <p:nvPr/>
        </p:nvCxnSpPr>
        <p:spPr>
          <a:xfrm>
            <a:off x="577224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Box 195"/>
          <p:cNvSpPr/>
          <p:nvPr/>
        </p:nvSpPr>
        <p:spPr>
          <a:xfrm>
            <a:off x="317520" y="1035000"/>
            <a:ext cx="9919440" cy="54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a)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Estudo do ambiente, das condições de trabalho, bem como dos riscos originados do processo produtivo;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b)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acidentes e doenças relacionadas ao trabalho decorrentes das condições de trabalho e da exposição aos riscos existentes no estabelecimento e suas medidas de prevenção;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c)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Metodologia de investigação e análise de acidentes e doenças relacionadas ao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d)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princípios gerais de higiene do trabalho e de medidas de prevenção dos riscos;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as legislações trabalhista e previdenciária relativas à segurança e saúde no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f)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Noções sobre a inclusão de pessoas com deficiência e reabilitados nos processos de trabalho; 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g)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Organização da CIPA e outros assuntos necessários ao exercício das atribuições da Comissão.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h)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prevenção e combate ao assédio sexual e a outras formas de violência no trabalho.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196"/>
          <p:cNvSpPr/>
          <p:nvPr/>
        </p:nvSpPr>
        <p:spPr>
          <a:xfrm>
            <a:off x="1079640" y="42516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CONTEÚDO PR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O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G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RA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roup 16"/>
          <p:cNvGrpSpPr/>
          <p:nvPr/>
        </p:nvGrpSpPr>
        <p:grpSpPr>
          <a:xfrm>
            <a:off x="2625480" y="936360"/>
            <a:ext cx="8071200" cy="951840"/>
            <a:chOff x="2625480" y="936360"/>
            <a:chExt cx="8071200" cy="951840"/>
          </a:xfrm>
        </p:grpSpPr>
        <p:sp>
          <p:nvSpPr>
            <p:cNvPr id="207" name="Freeform 25"/>
            <p:cNvSpPr/>
            <p:nvPr/>
          </p:nvSpPr>
          <p:spPr>
            <a:xfrm>
              <a:off x="2625480" y="936360"/>
              <a:ext cx="8071200" cy="951840"/>
            </a:xfrm>
            <a:custGeom>
              <a:avLst/>
              <a:gdLst>
                <a:gd name="textAreaLeft" fmla="*/ 0 w 8071200"/>
                <a:gd name="textAreaRight" fmla="*/ 8072280 w 8071200"/>
                <a:gd name="textAreaTop" fmla="*/ 0 h 951840"/>
                <a:gd name="textAreaBottom" fmla="*/ 952920 h 9518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208" name="AutoShape 9"/>
          <p:cNvSpPr/>
          <p:nvPr/>
        </p:nvSpPr>
        <p:spPr>
          <a:xfrm>
            <a:off x="1947960" y="3092400"/>
            <a:ext cx="640836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1" lang="pt-BR" sz="1800" strike="noStrike" u="none">
              <a:solidFill>
                <a:schemeClr val="dk1"/>
              </a:solidFill>
              <a:effectLst/>
              <a:uFillTx/>
              <a:latin typeface="Avenir LT Std 55 Roman"/>
            </a:endParaRPr>
          </a:p>
        </p:txBody>
      </p:sp>
      <p:grpSp>
        <p:nvGrpSpPr>
          <p:cNvPr id="209" name="Group 17"/>
          <p:cNvGrpSpPr/>
          <p:nvPr/>
        </p:nvGrpSpPr>
        <p:grpSpPr>
          <a:xfrm>
            <a:off x="0" y="393840"/>
            <a:ext cx="8902440" cy="1627200"/>
            <a:chOff x="0" y="393840"/>
            <a:chExt cx="8902440" cy="1627200"/>
          </a:xfrm>
        </p:grpSpPr>
        <p:sp>
          <p:nvSpPr>
            <p:cNvPr id="210" name="Freeform 26"/>
            <p:cNvSpPr/>
            <p:nvPr/>
          </p:nvSpPr>
          <p:spPr>
            <a:xfrm>
              <a:off x="0" y="393840"/>
              <a:ext cx="268920" cy="268920"/>
            </a:xfrm>
            <a:custGeom>
              <a:avLst/>
              <a:gdLst>
                <a:gd name="textAreaLeft" fmla="*/ 0 w 268920"/>
                <a:gd name="textAreaRight" fmla="*/ 270000 w 268920"/>
                <a:gd name="textAreaTop" fmla="*/ 0 h 268920"/>
                <a:gd name="textAreaBottom" fmla="*/ 270000 h 2689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  <p:sp>
          <p:nvSpPr>
            <p:cNvPr id="211" name="Freeform 27"/>
            <p:cNvSpPr/>
            <p:nvPr/>
          </p:nvSpPr>
          <p:spPr>
            <a:xfrm>
              <a:off x="0" y="663480"/>
              <a:ext cx="8902440" cy="1357560"/>
            </a:xfrm>
            <a:custGeom>
              <a:avLst/>
              <a:gdLst>
                <a:gd name="textAreaLeft" fmla="*/ 0 w 8902440"/>
                <a:gd name="textAreaRight" fmla="*/ 8903520 w 8902440"/>
                <a:gd name="textAreaTop" fmla="*/ 0 h 1357560"/>
                <a:gd name="textAreaBottom" fmla="*/ 1358640 h 13575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212" name="TextBox 64"/>
          <p:cNvSpPr/>
          <p:nvPr/>
        </p:nvSpPr>
        <p:spPr>
          <a:xfrm>
            <a:off x="5740560" y="6418800"/>
            <a:ext cx="32792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Lidian Katlheen R. Oliveira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65"/>
          <p:cNvSpPr/>
          <p:nvPr/>
        </p:nvSpPr>
        <p:spPr>
          <a:xfrm>
            <a:off x="5740560" y="6673680"/>
            <a:ext cx="340560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Instrutor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Reg: 0023880/GO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66"/>
          <p:cNvSpPr/>
          <p:nvPr/>
        </p:nvSpPr>
        <p:spPr>
          <a:xfrm>
            <a:off x="1395000" y="6892920"/>
            <a:ext cx="20826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Aluno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67"/>
          <p:cNvSpPr/>
          <p:nvPr/>
        </p:nvSpPr>
        <p:spPr>
          <a:xfrm>
            <a:off x="1003320" y="2716560"/>
            <a:ext cx="925596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00"/>
              </a:lnSpc>
            </a:pPr>
            <a:r>
              <a:rPr b="1" lang="pt-BR" sz="3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OTAVIO EXEMPLO BRITO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CPF: </a:t>
            </a: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000.000.000-00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68"/>
          <p:cNvSpPr/>
          <p:nvPr/>
        </p:nvSpPr>
        <p:spPr>
          <a:xfrm>
            <a:off x="1788480" y="1048680"/>
            <a:ext cx="711432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99" strike="noStrike" u="none">
                <a:solidFill>
                  <a:srgbClr val="ffffff"/>
                </a:solidFill>
                <a:effectLst/>
                <a:uFillTx/>
                <a:latin typeface="Avenir LT Std 65 Medium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69"/>
          <p:cNvSpPr/>
          <p:nvPr/>
        </p:nvSpPr>
        <p:spPr>
          <a:xfrm>
            <a:off x="1079640" y="3577680"/>
            <a:ext cx="8535240" cy="20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articipou e concluiu o Treinamento sobre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CIPA - Comissão Interna de Prevenção de Acidentes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(teórico e prático), realizado em 16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 17 de Janeiro  de 2026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 duração de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dezesseis)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horas,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pela empresa VOLGA ENGENHARIA INDUSTRIA E COMERCIO LTDA,  na Av. Elmar Arantes Cabral, SN, Quadra 001, Lote 5, Parque Industrial Vice-Presidente José Alencar, Aparecida de Goiânia-GO inscrita no CNPJ: 03.347.463/0001 -12. em conformidade com a norma regulamentadora Nº 05, item 5.7.4 letra C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70"/>
          <p:cNvSpPr/>
          <p:nvPr/>
        </p:nvSpPr>
        <p:spPr>
          <a:xfrm>
            <a:off x="1079280" y="210204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7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CERTIFICAMOS QUE O ALUNO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71"/>
          <p:cNvSpPr/>
          <p:nvPr/>
        </p:nvSpPr>
        <p:spPr>
          <a:xfrm>
            <a:off x="514080" y="6418800"/>
            <a:ext cx="41086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Otavio </a:t>
            </a: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Exemplo</a:t>
            </a:r>
            <a:r>
              <a:rPr b="1" lang="pt-BR" sz="14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Brito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0" name="Conector reto 17"/>
          <p:cNvCxnSpPr/>
          <p:nvPr/>
        </p:nvCxnSpPr>
        <p:spPr>
          <a:xfrm>
            <a:off x="100296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cxnSp>
        <p:nvCxnSpPr>
          <p:cNvPr id="221" name="Conector reto 18"/>
          <p:cNvCxnSpPr/>
          <p:nvPr/>
        </p:nvCxnSpPr>
        <p:spPr>
          <a:xfrm>
            <a:off x="577224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extBox 197"/>
          <p:cNvSpPr/>
          <p:nvPr/>
        </p:nvSpPr>
        <p:spPr>
          <a:xfrm>
            <a:off x="317520" y="1035000"/>
            <a:ext cx="9919440" cy="54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a)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Estudo do ambiente, das condições de trabalho, bem como dos riscos originados do processo produtivo;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b)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acidentes e doenças relacionadas ao trabalho decorrentes das condições de trabalho e da exposição aos riscos existentes no estabelecimento e suas medidas de prevenção;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c)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Metodologia de investigação e análise de acidentes e doenças relacionadas ao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d)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princípios gerais de higiene do trabalho e de medidas de prevenção dos riscos;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as legislações trabalhista e previdenciária relativas à segurança e saúde no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f)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Noções sobre a inclusão de pessoas com deficiência e reabilitados nos processos de trabalho; 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g)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Organização da CIPA e outros assuntos necessários ao exercício das atribuições da Comissão.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h)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prevenção e combate ao assédio sexual e a outras formas de violência no trabalho.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198"/>
          <p:cNvSpPr/>
          <p:nvPr/>
        </p:nvSpPr>
        <p:spPr>
          <a:xfrm>
            <a:off x="1079640" y="42516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CONTEÚDO PR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O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G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RA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Group 18"/>
          <p:cNvGrpSpPr/>
          <p:nvPr/>
        </p:nvGrpSpPr>
        <p:grpSpPr>
          <a:xfrm>
            <a:off x="2625480" y="936360"/>
            <a:ext cx="8071200" cy="951840"/>
            <a:chOff x="2625480" y="936360"/>
            <a:chExt cx="8071200" cy="951840"/>
          </a:xfrm>
        </p:grpSpPr>
        <p:sp>
          <p:nvSpPr>
            <p:cNvPr id="225" name="Freeform 28"/>
            <p:cNvSpPr/>
            <p:nvPr/>
          </p:nvSpPr>
          <p:spPr>
            <a:xfrm>
              <a:off x="2625480" y="936360"/>
              <a:ext cx="8071200" cy="951840"/>
            </a:xfrm>
            <a:custGeom>
              <a:avLst/>
              <a:gdLst>
                <a:gd name="textAreaLeft" fmla="*/ 0 w 8071200"/>
                <a:gd name="textAreaRight" fmla="*/ 8072280 w 8071200"/>
                <a:gd name="textAreaTop" fmla="*/ 0 h 951840"/>
                <a:gd name="textAreaBottom" fmla="*/ 952920 h 9518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226" name="AutoShape 10"/>
          <p:cNvSpPr/>
          <p:nvPr/>
        </p:nvSpPr>
        <p:spPr>
          <a:xfrm>
            <a:off x="1947960" y="3092400"/>
            <a:ext cx="640836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1" lang="pt-BR" sz="1800" strike="noStrike" u="none">
              <a:solidFill>
                <a:schemeClr val="dk1"/>
              </a:solidFill>
              <a:effectLst/>
              <a:uFillTx/>
              <a:latin typeface="Avenir LT Std 55 Roman"/>
            </a:endParaRPr>
          </a:p>
        </p:txBody>
      </p:sp>
      <p:grpSp>
        <p:nvGrpSpPr>
          <p:cNvPr id="227" name="Group 19"/>
          <p:cNvGrpSpPr/>
          <p:nvPr/>
        </p:nvGrpSpPr>
        <p:grpSpPr>
          <a:xfrm>
            <a:off x="0" y="393840"/>
            <a:ext cx="8902440" cy="1627200"/>
            <a:chOff x="0" y="393840"/>
            <a:chExt cx="8902440" cy="1627200"/>
          </a:xfrm>
        </p:grpSpPr>
        <p:sp>
          <p:nvSpPr>
            <p:cNvPr id="228" name="Freeform 29"/>
            <p:cNvSpPr/>
            <p:nvPr/>
          </p:nvSpPr>
          <p:spPr>
            <a:xfrm>
              <a:off x="0" y="393840"/>
              <a:ext cx="268920" cy="268920"/>
            </a:xfrm>
            <a:custGeom>
              <a:avLst/>
              <a:gdLst>
                <a:gd name="textAreaLeft" fmla="*/ 0 w 268920"/>
                <a:gd name="textAreaRight" fmla="*/ 270000 w 268920"/>
                <a:gd name="textAreaTop" fmla="*/ 0 h 268920"/>
                <a:gd name="textAreaBottom" fmla="*/ 270000 h 2689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  <p:sp>
          <p:nvSpPr>
            <p:cNvPr id="229" name="Freeform 30"/>
            <p:cNvSpPr/>
            <p:nvPr/>
          </p:nvSpPr>
          <p:spPr>
            <a:xfrm>
              <a:off x="0" y="663480"/>
              <a:ext cx="8902440" cy="1357560"/>
            </a:xfrm>
            <a:custGeom>
              <a:avLst/>
              <a:gdLst>
                <a:gd name="textAreaLeft" fmla="*/ 0 w 8902440"/>
                <a:gd name="textAreaRight" fmla="*/ 8903520 w 8902440"/>
                <a:gd name="textAreaTop" fmla="*/ 0 h 1357560"/>
                <a:gd name="textAreaBottom" fmla="*/ 1358640 h 13575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230" name="TextBox 72"/>
          <p:cNvSpPr/>
          <p:nvPr/>
        </p:nvSpPr>
        <p:spPr>
          <a:xfrm>
            <a:off x="5740560" y="6418800"/>
            <a:ext cx="32792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Lidian Katlheen R. Oliveira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73"/>
          <p:cNvSpPr/>
          <p:nvPr/>
        </p:nvSpPr>
        <p:spPr>
          <a:xfrm>
            <a:off x="5740560" y="6673680"/>
            <a:ext cx="340560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Instrutor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Reg: 0023880/GO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74"/>
          <p:cNvSpPr/>
          <p:nvPr/>
        </p:nvSpPr>
        <p:spPr>
          <a:xfrm>
            <a:off x="1395000" y="6892920"/>
            <a:ext cx="20826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Aluno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75"/>
          <p:cNvSpPr/>
          <p:nvPr/>
        </p:nvSpPr>
        <p:spPr>
          <a:xfrm>
            <a:off x="1003320" y="2716560"/>
            <a:ext cx="925596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00"/>
              </a:lnSpc>
            </a:pPr>
            <a:r>
              <a:rPr b="1" lang="pt-BR" sz="3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DIEGO E. CAMPOS DA MELO</a:t>
            </a: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 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CPF: </a:t>
            </a: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000.000.000-00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76"/>
          <p:cNvSpPr/>
          <p:nvPr/>
        </p:nvSpPr>
        <p:spPr>
          <a:xfrm>
            <a:off x="1788480" y="1048680"/>
            <a:ext cx="711432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99" strike="noStrike" u="none">
                <a:solidFill>
                  <a:srgbClr val="ffffff"/>
                </a:solidFill>
                <a:effectLst/>
                <a:uFillTx/>
                <a:latin typeface="Avenir LT Std 65 Medium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77"/>
          <p:cNvSpPr/>
          <p:nvPr/>
        </p:nvSpPr>
        <p:spPr>
          <a:xfrm>
            <a:off x="1079640" y="3577680"/>
            <a:ext cx="8535240" cy="20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articipou e concluiu o Treinamento sobre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CIPA - Comissão Interna de Prevenção de Acidentes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(teórico e prático), realizado em 16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 17 de Janeiro  de 2026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 duração de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dezesseis)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horas,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pela empresa VOLGA ENGENHARIA INDUSTRIA E COMERCIO LTDA,  na Av. Elmar Arantes Cabral, SN, Quadra 001, Lote 5, Parque Industrial Vice-Presidente José Alencar, Aparecida de Goiânia-GO inscrita no CNPJ: 03.347.463/0001 -12. em conformidade com a norma regulamentadora Nº 05, item 5.7.4 letra C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78"/>
          <p:cNvSpPr/>
          <p:nvPr/>
        </p:nvSpPr>
        <p:spPr>
          <a:xfrm>
            <a:off x="1079280" y="210204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7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CERTIFICAMOS QUE O ALUNO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79"/>
          <p:cNvSpPr/>
          <p:nvPr/>
        </p:nvSpPr>
        <p:spPr>
          <a:xfrm>
            <a:off x="972000" y="6418800"/>
            <a:ext cx="31924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Diego E. Campos Da Melo</a:t>
            </a:r>
            <a:endParaRPr b="1" lang="pt-BR" sz="1400" spc="187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238" name="Conector reto 19"/>
          <p:cNvCxnSpPr/>
          <p:nvPr/>
        </p:nvCxnSpPr>
        <p:spPr>
          <a:xfrm>
            <a:off x="100296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cxnSp>
        <p:nvCxnSpPr>
          <p:cNvPr id="239" name="Conector reto 20"/>
          <p:cNvCxnSpPr/>
          <p:nvPr/>
        </p:nvCxnSpPr>
        <p:spPr>
          <a:xfrm>
            <a:off x="577224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Box 199"/>
          <p:cNvSpPr/>
          <p:nvPr/>
        </p:nvSpPr>
        <p:spPr>
          <a:xfrm>
            <a:off x="317520" y="1035000"/>
            <a:ext cx="9919440" cy="54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a)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Estudo do ambiente, das condições de trabalho, bem como dos riscos originados do processo produtivo;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b)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acidentes e doenças relacionadas ao trabalho decorrentes das condições de trabalho e da exposição aos riscos existentes no estabelecimento e suas medidas de prevenção;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c)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Metodologia de investigação e análise de acidentes e doenças relacionadas ao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d)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princípios gerais de higiene do trabalho e de medidas de prevenção dos riscos;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as legislações trabalhista e previdenciária relativas à segurança e saúde no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f)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Noções sobre a inclusão de pessoas com deficiência e reabilitados nos processos de trabalho; 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g)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Organização da CIPA e outros assuntos necessários ao exercício das atribuições da Comissão.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h)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prevenção e combate ao assédio sexual e a outras formas de violência no trabalho.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200"/>
          <p:cNvSpPr/>
          <p:nvPr/>
        </p:nvSpPr>
        <p:spPr>
          <a:xfrm>
            <a:off x="1079640" y="42516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CONTEÚDO PR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O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G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RA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roup 20"/>
          <p:cNvGrpSpPr/>
          <p:nvPr/>
        </p:nvGrpSpPr>
        <p:grpSpPr>
          <a:xfrm>
            <a:off x="2625480" y="936360"/>
            <a:ext cx="8071200" cy="951840"/>
            <a:chOff x="2625480" y="936360"/>
            <a:chExt cx="8071200" cy="951840"/>
          </a:xfrm>
        </p:grpSpPr>
        <p:sp>
          <p:nvSpPr>
            <p:cNvPr id="243" name="Freeform 31"/>
            <p:cNvSpPr/>
            <p:nvPr/>
          </p:nvSpPr>
          <p:spPr>
            <a:xfrm>
              <a:off x="2625480" y="936360"/>
              <a:ext cx="8071200" cy="951840"/>
            </a:xfrm>
            <a:custGeom>
              <a:avLst/>
              <a:gdLst>
                <a:gd name="textAreaLeft" fmla="*/ 0 w 8071200"/>
                <a:gd name="textAreaRight" fmla="*/ 8072280 w 8071200"/>
                <a:gd name="textAreaTop" fmla="*/ 0 h 951840"/>
                <a:gd name="textAreaBottom" fmla="*/ 952920 h 9518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244" name="AutoShape 11"/>
          <p:cNvSpPr/>
          <p:nvPr/>
        </p:nvSpPr>
        <p:spPr>
          <a:xfrm>
            <a:off x="1947960" y="3092400"/>
            <a:ext cx="640836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1" lang="pt-BR" sz="1800" strike="noStrike" u="none">
              <a:solidFill>
                <a:schemeClr val="dk1"/>
              </a:solidFill>
              <a:effectLst/>
              <a:uFillTx/>
              <a:latin typeface="Avenir LT Std 55 Roman"/>
            </a:endParaRPr>
          </a:p>
        </p:txBody>
      </p:sp>
      <p:grpSp>
        <p:nvGrpSpPr>
          <p:cNvPr id="245" name="Group 21"/>
          <p:cNvGrpSpPr/>
          <p:nvPr/>
        </p:nvGrpSpPr>
        <p:grpSpPr>
          <a:xfrm>
            <a:off x="0" y="393840"/>
            <a:ext cx="8902440" cy="1627200"/>
            <a:chOff x="0" y="393840"/>
            <a:chExt cx="8902440" cy="1627200"/>
          </a:xfrm>
        </p:grpSpPr>
        <p:sp>
          <p:nvSpPr>
            <p:cNvPr id="246" name="Freeform 32"/>
            <p:cNvSpPr/>
            <p:nvPr/>
          </p:nvSpPr>
          <p:spPr>
            <a:xfrm>
              <a:off x="0" y="393840"/>
              <a:ext cx="268920" cy="268920"/>
            </a:xfrm>
            <a:custGeom>
              <a:avLst/>
              <a:gdLst>
                <a:gd name="textAreaLeft" fmla="*/ 0 w 268920"/>
                <a:gd name="textAreaRight" fmla="*/ 270000 w 268920"/>
                <a:gd name="textAreaTop" fmla="*/ 0 h 268920"/>
                <a:gd name="textAreaBottom" fmla="*/ 270000 h 2689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  <p:sp>
          <p:nvSpPr>
            <p:cNvPr id="247" name="Freeform 33"/>
            <p:cNvSpPr/>
            <p:nvPr/>
          </p:nvSpPr>
          <p:spPr>
            <a:xfrm>
              <a:off x="0" y="663480"/>
              <a:ext cx="8902440" cy="1357560"/>
            </a:xfrm>
            <a:custGeom>
              <a:avLst/>
              <a:gdLst>
                <a:gd name="textAreaLeft" fmla="*/ 0 w 8902440"/>
                <a:gd name="textAreaRight" fmla="*/ 8903520 w 8902440"/>
                <a:gd name="textAreaTop" fmla="*/ 0 h 1357560"/>
                <a:gd name="textAreaBottom" fmla="*/ 1358640 h 13575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248" name="TextBox 80"/>
          <p:cNvSpPr/>
          <p:nvPr/>
        </p:nvSpPr>
        <p:spPr>
          <a:xfrm>
            <a:off x="5740560" y="6418800"/>
            <a:ext cx="32792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Lidian Katlheen R. Oliveira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81"/>
          <p:cNvSpPr/>
          <p:nvPr/>
        </p:nvSpPr>
        <p:spPr>
          <a:xfrm>
            <a:off x="5740560" y="6673680"/>
            <a:ext cx="340560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Instrutor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Reg: 0023880/GO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82"/>
          <p:cNvSpPr/>
          <p:nvPr/>
        </p:nvSpPr>
        <p:spPr>
          <a:xfrm>
            <a:off x="1395000" y="6892920"/>
            <a:ext cx="20826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Aluno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83"/>
          <p:cNvSpPr/>
          <p:nvPr/>
        </p:nvSpPr>
        <p:spPr>
          <a:xfrm>
            <a:off x="1003320" y="2716560"/>
            <a:ext cx="925596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00"/>
              </a:lnSpc>
            </a:pPr>
            <a:r>
              <a:rPr b="1" lang="pt-BR" sz="3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LIVIA DOS EXEMPLO PINTO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CPF: </a:t>
            </a: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000.000.000-00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84"/>
          <p:cNvSpPr/>
          <p:nvPr/>
        </p:nvSpPr>
        <p:spPr>
          <a:xfrm>
            <a:off x="1788480" y="1048680"/>
            <a:ext cx="711432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99" strike="noStrike" u="none">
                <a:solidFill>
                  <a:srgbClr val="ffffff"/>
                </a:solidFill>
                <a:effectLst/>
                <a:uFillTx/>
                <a:latin typeface="Avenir LT Std 65 Medium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85"/>
          <p:cNvSpPr/>
          <p:nvPr/>
        </p:nvSpPr>
        <p:spPr>
          <a:xfrm>
            <a:off x="1079640" y="3577680"/>
            <a:ext cx="8535240" cy="20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articipou e concluiu o Treinamento sobre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CIPA - Comissão Interna de Prevenção de Acidentes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(teórico e prático), realizado em 16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 17 de Janeiro  de 2026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 duração de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dezesseis)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horas,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pela empresa VOLGA ENGENHARIA INDUSTRIA E COMERCIO LTDA,  na Av. Elmar Arantes Cabral, SN, Quadra 001, Lote 5, Parque Industrial Vice-Presidente José Alencar, Aparecida de Goiânia-GO inscrita no CNPJ: 03.347.463/0001 -12. em conformidade com a norma regulamentadora Nº 05, item 5.7.4 letra C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86"/>
          <p:cNvSpPr/>
          <p:nvPr/>
        </p:nvSpPr>
        <p:spPr>
          <a:xfrm>
            <a:off x="1079280" y="210204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7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CERTIFICAMOS QUE O ALUNO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87"/>
          <p:cNvSpPr/>
          <p:nvPr/>
        </p:nvSpPr>
        <p:spPr>
          <a:xfrm>
            <a:off x="1140480" y="6418800"/>
            <a:ext cx="28558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Livia Dos Exemplo Pinto</a:t>
            </a:r>
            <a:endParaRPr b="1" lang="pt-BR" sz="1400" spc="187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256" name="Conector reto 21"/>
          <p:cNvCxnSpPr/>
          <p:nvPr/>
        </p:nvCxnSpPr>
        <p:spPr>
          <a:xfrm>
            <a:off x="100296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cxnSp>
        <p:nvCxnSpPr>
          <p:cNvPr id="257" name="Conector reto 22"/>
          <p:cNvCxnSpPr/>
          <p:nvPr/>
        </p:nvCxnSpPr>
        <p:spPr>
          <a:xfrm>
            <a:off x="577224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Box 201"/>
          <p:cNvSpPr/>
          <p:nvPr/>
        </p:nvSpPr>
        <p:spPr>
          <a:xfrm>
            <a:off x="317520" y="1035000"/>
            <a:ext cx="9919440" cy="54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a)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Estudo do ambiente, das condições de trabalho, bem como dos riscos originados do processo produtivo;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b)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acidentes e doenças relacionadas ao trabalho decorrentes das condições de trabalho e da exposição aos riscos existentes no estabelecimento e suas medidas de prevenção;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c)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Metodologia de investigação e análise de acidentes e doenças relacionadas ao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d)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princípios gerais de higiene do trabalho e de medidas de prevenção dos riscos;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as legislações trabalhista e previdenciária relativas à segurança e saúde no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f)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Noções sobre a inclusão de pessoas com deficiência e reabilitados nos processos de trabalho; 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g)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Organização da CIPA e outros assuntos necessários ao exercício das atribuições da Comissão.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h)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prevenção e combate ao assédio sexual e a outras formas de violência no trabalho.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202"/>
          <p:cNvSpPr/>
          <p:nvPr/>
        </p:nvSpPr>
        <p:spPr>
          <a:xfrm>
            <a:off x="1079640" y="42516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CONTEÚDO PR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O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G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RA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roup 22"/>
          <p:cNvGrpSpPr/>
          <p:nvPr/>
        </p:nvGrpSpPr>
        <p:grpSpPr>
          <a:xfrm>
            <a:off x="2625480" y="936360"/>
            <a:ext cx="8071200" cy="951840"/>
            <a:chOff x="2625480" y="936360"/>
            <a:chExt cx="8071200" cy="951840"/>
          </a:xfrm>
        </p:grpSpPr>
        <p:sp>
          <p:nvSpPr>
            <p:cNvPr id="261" name="Freeform 34"/>
            <p:cNvSpPr/>
            <p:nvPr/>
          </p:nvSpPr>
          <p:spPr>
            <a:xfrm>
              <a:off x="2625480" y="936360"/>
              <a:ext cx="8071200" cy="951840"/>
            </a:xfrm>
            <a:custGeom>
              <a:avLst/>
              <a:gdLst>
                <a:gd name="textAreaLeft" fmla="*/ 0 w 8071200"/>
                <a:gd name="textAreaRight" fmla="*/ 8072280 w 8071200"/>
                <a:gd name="textAreaTop" fmla="*/ 0 h 951840"/>
                <a:gd name="textAreaBottom" fmla="*/ 952920 h 9518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262" name="AutoShape 12"/>
          <p:cNvSpPr/>
          <p:nvPr/>
        </p:nvSpPr>
        <p:spPr>
          <a:xfrm>
            <a:off x="1947960" y="3092400"/>
            <a:ext cx="640836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1" lang="pt-BR" sz="1800" strike="noStrike" u="none">
              <a:solidFill>
                <a:schemeClr val="dk1"/>
              </a:solidFill>
              <a:effectLst/>
              <a:uFillTx/>
              <a:latin typeface="Avenir LT Std 55 Roman"/>
            </a:endParaRPr>
          </a:p>
        </p:txBody>
      </p:sp>
      <p:grpSp>
        <p:nvGrpSpPr>
          <p:cNvPr id="263" name="Group 23"/>
          <p:cNvGrpSpPr/>
          <p:nvPr/>
        </p:nvGrpSpPr>
        <p:grpSpPr>
          <a:xfrm>
            <a:off x="0" y="393840"/>
            <a:ext cx="8902440" cy="1627200"/>
            <a:chOff x="0" y="393840"/>
            <a:chExt cx="8902440" cy="1627200"/>
          </a:xfrm>
        </p:grpSpPr>
        <p:sp>
          <p:nvSpPr>
            <p:cNvPr id="264" name="Freeform 35"/>
            <p:cNvSpPr/>
            <p:nvPr/>
          </p:nvSpPr>
          <p:spPr>
            <a:xfrm>
              <a:off x="0" y="393840"/>
              <a:ext cx="268920" cy="268920"/>
            </a:xfrm>
            <a:custGeom>
              <a:avLst/>
              <a:gdLst>
                <a:gd name="textAreaLeft" fmla="*/ 0 w 268920"/>
                <a:gd name="textAreaRight" fmla="*/ 270000 w 268920"/>
                <a:gd name="textAreaTop" fmla="*/ 0 h 268920"/>
                <a:gd name="textAreaBottom" fmla="*/ 270000 h 2689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  <p:sp>
          <p:nvSpPr>
            <p:cNvPr id="265" name="Freeform 36"/>
            <p:cNvSpPr/>
            <p:nvPr/>
          </p:nvSpPr>
          <p:spPr>
            <a:xfrm>
              <a:off x="0" y="663480"/>
              <a:ext cx="8902440" cy="1357560"/>
            </a:xfrm>
            <a:custGeom>
              <a:avLst/>
              <a:gdLst>
                <a:gd name="textAreaLeft" fmla="*/ 0 w 8902440"/>
                <a:gd name="textAreaRight" fmla="*/ 8903520 w 8902440"/>
                <a:gd name="textAreaTop" fmla="*/ 0 h 1357560"/>
                <a:gd name="textAreaBottom" fmla="*/ 1358640 h 13575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266" name="TextBox 88"/>
          <p:cNvSpPr/>
          <p:nvPr/>
        </p:nvSpPr>
        <p:spPr>
          <a:xfrm>
            <a:off x="5740560" y="6418800"/>
            <a:ext cx="32792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Lidian Katlheen R. Oliveira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89"/>
          <p:cNvSpPr/>
          <p:nvPr/>
        </p:nvSpPr>
        <p:spPr>
          <a:xfrm>
            <a:off x="5740560" y="6673680"/>
            <a:ext cx="340560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Instrutor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Reg: 0023880/GO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90"/>
          <p:cNvSpPr/>
          <p:nvPr/>
        </p:nvSpPr>
        <p:spPr>
          <a:xfrm>
            <a:off x="1395000" y="6892920"/>
            <a:ext cx="20826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Aluno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91"/>
          <p:cNvSpPr/>
          <p:nvPr/>
        </p:nvSpPr>
        <p:spPr>
          <a:xfrm>
            <a:off x="1003320" y="2716560"/>
            <a:ext cx="925596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00"/>
              </a:lnSpc>
            </a:pPr>
            <a:r>
              <a:rPr b="1" lang="pt-BR" sz="3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FABIO EXEMPLO DA FARIAS BARROS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CPF: </a:t>
            </a: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000.000.000-00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92"/>
          <p:cNvSpPr/>
          <p:nvPr/>
        </p:nvSpPr>
        <p:spPr>
          <a:xfrm>
            <a:off x="1788480" y="1048680"/>
            <a:ext cx="711432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99" strike="noStrike" u="none">
                <a:solidFill>
                  <a:srgbClr val="ffffff"/>
                </a:solidFill>
                <a:effectLst/>
                <a:uFillTx/>
                <a:latin typeface="Avenir LT Std 65 Medium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93"/>
          <p:cNvSpPr/>
          <p:nvPr/>
        </p:nvSpPr>
        <p:spPr>
          <a:xfrm>
            <a:off x="1079640" y="3577680"/>
            <a:ext cx="8535240" cy="20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articipou e concluiu o Treinamento sobre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CIPA - Comissão Interna de Prevenção de Acidentes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(teórico e prático), realizado em 16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 17 de Janeiro  de 2026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 duração de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dezesseis)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horas,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pela empresa VOLGA ENGENHARIA INDUSTRIA E COMERCIO LTDA,  na Av. Elmar Arantes Cabral, SN, Quadra 001, Lote 5, Parque Industrial Vice-Presidente José Alencar, Aparecida de Goiânia-GO inscrita no CNPJ: 03.347.463/0001 -12. em conformidade com a norma regulamentadora Nº 05, item 5.7.4 letra C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94"/>
          <p:cNvSpPr/>
          <p:nvPr/>
        </p:nvSpPr>
        <p:spPr>
          <a:xfrm>
            <a:off x="1079280" y="210204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7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CERTIFICAMOS QUE O ALUNO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95"/>
          <p:cNvSpPr/>
          <p:nvPr/>
        </p:nvSpPr>
        <p:spPr>
          <a:xfrm>
            <a:off x="720000" y="6300000"/>
            <a:ext cx="41086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Fabio Exemplo Da </a:t>
            </a: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Farias</a:t>
            </a:r>
            <a:r>
              <a:rPr b="1" lang="pt-BR" sz="14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Barros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4" name="Conector reto 23"/>
          <p:cNvCxnSpPr/>
          <p:nvPr/>
        </p:nvCxnSpPr>
        <p:spPr>
          <a:xfrm>
            <a:off x="100296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cxnSp>
        <p:nvCxnSpPr>
          <p:cNvPr id="275" name="Conector reto 24"/>
          <p:cNvCxnSpPr/>
          <p:nvPr/>
        </p:nvCxnSpPr>
        <p:spPr>
          <a:xfrm>
            <a:off x="577224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Box 203"/>
          <p:cNvSpPr/>
          <p:nvPr/>
        </p:nvSpPr>
        <p:spPr>
          <a:xfrm>
            <a:off x="317520" y="1035000"/>
            <a:ext cx="9919440" cy="54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a)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Estudo do ambiente, das condições de trabalho, bem como dos riscos originados do processo produtivo;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b)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acidentes e doenças relacionadas ao trabalho decorrentes das condições de trabalho e da exposição aos riscos existentes no estabelecimento e suas medidas de prevenção;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c)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Metodologia de investigação e análise de acidentes e doenças relacionadas ao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d)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princípios gerais de higiene do trabalho e de medidas de prevenção dos riscos;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as legislações trabalhista e previdenciária relativas à segurança e saúde no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f)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Noções sobre a inclusão de pessoas com deficiência e reabilitados nos processos de trabalho; 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g)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Organização da CIPA e outros assuntos necessários ao exercício das atribuições da Comissão.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h)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prevenção e combate ao assédio sexual e a outras formas de violência no trabalho.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204"/>
          <p:cNvSpPr/>
          <p:nvPr/>
        </p:nvSpPr>
        <p:spPr>
          <a:xfrm>
            <a:off x="1079640" y="42516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CONTEÚDO PR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O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G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RA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8" name="Group 24"/>
          <p:cNvGrpSpPr/>
          <p:nvPr/>
        </p:nvGrpSpPr>
        <p:grpSpPr>
          <a:xfrm>
            <a:off x="2625480" y="936360"/>
            <a:ext cx="8071200" cy="951840"/>
            <a:chOff x="2625480" y="936360"/>
            <a:chExt cx="8071200" cy="951840"/>
          </a:xfrm>
        </p:grpSpPr>
        <p:sp>
          <p:nvSpPr>
            <p:cNvPr id="279" name="Freeform 37"/>
            <p:cNvSpPr/>
            <p:nvPr/>
          </p:nvSpPr>
          <p:spPr>
            <a:xfrm>
              <a:off x="2625480" y="936360"/>
              <a:ext cx="8071200" cy="951840"/>
            </a:xfrm>
            <a:custGeom>
              <a:avLst/>
              <a:gdLst>
                <a:gd name="textAreaLeft" fmla="*/ 0 w 8071200"/>
                <a:gd name="textAreaRight" fmla="*/ 8072280 w 8071200"/>
                <a:gd name="textAreaTop" fmla="*/ 0 h 951840"/>
                <a:gd name="textAreaBottom" fmla="*/ 952920 h 9518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280" name="AutoShape 13"/>
          <p:cNvSpPr/>
          <p:nvPr/>
        </p:nvSpPr>
        <p:spPr>
          <a:xfrm>
            <a:off x="1947960" y="3092400"/>
            <a:ext cx="640836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1" lang="pt-BR" sz="1800" strike="noStrike" u="none">
              <a:solidFill>
                <a:schemeClr val="dk1"/>
              </a:solidFill>
              <a:effectLst/>
              <a:uFillTx/>
              <a:latin typeface="Avenir LT Std 55 Roman"/>
            </a:endParaRPr>
          </a:p>
        </p:txBody>
      </p:sp>
      <p:grpSp>
        <p:nvGrpSpPr>
          <p:cNvPr id="281" name="Group 25"/>
          <p:cNvGrpSpPr/>
          <p:nvPr/>
        </p:nvGrpSpPr>
        <p:grpSpPr>
          <a:xfrm>
            <a:off x="0" y="393840"/>
            <a:ext cx="8902440" cy="1627200"/>
            <a:chOff x="0" y="393840"/>
            <a:chExt cx="8902440" cy="1627200"/>
          </a:xfrm>
        </p:grpSpPr>
        <p:sp>
          <p:nvSpPr>
            <p:cNvPr id="282" name="Freeform 38"/>
            <p:cNvSpPr/>
            <p:nvPr/>
          </p:nvSpPr>
          <p:spPr>
            <a:xfrm>
              <a:off x="0" y="393840"/>
              <a:ext cx="268920" cy="268920"/>
            </a:xfrm>
            <a:custGeom>
              <a:avLst/>
              <a:gdLst>
                <a:gd name="textAreaLeft" fmla="*/ 0 w 268920"/>
                <a:gd name="textAreaRight" fmla="*/ 270000 w 268920"/>
                <a:gd name="textAreaTop" fmla="*/ 0 h 268920"/>
                <a:gd name="textAreaBottom" fmla="*/ 270000 h 2689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  <p:sp>
          <p:nvSpPr>
            <p:cNvPr id="283" name="Freeform 39"/>
            <p:cNvSpPr/>
            <p:nvPr/>
          </p:nvSpPr>
          <p:spPr>
            <a:xfrm>
              <a:off x="0" y="663480"/>
              <a:ext cx="8902440" cy="1357560"/>
            </a:xfrm>
            <a:custGeom>
              <a:avLst/>
              <a:gdLst>
                <a:gd name="textAreaLeft" fmla="*/ 0 w 8902440"/>
                <a:gd name="textAreaRight" fmla="*/ 8903520 w 8902440"/>
                <a:gd name="textAreaTop" fmla="*/ 0 h 1357560"/>
                <a:gd name="textAreaBottom" fmla="*/ 1358640 h 13575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284" name="TextBox 96"/>
          <p:cNvSpPr/>
          <p:nvPr/>
        </p:nvSpPr>
        <p:spPr>
          <a:xfrm>
            <a:off x="5740560" y="6418800"/>
            <a:ext cx="32792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Lidian Katlheen R. Oliveira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97"/>
          <p:cNvSpPr/>
          <p:nvPr/>
        </p:nvSpPr>
        <p:spPr>
          <a:xfrm>
            <a:off x="5740560" y="6673680"/>
            <a:ext cx="340560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Instrutor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Reg: 0023880/GO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98"/>
          <p:cNvSpPr/>
          <p:nvPr/>
        </p:nvSpPr>
        <p:spPr>
          <a:xfrm>
            <a:off x="1395000" y="6892920"/>
            <a:ext cx="20826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Aluno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99"/>
          <p:cNvSpPr/>
          <p:nvPr/>
        </p:nvSpPr>
        <p:spPr>
          <a:xfrm>
            <a:off x="1003320" y="2716560"/>
            <a:ext cx="925596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00"/>
              </a:lnSpc>
            </a:pPr>
            <a:r>
              <a:rPr b="1" lang="pt-BR" sz="3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HUGO EXEMPLO DA ALVES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CPF: </a:t>
            </a: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000.000.000-00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100"/>
          <p:cNvSpPr/>
          <p:nvPr/>
        </p:nvSpPr>
        <p:spPr>
          <a:xfrm>
            <a:off x="1788480" y="1048680"/>
            <a:ext cx="711432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99" strike="noStrike" u="none">
                <a:solidFill>
                  <a:srgbClr val="ffffff"/>
                </a:solidFill>
                <a:effectLst/>
                <a:uFillTx/>
                <a:latin typeface="Avenir LT Std 65 Medium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101"/>
          <p:cNvSpPr/>
          <p:nvPr/>
        </p:nvSpPr>
        <p:spPr>
          <a:xfrm>
            <a:off x="1079640" y="3577680"/>
            <a:ext cx="8535240" cy="20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articipou e concluiu o Treinamento sobre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CIPA - Comissão Interna de Prevenção de Acidentes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(teórico e prático), realizado em 16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 17 de Janeiro  de 2026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 duração de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dezesseis)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horas,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pela empresa VOLGA ENGENHARIA INDUSTRIA E COMERCIO LTDA,  na Av. Elmar Arantes Cabral, SN, Quadra 001, Lote 5, Parque Industrial Vice-Presidente José Alencar, Aparecida de Goiânia-GO inscrita no CNPJ: 03.347.463/0001 -12. em conformidade com a norma regulamentadora Nº 05, item 5.7.4 letra C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102"/>
          <p:cNvSpPr/>
          <p:nvPr/>
        </p:nvSpPr>
        <p:spPr>
          <a:xfrm>
            <a:off x="1079280" y="210204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7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CERTIFICAMOS QUE O ALUNO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103"/>
          <p:cNvSpPr/>
          <p:nvPr/>
        </p:nvSpPr>
        <p:spPr>
          <a:xfrm>
            <a:off x="1111320" y="6300000"/>
            <a:ext cx="41086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Hugo </a:t>
            </a: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Exemplo</a:t>
            </a:r>
            <a:r>
              <a:rPr b="1" lang="pt-BR" sz="14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Da Alves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2" name="Conector reto 25"/>
          <p:cNvCxnSpPr/>
          <p:nvPr/>
        </p:nvCxnSpPr>
        <p:spPr>
          <a:xfrm>
            <a:off x="100296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cxnSp>
        <p:nvCxnSpPr>
          <p:cNvPr id="293" name="Conector reto 26"/>
          <p:cNvCxnSpPr/>
          <p:nvPr/>
        </p:nvCxnSpPr>
        <p:spPr>
          <a:xfrm>
            <a:off x="577224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Box 205"/>
          <p:cNvSpPr/>
          <p:nvPr/>
        </p:nvSpPr>
        <p:spPr>
          <a:xfrm>
            <a:off x="317520" y="1035000"/>
            <a:ext cx="9919440" cy="54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a)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Estudo do ambiente, das condições de trabalho, bem como dos riscos originados do processo produtivo;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b)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acidentes e doenças relacionadas ao trabalho decorrentes das condições de trabalho e da exposição aos riscos existentes no estabelecimento e suas medidas de prevenção;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c)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Metodologia de investigação e análise de acidentes e doenças relacionadas ao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d)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princípios gerais de higiene do trabalho e de medidas de prevenção dos riscos;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as legislações trabalhista e previdenciária relativas à segurança e saúde no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f)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Noções sobre a inclusão de pessoas com deficiência e reabilitados nos processos de trabalho; 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g)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Organização da CIPA e outros assuntos necessários ao exercício das atribuições da Comissão.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h)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prevenção e combate ao assédio sexual e a outras formas de violência no trabalho.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206"/>
          <p:cNvSpPr/>
          <p:nvPr/>
        </p:nvSpPr>
        <p:spPr>
          <a:xfrm>
            <a:off x="1079640" y="42516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CONTEÚDO PR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O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G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RA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roup 26"/>
          <p:cNvGrpSpPr/>
          <p:nvPr/>
        </p:nvGrpSpPr>
        <p:grpSpPr>
          <a:xfrm>
            <a:off x="2625480" y="936360"/>
            <a:ext cx="8071200" cy="951840"/>
            <a:chOff x="2625480" y="936360"/>
            <a:chExt cx="8071200" cy="951840"/>
          </a:xfrm>
        </p:grpSpPr>
        <p:sp>
          <p:nvSpPr>
            <p:cNvPr id="297" name="Freeform 40"/>
            <p:cNvSpPr/>
            <p:nvPr/>
          </p:nvSpPr>
          <p:spPr>
            <a:xfrm>
              <a:off x="2625480" y="936360"/>
              <a:ext cx="8071200" cy="951840"/>
            </a:xfrm>
            <a:custGeom>
              <a:avLst/>
              <a:gdLst>
                <a:gd name="textAreaLeft" fmla="*/ 0 w 8071200"/>
                <a:gd name="textAreaRight" fmla="*/ 8072280 w 8071200"/>
                <a:gd name="textAreaTop" fmla="*/ 0 h 951840"/>
                <a:gd name="textAreaBottom" fmla="*/ 952920 h 9518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298" name="AutoShape 14"/>
          <p:cNvSpPr/>
          <p:nvPr/>
        </p:nvSpPr>
        <p:spPr>
          <a:xfrm>
            <a:off x="1947960" y="3092400"/>
            <a:ext cx="640836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1" lang="pt-BR" sz="1800" strike="noStrike" u="none">
              <a:solidFill>
                <a:schemeClr val="dk1"/>
              </a:solidFill>
              <a:effectLst/>
              <a:uFillTx/>
              <a:latin typeface="Avenir LT Std 55 Roman"/>
            </a:endParaRPr>
          </a:p>
        </p:txBody>
      </p:sp>
      <p:grpSp>
        <p:nvGrpSpPr>
          <p:cNvPr id="299" name="Group 27"/>
          <p:cNvGrpSpPr/>
          <p:nvPr/>
        </p:nvGrpSpPr>
        <p:grpSpPr>
          <a:xfrm>
            <a:off x="0" y="393840"/>
            <a:ext cx="8902440" cy="1627200"/>
            <a:chOff x="0" y="393840"/>
            <a:chExt cx="8902440" cy="1627200"/>
          </a:xfrm>
        </p:grpSpPr>
        <p:sp>
          <p:nvSpPr>
            <p:cNvPr id="300" name="Freeform 41"/>
            <p:cNvSpPr/>
            <p:nvPr/>
          </p:nvSpPr>
          <p:spPr>
            <a:xfrm>
              <a:off x="0" y="393840"/>
              <a:ext cx="268920" cy="268920"/>
            </a:xfrm>
            <a:custGeom>
              <a:avLst/>
              <a:gdLst>
                <a:gd name="textAreaLeft" fmla="*/ 0 w 268920"/>
                <a:gd name="textAreaRight" fmla="*/ 270000 w 268920"/>
                <a:gd name="textAreaTop" fmla="*/ 0 h 268920"/>
                <a:gd name="textAreaBottom" fmla="*/ 270000 h 2689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  <p:sp>
          <p:nvSpPr>
            <p:cNvPr id="301" name="Freeform 42"/>
            <p:cNvSpPr/>
            <p:nvPr/>
          </p:nvSpPr>
          <p:spPr>
            <a:xfrm>
              <a:off x="0" y="663480"/>
              <a:ext cx="8902440" cy="1357560"/>
            </a:xfrm>
            <a:custGeom>
              <a:avLst/>
              <a:gdLst>
                <a:gd name="textAreaLeft" fmla="*/ 0 w 8902440"/>
                <a:gd name="textAreaRight" fmla="*/ 8903520 w 8902440"/>
                <a:gd name="textAreaTop" fmla="*/ 0 h 1357560"/>
                <a:gd name="textAreaBottom" fmla="*/ 1358640 h 13575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302" name="TextBox 104"/>
          <p:cNvSpPr/>
          <p:nvPr/>
        </p:nvSpPr>
        <p:spPr>
          <a:xfrm>
            <a:off x="5740560" y="6418800"/>
            <a:ext cx="32792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Lidian Katlheen R. Oliveira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105"/>
          <p:cNvSpPr/>
          <p:nvPr/>
        </p:nvSpPr>
        <p:spPr>
          <a:xfrm>
            <a:off x="5740560" y="6673680"/>
            <a:ext cx="340560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Instrutor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Reg: 0023880/GO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106"/>
          <p:cNvSpPr/>
          <p:nvPr/>
        </p:nvSpPr>
        <p:spPr>
          <a:xfrm>
            <a:off x="1395000" y="6892920"/>
            <a:ext cx="20826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Aluno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107"/>
          <p:cNvSpPr/>
          <p:nvPr/>
        </p:nvSpPr>
        <p:spPr>
          <a:xfrm>
            <a:off x="1003320" y="2716560"/>
            <a:ext cx="925596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00"/>
              </a:lnSpc>
            </a:pPr>
            <a:r>
              <a:rPr b="1" lang="pt-BR" sz="3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SONIA EXEMPLO DOS BARROS CAMPOS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CPF: </a:t>
            </a: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000.000.000-00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108"/>
          <p:cNvSpPr/>
          <p:nvPr/>
        </p:nvSpPr>
        <p:spPr>
          <a:xfrm>
            <a:off x="1788480" y="1048680"/>
            <a:ext cx="711432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99" strike="noStrike" u="none">
                <a:solidFill>
                  <a:srgbClr val="ffffff"/>
                </a:solidFill>
                <a:effectLst/>
                <a:uFillTx/>
                <a:latin typeface="Avenir LT Std 65 Medium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109"/>
          <p:cNvSpPr/>
          <p:nvPr/>
        </p:nvSpPr>
        <p:spPr>
          <a:xfrm>
            <a:off x="1079640" y="3577680"/>
            <a:ext cx="8535240" cy="20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articipou e concluiu o Treinamento sobre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CIPA - Comissão Interna de Prevenção de Acidentes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(teórico e prático), realizado em 16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 17 de Janeiro  de 2026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 duração de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dezesseis)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horas,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pela empresa VOLGA ENGENHARIA INDUSTRIA E COMERCIO LTDA,  na Av. Elmar Arantes Cabral, SN, Quadra 001, Lote 5, Parque Industrial Vice-Presidente José Alencar, Aparecida de Goiânia-GO inscrita no CNPJ: 03.347.463/0001 -12. em conformidade com a norma regulamentadora Nº 05, item 5.7.4 letra C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110"/>
          <p:cNvSpPr/>
          <p:nvPr/>
        </p:nvSpPr>
        <p:spPr>
          <a:xfrm>
            <a:off x="1079280" y="210204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7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CERTIFICAMOS QUE O ALUNO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111"/>
          <p:cNvSpPr/>
          <p:nvPr/>
        </p:nvSpPr>
        <p:spPr>
          <a:xfrm>
            <a:off x="1111320" y="6266160"/>
            <a:ext cx="41086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Sonia Exemplo </a:t>
            </a: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Dos</a:t>
            </a:r>
            <a:r>
              <a:rPr b="1" lang="pt-BR" sz="14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Barros Campos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0" name="Conector reto 27"/>
          <p:cNvCxnSpPr/>
          <p:nvPr/>
        </p:nvCxnSpPr>
        <p:spPr>
          <a:xfrm>
            <a:off x="136944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cxnSp>
        <p:nvCxnSpPr>
          <p:cNvPr id="311" name="Conector reto 28"/>
          <p:cNvCxnSpPr/>
          <p:nvPr/>
        </p:nvCxnSpPr>
        <p:spPr>
          <a:xfrm>
            <a:off x="577224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Box 207"/>
          <p:cNvSpPr/>
          <p:nvPr/>
        </p:nvSpPr>
        <p:spPr>
          <a:xfrm>
            <a:off x="317520" y="1035000"/>
            <a:ext cx="9919440" cy="54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a)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Estudo do ambiente, das condições de trabalho, bem como dos riscos originados do processo produtivo;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b)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acidentes e doenças relacionadas ao trabalho decorrentes das condições de trabalho e da exposição aos riscos existentes no estabelecimento e suas medidas de prevenção;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c)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Metodologia de investigação e análise de acidentes e doenças relacionadas ao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d)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princípios gerais de higiene do trabalho e de medidas de prevenção dos riscos;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as legislações trabalhista e previdenciária relativas à segurança e saúde no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f)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Noções sobre a inclusão de pessoas com deficiência e reabilitados nos processos de trabalho; 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g)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Organização da CIPA e outros assuntos necessários ao exercício das atribuições da Comissão.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h)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prevenção e combate ao assédio sexual e a outras formas de violência no trabalho.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208"/>
          <p:cNvSpPr/>
          <p:nvPr/>
        </p:nvSpPr>
        <p:spPr>
          <a:xfrm>
            <a:off x="1079640" y="42516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CONTEÚDO PR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O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G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RA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roup 30"/>
          <p:cNvGrpSpPr/>
          <p:nvPr/>
        </p:nvGrpSpPr>
        <p:grpSpPr>
          <a:xfrm>
            <a:off x="2625480" y="936360"/>
            <a:ext cx="8071200" cy="951840"/>
            <a:chOff x="2625480" y="936360"/>
            <a:chExt cx="8071200" cy="951840"/>
          </a:xfrm>
        </p:grpSpPr>
        <p:sp>
          <p:nvSpPr>
            <p:cNvPr id="315" name="Freeform 46"/>
            <p:cNvSpPr/>
            <p:nvPr/>
          </p:nvSpPr>
          <p:spPr>
            <a:xfrm>
              <a:off x="2625480" y="936360"/>
              <a:ext cx="8071200" cy="951840"/>
            </a:xfrm>
            <a:custGeom>
              <a:avLst/>
              <a:gdLst>
                <a:gd name="textAreaLeft" fmla="*/ 0 w 8071200"/>
                <a:gd name="textAreaRight" fmla="*/ 8072280 w 8071200"/>
                <a:gd name="textAreaTop" fmla="*/ 0 h 951840"/>
                <a:gd name="textAreaBottom" fmla="*/ 952920 h 9518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316" name="AutoShape 16"/>
          <p:cNvSpPr/>
          <p:nvPr/>
        </p:nvSpPr>
        <p:spPr>
          <a:xfrm>
            <a:off x="1947960" y="3092400"/>
            <a:ext cx="640836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1" lang="pt-BR" sz="1800" strike="noStrike" u="none">
              <a:solidFill>
                <a:schemeClr val="dk1"/>
              </a:solidFill>
              <a:effectLst/>
              <a:uFillTx/>
              <a:latin typeface="Avenir LT Std 55 Roman"/>
            </a:endParaRPr>
          </a:p>
        </p:txBody>
      </p:sp>
      <p:grpSp>
        <p:nvGrpSpPr>
          <p:cNvPr id="317" name="Group 31"/>
          <p:cNvGrpSpPr/>
          <p:nvPr/>
        </p:nvGrpSpPr>
        <p:grpSpPr>
          <a:xfrm>
            <a:off x="0" y="393840"/>
            <a:ext cx="8902440" cy="1627200"/>
            <a:chOff x="0" y="393840"/>
            <a:chExt cx="8902440" cy="1627200"/>
          </a:xfrm>
        </p:grpSpPr>
        <p:sp>
          <p:nvSpPr>
            <p:cNvPr id="318" name="Freeform 47"/>
            <p:cNvSpPr/>
            <p:nvPr/>
          </p:nvSpPr>
          <p:spPr>
            <a:xfrm>
              <a:off x="0" y="393840"/>
              <a:ext cx="268920" cy="268920"/>
            </a:xfrm>
            <a:custGeom>
              <a:avLst/>
              <a:gdLst>
                <a:gd name="textAreaLeft" fmla="*/ 0 w 268920"/>
                <a:gd name="textAreaRight" fmla="*/ 270000 w 268920"/>
                <a:gd name="textAreaTop" fmla="*/ 0 h 268920"/>
                <a:gd name="textAreaBottom" fmla="*/ 270000 h 2689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  <p:sp>
          <p:nvSpPr>
            <p:cNvPr id="319" name="Freeform 48"/>
            <p:cNvSpPr/>
            <p:nvPr/>
          </p:nvSpPr>
          <p:spPr>
            <a:xfrm>
              <a:off x="0" y="663480"/>
              <a:ext cx="8902440" cy="1357560"/>
            </a:xfrm>
            <a:custGeom>
              <a:avLst/>
              <a:gdLst>
                <a:gd name="textAreaLeft" fmla="*/ 0 w 8902440"/>
                <a:gd name="textAreaRight" fmla="*/ 8903520 w 8902440"/>
                <a:gd name="textAreaTop" fmla="*/ 0 h 1357560"/>
                <a:gd name="textAreaBottom" fmla="*/ 1358640 h 13575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320" name="TextBox 120"/>
          <p:cNvSpPr/>
          <p:nvPr/>
        </p:nvSpPr>
        <p:spPr>
          <a:xfrm>
            <a:off x="5740560" y="6418800"/>
            <a:ext cx="32792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Lidian Katlheen R. Oliveira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121"/>
          <p:cNvSpPr/>
          <p:nvPr/>
        </p:nvSpPr>
        <p:spPr>
          <a:xfrm>
            <a:off x="5740560" y="6673680"/>
            <a:ext cx="340560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Instrutor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Reg: 0023880/GO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122"/>
          <p:cNvSpPr/>
          <p:nvPr/>
        </p:nvSpPr>
        <p:spPr>
          <a:xfrm>
            <a:off x="1395000" y="6892920"/>
            <a:ext cx="20826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Aluno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123"/>
          <p:cNvSpPr/>
          <p:nvPr/>
        </p:nvSpPr>
        <p:spPr>
          <a:xfrm>
            <a:off x="1003320" y="2716560"/>
            <a:ext cx="925596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00"/>
              </a:lnSpc>
            </a:pPr>
            <a:r>
              <a:rPr b="1" lang="pt-BR" sz="3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ALICE EXEMPLO COSTA ALVES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CPF: </a:t>
            </a: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000.000.000-00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124"/>
          <p:cNvSpPr/>
          <p:nvPr/>
        </p:nvSpPr>
        <p:spPr>
          <a:xfrm>
            <a:off x="1788480" y="1048680"/>
            <a:ext cx="711432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99" strike="noStrike" u="none">
                <a:solidFill>
                  <a:srgbClr val="ffffff"/>
                </a:solidFill>
                <a:effectLst/>
                <a:uFillTx/>
                <a:latin typeface="Avenir LT Std 65 Medium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125"/>
          <p:cNvSpPr/>
          <p:nvPr/>
        </p:nvSpPr>
        <p:spPr>
          <a:xfrm>
            <a:off x="1079640" y="3577680"/>
            <a:ext cx="8535240" cy="20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articipou e concluiu o Treinamento sobre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CIPA - Comissão Interna de Prevenção de Acidentes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(teórico e prático), realizado em 16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 17 de Janeiro  de 2026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 duração de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dezesseis)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horas,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pela empresa VOLGA ENGENHARIA INDUSTRIA E COMERCIO LTDA,  na Av. Elmar Arantes Cabral, SN, Quadra 001, Lote 5, Parque Industrial Vice-Presidente José Alencar, Aparecida de Goiânia-GO inscrita no CNPJ: 03.347.463/0001 -12. em conformidade com a norma regulamentadora Nº 05, item 5.7.4 letra C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126"/>
          <p:cNvSpPr/>
          <p:nvPr/>
        </p:nvSpPr>
        <p:spPr>
          <a:xfrm>
            <a:off x="1079280" y="210204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7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CERTIFICAMOS QUE O ALUNO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127"/>
          <p:cNvSpPr/>
          <p:nvPr/>
        </p:nvSpPr>
        <p:spPr>
          <a:xfrm>
            <a:off x="514080" y="6418800"/>
            <a:ext cx="41086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Alice E. Costa Alves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8" name="Conector reto 31"/>
          <p:cNvCxnSpPr/>
          <p:nvPr/>
        </p:nvCxnSpPr>
        <p:spPr>
          <a:xfrm>
            <a:off x="100296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cxnSp>
        <p:nvCxnSpPr>
          <p:cNvPr id="329" name="Conector reto 32"/>
          <p:cNvCxnSpPr/>
          <p:nvPr/>
        </p:nvCxnSpPr>
        <p:spPr>
          <a:xfrm>
            <a:off x="577224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Box 209"/>
          <p:cNvSpPr/>
          <p:nvPr/>
        </p:nvSpPr>
        <p:spPr>
          <a:xfrm>
            <a:off x="317520" y="1035000"/>
            <a:ext cx="9919440" cy="54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a)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Estudo do ambiente, das condições de trabalho, bem como dos riscos originados do processo produtivo;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b)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acidentes e doenças relacionadas ao trabalho decorrentes das condições de trabalho e da exposição aos riscos existentes no estabelecimento e suas medidas de prevenção;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c)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Metodologia de investigação e análise de acidentes e doenças relacionadas ao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d)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princípios gerais de higiene do trabalho e de medidas de prevenção dos riscos;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as legislações trabalhista e previdenciária relativas à segurança e saúde no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f)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Noções sobre a inclusão de pessoas com deficiência e reabilitados nos processos de trabalho; 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g)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Organização da CIPA e outros assuntos necessários ao exercício das atribuições da Comissão.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h)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prevenção e combate ao assédio sexual e a outras formas de violência no trabalho.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210"/>
          <p:cNvSpPr/>
          <p:nvPr/>
        </p:nvSpPr>
        <p:spPr>
          <a:xfrm>
            <a:off x="1079640" y="42516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CONTEÚDO PR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O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G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RA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roup 32"/>
          <p:cNvGrpSpPr/>
          <p:nvPr/>
        </p:nvGrpSpPr>
        <p:grpSpPr>
          <a:xfrm>
            <a:off x="2625480" y="936360"/>
            <a:ext cx="8071200" cy="951840"/>
            <a:chOff x="2625480" y="936360"/>
            <a:chExt cx="8071200" cy="951840"/>
          </a:xfrm>
        </p:grpSpPr>
        <p:sp>
          <p:nvSpPr>
            <p:cNvPr id="333" name="Freeform 49"/>
            <p:cNvSpPr/>
            <p:nvPr/>
          </p:nvSpPr>
          <p:spPr>
            <a:xfrm>
              <a:off x="2625480" y="936360"/>
              <a:ext cx="8071200" cy="951840"/>
            </a:xfrm>
            <a:custGeom>
              <a:avLst/>
              <a:gdLst>
                <a:gd name="textAreaLeft" fmla="*/ 0 w 8071200"/>
                <a:gd name="textAreaRight" fmla="*/ 8072280 w 8071200"/>
                <a:gd name="textAreaTop" fmla="*/ 0 h 951840"/>
                <a:gd name="textAreaBottom" fmla="*/ 952920 h 9518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334" name="AutoShape 17"/>
          <p:cNvSpPr/>
          <p:nvPr/>
        </p:nvSpPr>
        <p:spPr>
          <a:xfrm>
            <a:off x="1947960" y="3092400"/>
            <a:ext cx="640836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1" lang="pt-BR" sz="1800" strike="noStrike" u="none">
              <a:solidFill>
                <a:schemeClr val="dk1"/>
              </a:solidFill>
              <a:effectLst/>
              <a:uFillTx/>
              <a:latin typeface="Avenir LT Std 55 Roman"/>
            </a:endParaRPr>
          </a:p>
        </p:txBody>
      </p:sp>
      <p:grpSp>
        <p:nvGrpSpPr>
          <p:cNvPr id="335" name="Group 33"/>
          <p:cNvGrpSpPr/>
          <p:nvPr/>
        </p:nvGrpSpPr>
        <p:grpSpPr>
          <a:xfrm>
            <a:off x="0" y="393840"/>
            <a:ext cx="8902440" cy="1627200"/>
            <a:chOff x="0" y="393840"/>
            <a:chExt cx="8902440" cy="1627200"/>
          </a:xfrm>
        </p:grpSpPr>
        <p:sp>
          <p:nvSpPr>
            <p:cNvPr id="336" name="Freeform 50"/>
            <p:cNvSpPr/>
            <p:nvPr/>
          </p:nvSpPr>
          <p:spPr>
            <a:xfrm>
              <a:off x="0" y="393840"/>
              <a:ext cx="268920" cy="268920"/>
            </a:xfrm>
            <a:custGeom>
              <a:avLst/>
              <a:gdLst>
                <a:gd name="textAreaLeft" fmla="*/ 0 w 268920"/>
                <a:gd name="textAreaRight" fmla="*/ 270000 w 268920"/>
                <a:gd name="textAreaTop" fmla="*/ 0 h 268920"/>
                <a:gd name="textAreaBottom" fmla="*/ 270000 h 2689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  <p:sp>
          <p:nvSpPr>
            <p:cNvPr id="337" name="Freeform 51"/>
            <p:cNvSpPr/>
            <p:nvPr/>
          </p:nvSpPr>
          <p:spPr>
            <a:xfrm>
              <a:off x="0" y="663480"/>
              <a:ext cx="8902440" cy="1357560"/>
            </a:xfrm>
            <a:custGeom>
              <a:avLst/>
              <a:gdLst>
                <a:gd name="textAreaLeft" fmla="*/ 0 w 8902440"/>
                <a:gd name="textAreaRight" fmla="*/ 8903520 w 8902440"/>
                <a:gd name="textAreaTop" fmla="*/ 0 h 1357560"/>
                <a:gd name="textAreaBottom" fmla="*/ 1358640 h 13575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338" name="TextBox 128"/>
          <p:cNvSpPr/>
          <p:nvPr/>
        </p:nvSpPr>
        <p:spPr>
          <a:xfrm>
            <a:off x="5740560" y="6418800"/>
            <a:ext cx="32792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Lidian Katlheen R. Oliveira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129"/>
          <p:cNvSpPr/>
          <p:nvPr/>
        </p:nvSpPr>
        <p:spPr>
          <a:xfrm>
            <a:off x="5740560" y="6673680"/>
            <a:ext cx="340560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Instrutor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Reg: 0023880/GO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130"/>
          <p:cNvSpPr/>
          <p:nvPr/>
        </p:nvSpPr>
        <p:spPr>
          <a:xfrm>
            <a:off x="1395000" y="6892920"/>
            <a:ext cx="20826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Aluno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Box 131"/>
          <p:cNvSpPr/>
          <p:nvPr/>
        </p:nvSpPr>
        <p:spPr>
          <a:xfrm>
            <a:off x="1003320" y="2716560"/>
            <a:ext cx="925596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00"/>
              </a:lnSpc>
            </a:pPr>
            <a:r>
              <a:rPr b="1" lang="pt-BR" sz="3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MURILO EXEMPLO LIMA COSTA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CPF: </a:t>
            </a: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000.000.000-00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132"/>
          <p:cNvSpPr/>
          <p:nvPr/>
        </p:nvSpPr>
        <p:spPr>
          <a:xfrm>
            <a:off x="1788480" y="1048680"/>
            <a:ext cx="711432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99" strike="noStrike" u="none">
                <a:solidFill>
                  <a:srgbClr val="ffffff"/>
                </a:solidFill>
                <a:effectLst/>
                <a:uFillTx/>
                <a:latin typeface="Avenir LT Std 65 Medium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133"/>
          <p:cNvSpPr/>
          <p:nvPr/>
        </p:nvSpPr>
        <p:spPr>
          <a:xfrm>
            <a:off x="1079640" y="3577680"/>
            <a:ext cx="8535240" cy="20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articipou e concluiu o Treinamento sobre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CIPA - Comissão Interna de Prevenção de Acidentes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(teórico e prático), realizado em 16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 17 de Janeiro  de 2026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 duração de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dezesseis)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horas,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pela empresa VOLGA ENGENHARIA INDUSTRIA E COMERCIO LTDA,  na Av. Elmar Arantes Cabral, SN, Quadra 001, Lote 5, Parque Industrial Vice-Presidente José Alencar, Aparecida de Goiânia-GO inscrita no CNPJ: 03.347.463/0001 -12. em conformidade com a norma regulamentadora Nº 05, item 5.7.4 letra C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134"/>
          <p:cNvSpPr/>
          <p:nvPr/>
        </p:nvSpPr>
        <p:spPr>
          <a:xfrm>
            <a:off x="1079280" y="210204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7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CERTIFICAMOS QUE O ALUNO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135"/>
          <p:cNvSpPr/>
          <p:nvPr/>
        </p:nvSpPr>
        <p:spPr>
          <a:xfrm>
            <a:off x="514080" y="6418800"/>
            <a:ext cx="41086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Murilo E. Lima Costa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6" name="Conector reto 33"/>
          <p:cNvCxnSpPr/>
          <p:nvPr/>
        </p:nvCxnSpPr>
        <p:spPr>
          <a:xfrm>
            <a:off x="100296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cxnSp>
        <p:nvCxnSpPr>
          <p:cNvPr id="347" name="Conector reto 34"/>
          <p:cNvCxnSpPr/>
          <p:nvPr/>
        </p:nvCxnSpPr>
        <p:spPr>
          <a:xfrm>
            <a:off x="577224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TextBox 187"/>
          <p:cNvSpPr/>
          <p:nvPr/>
        </p:nvSpPr>
        <p:spPr>
          <a:xfrm>
            <a:off x="317520" y="1035000"/>
            <a:ext cx="9919440" cy="54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a)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Estudo do ambiente, das condições de trabalho, bem como dos riscos originados do processo produtivo;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b)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acidentes e doenças relacionadas ao trabalho decorrentes das condições de trabalho e da exposição aos riscos existentes no estabelecimento e suas medidas de prevenção;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c)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Metodologia de investigação e análise de acidentes e doenças relacionadas ao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d)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princípios gerais de higiene do trabalho e de medidas de prevenção dos riscos;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as legislações trabalhista e previdenciária relativas à segurança e saúde no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f)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Noções sobre a inclusão de pessoas com deficiência e reabilitados nos processos de trabalho; 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g)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Organização da CIPA e outros assuntos necessários ao exercício das atribuições da Comissão.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h)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prevenção e combate ao assédio sexual e a outras formas de violência no trabalho.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188"/>
          <p:cNvSpPr/>
          <p:nvPr/>
        </p:nvSpPr>
        <p:spPr>
          <a:xfrm>
            <a:off x="1079640" y="42516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CONTEÚDO PR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O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G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RA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roup 34"/>
          <p:cNvGrpSpPr/>
          <p:nvPr/>
        </p:nvGrpSpPr>
        <p:grpSpPr>
          <a:xfrm>
            <a:off x="2625480" y="936360"/>
            <a:ext cx="8071200" cy="951840"/>
            <a:chOff x="2625480" y="936360"/>
            <a:chExt cx="8071200" cy="951840"/>
          </a:xfrm>
        </p:grpSpPr>
        <p:sp>
          <p:nvSpPr>
            <p:cNvPr id="351" name="Freeform 52"/>
            <p:cNvSpPr/>
            <p:nvPr/>
          </p:nvSpPr>
          <p:spPr>
            <a:xfrm>
              <a:off x="2625480" y="936360"/>
              <a:ext cx="8071200" cy="951840"/>
            </a:xfrm>
            <a:custGeom>
              <a:avLst/>
              <a:gdLst>
                <a:gd name="textAreaLeft" fmla="*/ 0 w 8071200"/>
                <a:gd name="textAreaRight" fmla="*/ 8072280 w 8071200"/>
                <a:gd name="textAreaTop" fmla="*/ 0 h 951840"/>
                <a:gd name="textAreaBottom" fmla="*/ 952920 h 9518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352" name="AutoShape 18"/>
          <p:cNvSpPr/>
          <p:nvPr/>
        </p:nvSpPr>
        <p:spPr>
          <a:xfrm>
            <a:off x="1947960" y="3092400"/>
            <a:ext cx="640836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1" lang="pt-BR" sz="1800" strike="noStrike" u="none">
              <a:solidFill>
                <a:schemeClr val="dk1"/>
              </a:solidFill>
              <a:effectLst/>
              <a:uFillTx/>
              <a:latin typeface="Avenir LT Std 55 Roman"/>
            </a:endParaRPr>
          </a:p>
        </p:txBody>
      </p:sp>
      <p:grpSp>
        <p:nvGrpSpPr>
          <p:cNvPr id="353" name="Group 35"/>
          <p:cNvGrpSpPr/>
          <p:nvPr/>
        </p:nvGrpSpPr>
        <p:grpSpPr>
          <a:xfrm>
            <a:off x="0" y="393840"/>
            <a:ext cx="8902440" cy="1627200"/>
            <a:chOff x="0" y="393840"/>
            <a:chExt cx="8902440" cy="1627200"/>
          </a:xfrm>
        </p:grpSpPr>
        <p:sp>
          <p:nvSpPr>
            <p:cNvPr id="354" name="Freeform 53"/>
            <p:cNvSpPr/>
            <p:nvPr/>
          </p:nvSpPr>
          <p:spPr>
            <a:xfrm>
              <a:off x="0" y="393840"/>
              <a:ext cx="268920" cy="268920"/>
            </a:xfrm>
            <a:custGeom>
              <a:avLst/>
              <a:gdLst>
                <a:gd name="textAreaLeft" fmla="*/ 0 w 268920"/>
                <a:gd name="textAreaRight" fmla="*/ 270000 w 268920"/>
                <a:gd name="textAreaTop" fmla="*/ 0 h 268920"/>
                <a:gd name="textAreaBottom" fmla="*/ 270000 h 2689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  <p:sp>
          <p:nvSpPr>
            <p:cNvPr id="355" name="Freeform 54"/>
            <p:cNvSpPr/>
            <p:nvPr/>
          </p:nvSpPr>
          <p:spPr>
            <a:xfrm>
              <a:off x="0" y="663480"/>
              <a:ext cx="8902440" cy="1357560"/>
            </a:xfrm>
            <a:custGeom>
              <a:avLst/>
              <a:gdLst>
                <a:gd name="textAreaLeft" fmla="*/ 0 w 8902440"/>
                <a:gd name="textAreaRight" fmla="*/ 8903520 w 8902440"/>
                <a:gd name="textAreaTop" fmla="*/ 0 h 1357560"/>
                <a:gd name="textAreaBottom" fmla="*/ 1358640 h 13575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356" name="TextBox 136"/>
          <p:cNvSpPr/>
          <p:nvPr/>
        </p:nvSpPr>
        <p:spPr>
          <a:xfrm>
            <a:off x="5740560" y="6418800"/>
            <a:ext cx="32792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Lidian Katlheen R. Oliveira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137"/>
          <p:cNvSpPr/>
          <p:nvPr/>
        </p:nvSpPr>
        <p:spPr>
          <a:xfrm>
            <a:off x="5740560" y="6673680"/>
            <a:ext cx="340560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Instrutor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Reg: 0023880/GO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138"/>
          <p:cNvSpPr/>
          <p:nvPr/>
        </p:nvSpPr>
        <p:spPr>
          <a:xfrm>
            <a:off x="1395000" y="6892920"/>
            <a:ext cx="20826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Aluno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139"/>
          <p:cNvSpPr/>
          <p:nvPr/>
        </p:nvSpPr>
        <p:spPr>
          <a:xfrm>
            <a:off x="1003320" y="2716560"/>
            <a:ext cx="925596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00"/>
              </a:lnSpc>
            </a:pPr>
            <a:r>
              <a:rPr b="1" lang="pt-BR" sz="3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CLARA E. EXEMPLO SOUZA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CPF: </a:t>
            </a: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000.000.000-00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Box 140"/>
          <p:cNvSpPr/>
          <p:nvPr/>
        </p:nvSpPr>
        <p:spPr>
          <a:xfrm>
            <a:off x="1788480" y="1048680"/>
            <a:ext cx="711432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99" strike="noStrike" u="none">
                <a:solidFill>
                  <a:srgbClr val="ffffff"/>
                </a:solidFill>
                <a:effectLst/>
                <a:uFillTx/>
                <a:latin typeface="Avenir LT Std 65 Medium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141"/>
          <p:cNvSpPr/>
          <p:nvPr/>
        </p:nvSpPr>
        <p:spPr>
          <a:xfrm>
            <a:off x="1079640" y="3577680"/>
            <a:ext cx="8535240" cy="20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articipou e concluiu o Treinamento sobre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CIPA - Comissão Interna de Prevenção de Acidentes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(teórico e prático), realizado em 16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 17 de Janeiro  de 2026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 duração de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dezesseis)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horas,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pela empresa VOLGA ENGENHARIA INDUSTRIA E COMERCIO LTDA,  na Av. Elmar Arantes Cabral, SN, Quadra 001, Lote 5, Parque Industrial Vice-Presidente José Alencar, Aparecida de Goiânia-GO inscrita no CNPJ: 03.347.463/0001 -12. em conformidade com a norma regulamentadora Nº 05, item 5.7.4 letra C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142"/>
          <p:cNvSpPr/>
          <p:nvPr/>
        </p:nvSpPr>
        <p:spPr>
          <a:xfrm>
            <a:off x="1079280" y="210204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7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CERTIFICAMOS QUE O ALUNO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143"/>
          <p:cNvSpPr/>
          <p:nvPr/>
        </p:nvSpPr>
        <p:spPr>
          <a:xfrm>
            <a:off x="1080000" y="6300000"/>
            <a:ext cx="41086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Clara E. Exemplo Souza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4" name="Conector reto 35"/>
          <p:cNvCxnSpPr/>
          <p:nvPr/>
        </p:nvCxnSpPr>
        <p:spPr>
          <a:xfrm flipV="1">
            <a:off x="1002960" y="6194520"/>
            <a:ext cx="3202560" cy="129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cxnSp>
        <p:nvCxnSpPr>
          <p:cNvPr id="365" name="Conector reto 36"/>
          <p:cNvCxnSpPr/>
          <p:nvPr/>
        </p:nvCxnSpPr>
        <p:spPr>
          <a:xfrm>
            <a:off x="577224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TextBox 185"/>
          <p:cNvSpPr/>
          <p:nvPr/>
        </p:nvSpPr>
        <p:spPr>
          <a:xfrm>
            <a:off x="317520" y="1035000"/>
            <a:ext cx="9919440" cy="54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a)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Estudo do ambiente, das condições de trabalho, bem como dos riscos originados do processo produtivo;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b)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acidentes e doenças relacionadas ao trabalho decorrentes das condições de trabalho e da exposição aos riscos existentes no estabelecimento e suas medidas de prevenção;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c)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Metodologia de investigação e análise de acidentes e doenças relacionadas ao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d)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princípios gerais de higiene do trabalho e de medidas de prevenção dos riscos;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as legislações trabalhista e previdenciária relativas à segurança e saúde no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f)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Noções sobre a inclusão de pessoas com deficiência e reabilitados nos processos de trabalho; 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g)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Organização da CIPA e outros assuntos necessários ao exercício das atribuições da Comissão.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h)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prevenção e combate ao assédio sexual e a outras formas de violência no trabalho.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Box 186"/>
          <p:cNvSpPr/>
          <p:nvPr/>
        </p:nvSpPr>
        <p:spPr>
          <a:xfrm>
            <a:off x="1079640" y="42516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CONTEÚDO PR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O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G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RA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roup 36"/>
          <p:cNvGrpSpPr/>
          <p:nvPr/>
        </p:nvGrpSpPr>
        <p:grpSpPr>
          <a:xfrm>
            <a:off x="2625480" y="936360"/>
            <a:ext cx="8071200" cy="951840"/>
            <a:chOff x="2625480" y="936360"/>
            <a:chExt cx="8071200" cy="951840"/>
          </a:xfrm>
        </p:grpSpPr>
        <p:sp>
          <p:nvSpPr>
            <p:cNvPr id="369" name="Freeform 55"/>
            <p:cNvSpPr/>
            <p:nvPr/>
          </p:nvSpPr>
          <p:spPr>
            <a:xfrm>
              <a:off x="2625480" y="936360"/>
              <a:ext cx="8071200" cy="951840"/>
            </a:xfrm>
            <a:custGeom>
              <a:avLst/>
              <a:gdLst>
                <a:gd name="textAreaLeft" fmla="*/ 0 w 8071200"/>
                <a:gd name="textAreaRight" fmla="*/ 8072280 w 8071200"/>
                <a:gd name="textAreaTop" fmla="*/ 0 h 951840"/>
                <a:gd name="textAreaBottom" fmla="*/ 952920 h 9518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370" name="AutoShape 19"/>
          <p:cNvSpPr/>
          <p:nvPr/>
        </p:nvSpPr>
        <p:spPr>
          <a:xfrm>
            <a:off x="1947960" y="3092400"/>
            <a:ext cx="640836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1" lang="pt-BR" sz="1800" strike="noStrike" u="none">
              <a:solidFill>
                <a:schemeClr val="dk1"/>
              </a:solidFill>
              <a:effectLst/>
              <a:uFillTx/>
              <a:latin typeface="Avenir LT Std 55 Roman"/>
            </a:endParaRPr>
          </a:p>
        </p:txBody>
      </p:sp>
      <p:grpSp>
        <p:nvGrpSpPr>
          <p:cNvPr id="371" name="Group 37"/>
          <p:cNvGrpSpPr/>
          <p:nvPr/>
        </p:nvGrpSpPr>
        <p:grpSpPr>
          <a:xfrm>
            <a:off x="0" y="393840"/>
            <a:ext cx="8902440" cy="1627200"/>
            <a:chOff x="0" y="393840"/>
            <a:chExt cx="8902440" cy="1627200"/>
          </a:xfrm>
        </p:grpSpPr>
        <p:sp>
          <p:nvSpPr>
            <p:cNvPr id="372" name="Freeform 56"/>
            <p:cNvSpPr/>
            <p:nvPr/>
          </p:nvSpPr>
          <p:spPr>
            <a:xfrm>
              <a:off x="0" y="393840"/>
              <a:ext cx="268920" cy="268920"/>
            </a:xfrm>
            <a:custGeom>
              <a:avLst/>
              <a:gdLst>
                <a:gd name="textAreaLeft" fmla="*/ 0 w 268920"/>
                <a:gd name="textAreaRight" fmla="*/ 270000 w 268920"/>
                <a:gd name="textAreaTop" fmla="*/ 0 h 268920"/>
                <a:gd name="textAreaBottom" fmla="*/ 270000 h 2689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  <p:sp>
          <p:nvSpPr>
            <p:cNvPr id="373" name="Freeform 57"/>
            <p:cNvSpPr/>
            <p:nvPr/>
          </p:nvSpPr>
          <p:spPr>
            <a:xfrm>
              <a:off x="0" y="663480"/>
              <a:ext cx="8902440" cy="1357560"/>
            </a:xfrm>
            <a:custGeom>
              <a:avLst/>
              <a:gdLst>
                <a:gd name="textAreaLeft" fmla="*/ 0 w 8902440"/>
                <a:gd name="textAreaRight" fmla="*/ 8903520 w 8902440"/>
                <a:gd name="textAreaTop" fmla="*/ 0 h 1357560"/>
                <a:gd name="textAreaBottom" fmla="*/ 1358640 h 13575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374" name="TextBox 144"/>
          <p:cNvSpPr/>
          <p:nvPr/>
        </p:nvSpPr>
        <p:spPr>
          <a:xfrm>
            <a:off x="5740560" y="6418800"/>
            <a:ext cx="32792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Lidian Katlheen R. Oliveira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145"/>
          <p:cNvSpPr/>
          <p:nvPr/>
        </p:nvSpPr>
        <p:spPr>
          <a:xfrm>
            <a:off x="5740560" y="6673680"/>
            <a:ext cx="340560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Instrutor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Reg: 0023880/GO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146"/>
          <p:cNvSpPr/>
          <p:nvPr/>
        </p:nvSpPr>
        <p:spPr>
          <a:xfrm>
            <a:off x="1395000" y="6892920"/>
            <a:ext cx="20826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Aluno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147"/>
          <p:cNvSpPr/>
          <p:nvPr/>
        </p:nvSpPr>
        <p:spPr>
          <a:xfrm>
            <a:off x="1003320" y="2716560"/>
            <a:ext cx="925596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00"/>
              </a:lnSpc>
            </a:pPr>
            <a:r>
              <a:rPr b="1" lang="pt-BR" sz="3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RITA DE EXEMPLO MACEDO FARIAS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CPF: </a:t>
            </a: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000.000.000-00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148"/>
          <p:cNvSpPr/>
          <p:nvPr/>
        </p:nvSpPr>
        <p:spPr>
          <a:xfrm>
            <a:off x="1788480" y="1048680"/>
            <a:ext cx="711432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99" strike="noStrike" u="none">
                <a:solidFill>
                  <a:srgbClr val="ffffff"/>
                </a:solidFill>
                <a:effectLst/>
                <a:uFillTx/>
                <a:latin typeface="Avenir LT Std 65 Medium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Box 149"/>
          <p:cNvSpPr/>
          <p:nvPr/>
        </p:nvSpPr>
        <p:spPr>
          <a:xfrm>
            <a:off x="1079640" y="3577680"/>
            <a:ext cx="8535240" cy="20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articipou e concluiu o Treinamento sobre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CIPA - Comissão Interna de Prevenção de Acidentes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(teórico e prático), realizado em 16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 17 de Janeiro  de 2026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 duração de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dezesseis)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horas,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pela empresa VOLGA ENGENHARIA INDUSTRIA E COMERCIO LTDA,  na Av. Elmar Arantes Cabral, SN, Quadra 001, Lote 5, Parque Industrial Vice-Presidente José Alencar, Aparecida de Goiânia-GO inscrita no CNPJ: 03.347.463/0001 -12. em conformidade com a norma regulamentadora Nº 05, item 5.7.4 letra C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150"/>
          <p:cNvSpPr/>
          <p:nvPr/>
        </p:nvSpPr>
        <p:spPr>
          <a:xfrm>
            <a:off x="1079280" y="210204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7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CERTIFICAMOS QUE O ALUNO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151"/>
          <p:cNvSpPr/>
          <p:nvPr/>
        </p:nvSpPr>
        <p:spPr>
          <a:xfrm>
            <a:off x="514080" y="6418800"/>
            <a:ext cx="41086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Rita De Exemplo Macedo Farias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2" name="Conector reto 37"/>
          <p:cNvCxnSpPr/>
          <p:nvPr/>
        </p:nvCxnSpPr>
        <p:spPr>
          <a:xfrm>
            <a:off x="100296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cxnSp>
        <p:nvCxnSpPr>
          <p:cNvPr id="383" name="Conector reto 38"/>
          <p:cNvCxnSpPr/>
          <p:nvPr/>
        </p:nvCxnSpPr>
        <p:spPr>
          <a:xfrm>
            <a:off x="577224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TextBox 183"/>
          <p:cNvSpPr/>
          <p:nvPr/>
        </p:nvSpPr>
        <p:spPr>
          <a:xfrm>
            <a:off x="317520" y="1035000"/>
            <a:ext cx="9919440" cy="54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a)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Estudo do ambiente, das condições de trabalho, bem como dos riscos originados do processo produtivo;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b)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acidentes e doenças relacionadas ao trabalho decorrentes das condições de trabalho e da exposição aos riscos existentes no estabelecimento e suas medidas de prevenção;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c)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Metodologia de investigação e análise de acidentes e doenças relacionadas ao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d)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princípios gerais de higiene do trabalho e de medidas de prevenção dos riscos;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as legislações trabalhista e previdenciária relativas à segurança e saúde no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f)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Noções sobre a inclusão de pessoas com deficiência e reabilitados nos processos de trabalho; 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g)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Organização da CIPA e outros assuntos necessários ao exercício das atribuições da Comissão.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h)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prevenção e combate ao assédio sexual e a outras formas de violência no trabalho.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184"/>
          <p:cNvSpPr/>
          <p:nvPr/>
        </p:nvSpPr>
        <p:spPr>
          <a:xfrm>
            <a:off x="1079640" y="42516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CONTEÚDO PR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O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G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RA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6" name="Group 38"/>
          <p:cNvGrpSpPr/>
          <p:nvPr/>
        </p:nvGrpSpPr>
        <p:grpSpPr>
          <a:xfrm>
            <a:off x="2625480" y="936360"/>
            <a:ext cx="8071200" cy="951840"/>
            <a:chOff x="2625480" y="936360"/>
            <a:chExt cx="8071200" cy="951840"/>
          </a:xfrm>
        </p:grpSpPr>
        <p:sp>
          <p:nvSpPr>
            <p:cNvPr id="387" name="Freeform 58"/>
            <p:cNvSpPr/>
            <p:nvPr/>
          </p:nvSpPr>
          <p:spPr>
            <a:xfrm>
              <a:off x="2625480" y="936360"/>
              <a:ext cx="8071200" cy="951840"/>
            </a:xfrm>
            <a:custGeom>
              <a:avLst/>
              <a:gdLst>
                <a:gd name="textAreaLeft" fmla="*/ 0 w 8071200"/>
                <a:gd name="textAreaRight" fmla="*/ 8072280 w 8071200"/>
                <a:gd name="textAreaTop" fmla="*/ 0 h 951840"/>
                <a:gd name="textAreaBottom" fmla="*/ 952920 h 9518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388" name="AutoShape 20"/>
          <p:cNvSpPr/>
          <p:nvPr/>
        </p:nvSpPr>
        <p:spPr>
          <a:xfrm>
            <a:off x="1947960" y="3092400"/>
            <a:ext cx="640836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1" lang="pt-BR" sz="1800" strike="noStrike" u="none">
              <a:solidFill>
                <a:schemeClr val="dk1"/>
              </a:solidFill>
              <a:effectLst/>
              <a:uFillTx/>
              <a:latin typeface="Avenir LT Std 55 Roman"/>
            </a:endParaRPr>
          </a:p>
        </p:txBody>
      </p:sp>
      <p:grpSp>
        <p:nvGrpSpPr>
          <p:cNvPr id="389" name="Group 39"/>
          <p:cNvGrpSpPr/>
          <p:nvPr/>
        </p:nvGrpSpPr>
        <p:grpSpPr>
          <a:xfrm>
            <a:off x="0" y="393840"/>
            <a:ext cx="8902440" cy="1627200"/>
            <a:chOff x="0" y="393840"/>
            <a:chExt cx="8902440" cy="1627200"/>
          </a:xfrm>
        </p:grpSpPr>
        <p:sp>
          <p:nvSpPr>
            <p:cNvPr id="390" name="Freeform 59"/>
            <p:cNvSpPr/>
            <p:nvPr/>
          </p:nvSpPr>
          <p:spPr>
            <a:xfrm>
              <a:off x="0" y="393840"/>
              <a:ext cx="268920" cy="268920"/>
            </a:xfrm>
            <a:custGeom>
              <a:avLst/>
              <a:gdLst>
                <a:gd name="textAreaLeft" fmla="*/ 0 w 268920"/>
                <a:gd name="textAreaRight" fmla="*/ 270000 w 268920"/>
                <a:gd name="textAreaTop" fmla="*/ 0 h 268920"/>
                <a:gd name="textAreaBottom" fmla="*/ 270000 h 2689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  <p:sp>
          <p:nvSpPr>
            <p:cNvPr id="391" name="Freeform 60"/>
            <p:cNvSpPr/>
            <p:nvPr/>
          </p:nvSpPr>
          <p:spPr>
            <a:xfrm>
              <a:off x="0" y="663480"/>
              <a:ext cx="8902440" cy="1357560"/>
            </a:xfrm>
            <a:custGeom>
              <a:avLst/>
              <a:gdLst>
                <a:gd name="textAreaLeft" fmla="*/ 0 w 8902440"/>
                <a:gd name="textAreaRight" fmla="*/ 8903520 w 8902440"/>
                <a:gd name="textAreaTop" fmla="*/ 0 h 1357560"/>
                <a:gd name="textAreaBottom" fmla="*/ 1358640 h 13575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392" name="TextBox 152"/>
          <p:cNvSpPr/>
          <p:nvPr/>
        </p:nvSpPr>
        <p:spPr>
          <a:xfrm>
            <a:off x="5740560" y="6418800"/>
            <a:ext cx="32792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Lidian Katlheen R. Oliveira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153"/>
          <p:cNvSpPr/>
          <p:nvPr/>
        </p:nvSpPr>
        <p:spPr>
          <a:xfrm>
            <a:off x="5740560" y="6673680"/>
            <a:ext cx="340560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Instrutor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Reg: 0023880/GO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154"/>
          <p:cNvSpPr/>
          <p:nvPr/>
        </p:nvSpPr>
        <p:spPr>
          <a:xfrm>
            <a:off x="1395000" y="6892920"/>
            <a:ext cx="20826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Aluno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155"/>
          <p:cNvSpPr/>
          <p:nvPr/>
        </p:nvSpPr>
        <p:spPr>
          <a:xfrm>
            <a:off x="1003320" y="2716560"/>
            <a:ext cx="925596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00"/>
              </a:lnSpc>
            </a:pPr>
            <a:r>
              <a:rPr b="1" lang="pt-BR" sz="3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ROGERIO EXEMPLO DUARTE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CPF: </a:t>
            </a: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000.000.000-00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156"/>
          <p:cNvSpPr/>
          <p:nvPr/>
        </p:nvSpPr>
        <p:spPr>
          <a:xfrm>
            <a:off x="1788480" y="1048680"/>
            <a:ext cx="711432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99" strike="noStrike" u="none">
                <a:solidFill>
                  <a:srgbClr val="ffffff"/>
                </a:solidFill>
                <a:effectLst/>
                <a:uFillTx/>
                <a:latin typeface="Avenir LT Std 65 Medium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157"/>
          <p:cNvSpPr/>
          <p:nvPr/>
        </p:nvSpPr>
        <p:spPr>
          <a:xfrm>
            <a:off x="1079640" y="3577680"/>
            <a:ext cx="8535240" cy="20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articipou e concluiu o Treinamento sobre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CIPA - Comissão Interna de Prevenção de Acidentes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(teórico e prático), realizado em 16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 17 de Janeiro  de 2026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 duração de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dezesseis)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horas,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pela empresa VOLGA ENGENHARIA INDUSTRIA E COMERCIO LTDA,  na Av. Elmar Arantes Cabral, SN, Quadra 001, Lote 5, Parque Industrial Vice-Presidente José Alencar, Aparecida de Goiânia-GO inscrita no CNPJ: 03.347.463/0001 -12. em conformidade com a norma regulamentadora Nº 05, item 5.7.4 letra C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158"/>
          <p:cNvSpPr/>
          <p:nvPr/>
        </p:nvSpPr>
        <p:spPr>
          <a:xfrm>
            <a:off x="1079280" y="210204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7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CERTIFICAMOS QUE O ALUNO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159"/>
          <p:cNvSpPr/>
          <p:nvPr/>
        </p:nvSpPr>
        <p:spPr>
          <a:xfrm>
            <a:off x="514080" y="6418800"/>
            <a:ext cx="41086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Rogerio Exemplo Duarte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0" name="Conector reto 39"/>
          <p:cNvCxnSpPr/>
          <p:nvPr/>
        </p:nvCxnSpPr>
        <p:spPr>
          <a:xfrm>
            <a:off x="100296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cxnSp>
        <p:nvCxnSpPr>
          <p:cNvPr id="401" name="Conector reto 40"/>
          <p:cNvCxnSpPr/>
          <p:nvPr/>
        </p:nvCxnSpPr>
        <p:spPr>
          <a:xfrm>
            <a:off x="577224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extBox 181"/>
          <p:cNvSpPr/>
          <p:nvPr/>
        </p:nvSpPr>
        <p:spPr>
          <a:xfrm>
            <a:off x="317520" y="1035000"/>
            <a:ext cx="9919440" cy="54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a)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Estudo do ambiente, das condições de trabalho, bem como dos riscos originados do processo produtivo;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b)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acidentes e doenças relacionadas ao trabalho decorrentes das condições de trabalho e da exposição aos riscos existentes no estabelecimento e suas medidas de prevenção;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c)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Metodologia de investigação e análise de acidentes e doenças relacionadas ao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d)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princípios gerais de higiene do trabalho e de medidas de prevenção dos riscos;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as legislações trabalhista e previdenciária relativas à segurança e saúde no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f)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Noções sobre a inclusão de pessoas com deficiência e reabilitados nos processos de trabalho; 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g)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Organização da CIPA e outros assuntos necessários ao exercício das atribuições da Comissão.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h)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prevenção e combate ao assédio sexual e a outras formas de violência no trabalho.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182"/>
          <p:cNvSpPr/>
          <p:nvPr/>
        </p:nvSpPr>
        <p:spPr>
          <a:xfrm>
            <a:off x="1079640" y="42516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CONTEÚDO PR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O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G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RA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roup 40"/>
          <p:cNvGrpSpPr/>
          <p:nvPr/>
        </p:nvGrpSpPr>
        <p:grpSpPr>
          <a:xfrm>
            <a:off x="2625480" y="936360"/>
            <a:ext cx="8071200" cy="951840"/>
            <a:chOff x="2625480" y="936360"/>
            <a:chExt cx="8071200" cy="951840"/>
          </a:xfrm>
        </p:grpSpPr>
        <p:sp>
          <p:nvSpPr>
            <p:cNvPr id="405" name="Freeform 61"/>
            <p:cNvSpPr/>
            <p:nvPr/>
          </p:nvSpPr>
          <p:spPr>
            <a:xfrm>
              <a:off x="2625480" y="936360"/>
              <a:ext cx="8071200" cy="951840"/>
            </a:xfrm>
            <a:custGeom>
              <a:avLst/>
              <a:gdLst>
                <a:gd name="textAreaLeft" fmla="*/ 0 w 8071200"/>
                <a:gd name="textAreaRight" fmla="*/ 8072280 w 8071200"/>
                <a:gd name="textAreaTop" fmla="*/ 0 h 951840"/>
                <a:gd name="textAreaBottom" fmla="*/ 952920 h 951840"/>
              </a:gdLst>
              <a:ahLst/>
              <a:cxnLst/>
              <a:rect l="textAreaLeft" t="textAreaTop" r="textAreaRight" b="textAreaBottom"/>
              <a:pathLst>
                <a:path w="3815445" h="425295">
                  <a:moveTo>
                    <a:pt x="0" y="0"/>
                  </a:moveTo>
                  <a:lnTo>
                    <a:pt x="3815445" y="0"/>
                  </a:lnTo>
                  <a:lnTo>
                    <a:pt x="3815445" y="425295"/>
                  </a:lnTo>
                  <a:lnTo>
                    <a:pt x="0" y="425295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406" name="AutoShape 21"/>
          <p:cNvSpPr/>
          <p:nvPr/>
        </p:nvSpPr>
        <p:spPr>
          <a:xfrm>
            <a:off x="1947960" y="3092400"/>
            <a:ext cx="6408360" cy="360"/>
          </a:xfrm>
          <a:prstGeom prst="line">
            <a:avLst/>
          </a:prstGeom>
          <a:ln cap="rnd" w="47520">
            <a:solidFill>
              <a:srgbClr val="a2c7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1" lang="pt-BR" sz="1800" strike="noStrike" u="none">
              <a:solidFill>
                <a:schemeClr val="dk1"/>
              </a:solidFill>
              <a:effectLst/>
              <a:uFillTx/>
              <a:latin typeface="Avenir LT Std 55 Roman"/>
            </a:endParaRPr>
          </a:p>
        </p:txBody>
      </p:sp>
      <p:grpSp>
        <p:nvGrpSpPr>
          <p:cNvPr id="407" name="Group 41"/>
          <p:cNvGrpSpPr/>
          <p:nvPr/>
        </p:nvGrpSpPr>
        <p:grpSpPr>
          <a:xfrm>
            <a:off x="0" y="393840"/>
            <a:ext cx="8902440" cy="1627200"/>
            <a:chOff x="0" y="393840"/>
            <a:chExt cx="8902440" cy="1627200"/>
          </a:xfrm>
        </p:grpSpPr>
        <p:sp>
          <p:nvSpPr>
            <p:cNvPr id="408" name="Freeform 62"/>
            <p:cNvSpPr/>
            <p:nvPr/>
          </p:nvSpPr>
          <p:spPr>
            <a:xfrm>
              <a:off x="0" y="393840"/>
              <a:ext cx="268920" cy="268920"/>
            </a:xfrm>
            <a:custGeom>
              <a:avLst/>
              <a:gdLst>
                <a:gd name="textAreaLeft" fmla="*/ 0 w 268920"/>
                <a:gd name="textAreaRight" fmla="*/ 270000 w 268920"/>
                <a:gd name="textAreaTop" fmla="*/ 0 h 268920"/>
                <a:gd name="textAreaBottom" fmla="*/ 270000 h 268920"/>
              </a:gdLst>
              <a:ahLst/>
              <a:cxnLst/>
              <a:rect l="textAreaLeft" t="textAreaTop" r="textAreaRight" b="textAreaBottom"/>
              <a:pathLst>
                <a:path w="450850" h="450850">
                  <a:moveTo>
                    <a:pt x="450850" y="450850"/>
                  </a:moveTo>
                  <a:lnTo>
                    <a:pt x="0" y="450850"/>
                  </a:lnTo>
                  <a:lnTo>
                    <a:pt x="450850" y="0"/>
                  </a:lnTo>
                  <a:close/>
                </a:path>
              </a:pathLst>
            </a:custGeom>
            <a:solidFill>
              <a:srgbClr val="0034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  <p:sp>
          <p:nvSpPr>
            <p:cNvPr id="409" name="Freeform 63"/>
            <p:cNvSpPr/>
            <p:nvPr/>
          </p:nvSpPr>
          <p:spPr>
            <a:xfrm>
              <a:off x="0" y="663480"/>
              <a:ext cx="8902440" cy="1357560"/>
            </a:xfrm>
            <a:custGeom>
              <a:avLst/>
              <a:gdLst>
                <a:gd name="textAreaLeft" fmla="*/ 0 w 8902440"/>
                <a:gd name="textAreaRight" fmla="*/ 8903520 w 8902440"/>
                <a:gd name="textAreaTop" fmla="*/ 0 h 1357560"/>
                <a:gd name="textAreaBottom" fmla="*/ 1358640 h 1357560"/>
              </a:gdLst>
              <a:ahLst/>
              <a:cxnLst/>
              <a:rect l="textAreaLeft" t="textAreaTop" r="textAreaRight" b="textAreaBottom"/>
              <a:pathLst>
                <a:path w="14874689" h="2269490">
                  <a:moveTo>
                    <a:pt x="14285409" y="0"/>
                  </a:moveTo>
                  <a:lnTo>
                    <a:pt x="0" y="0"/>
                  </a:lnTo>
                  <a:lnTo>
                    <a:pt x="0" y="2269490"/>
                  </a:lnTo>
                  <a:lnTo>
                    <a:pt x="14285409" y="2269490"/>
                  </a:lnTo>
                  <a:lnTo>
                    <a:pt x="14285409" y="2268220"/>
                  </a:lnTo>
                  <a:lnTo>
                    <a:pt x="14874689" y="1134110"/>
                  </a:lnTo>
                  <a:close/>
                </a:path>
              </a:pathLst>
            </a:custGeom>
            <a:solidFill>
              <a:srgbClr val="a2c73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1" lang="pt-BR" sz="1800" strike="noStrike" u="none">
                <a:solidFill>
                  <a:schemeClr val="dk1"/>
                </a:solidFill>
                <a:effectLst/>
                <a:uFillTx/>
                <a:latin typeface="Avenir LT Std 55 Roman"/>
              </a:endParaRPr>
            </a:p>
          </p:txBody>
        </p:sp>
      </p:grpSp>
      <p:sp>
        <p:nvSpPr>
          <p:cNvPr id="410" name="TextBox 160"/>
          <p:cNvSpPr/>
          <p:nvPr/>
        </p:nvSpPr>
        <p:spPr>
          <a:xfrm>
            <a:off x="5740560" y="6418800"/>
            <a:ext cx="327924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Lidian Katlheen R. Oliveira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161"/>
          <p:cNvSpPr/>
          <p:nvPr/>
        </p:nvSpPr>
        <p:spPr>
          <a:xfrm>
            <a:off x="5740560" y="6673680"/>
            <a:ext cx="3405600" cy="53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Instrutor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Téc. Segurança do Trabalho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1409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Reg: 0023880/GO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162"/>
          <p:cNvSpPr/>
          <p:nvPr/>
        </p:nvSpPr>
        <p:spPr>
          <a:xfrm>
            <a:off x="1395000" y="6892920"/>
            <a:ext cx="2082600" cy="14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</a:pPr>
            <a:r>
              <a:rPr b="0" lang="pt-BR" sz="1400" spc="116" strike="noStrike" u="none">
                <a:solidFill>
                  <a:srgbClr val="2e2e2e"/>
                </a:solidFill>
                <a:effectLst/>
                <a:uFillTx/>
                <a:latin typeface="Arial"/>
                <a:ea typeface="Open Sans"/>
              </a:rPr>
              <a:t>Aluno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163"/>
          <p:cNvSpPr/>
          <p:nvPr/>
        </p:nvSpPr>
        <p:spPr>
          <a:xfrm>
            <a:off x="1003320" y="2716560"/>
            <a:ext cx="925596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00"/>
              </a:lnSpc>
            </a:pPr>
            <a:r>
              <a:rPr b="1" lang="pt-BR" sz="32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LAURA EXEMPLO DA MELO VIANA 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00"/>
              </a:lnSpc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CPF: </a:t>
            </a:r>
            <a:r>
              <a:rPr b="1" lang="pt-BR" sz="2800" strike="noStrike" u="none">
                <a:solidFill>
                  <a:schemeClr val="dk1"/>
                </a:solidFill>
                <a:effectLst/>
                <a:uFillTx/>
                <a:latin typeface="Avenir LT Std 55 Roman"/>
              </a:rPr>
              <a:t>000.000.000-00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164"/>
          <p:cNvSpPr/>
          <p:nvPr/>
        </p:nvSpPr>
        <p:spPr>
          <a:xfrm>
            <a:off x="1788480" y="1048680"/>
            <a:ext cx="711432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601"/>
              </a:lnSpc>
            </a:pPr>
            <a:r>
              <a:rPr b="1" lang="en-US" sz="5600" spc="499" strike="noStrike" u="none">
                <a:solidFill>
                  <a:srgbClr val="ffffff"/>
                </a:solidFill>
                <a:effectLst/>
                <a:uFillTx/>
                <a:latin typeface="Avenir LT Std 65 Medium"/>
              </a:rPr>
              <a:t>CERTIFICADO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165"/>
          <p:cNvSpPr/>
          <p:nvPr/>
        </p:nvSpPr>
        <p:spPr>
          <a:xfrm>
            <a:off x="1079640" y="3577680"/>
            <a:ext cx="8535240" cy="20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articipou e concluiu o Treinamento sobre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CIPA - Comissão Interna de Prevenção de Acidentes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(teórico e prático), realizado em 16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 17 de Janeiro  de 2026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 duração de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16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(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dezesseis)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horas, </a:t>
            </a: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pela empresa VOLGA ENGENHARIA INDUSTRIA E COMERCIO LTDA,  na Av. Elmar Arantes Cabral, SN, Quadra 001, Lote 5, Parque Industrial Vice-Presidente José Alencar, Aparecida de Goiânia-GO inscrita no CNPJ: 03.347.463/0001 -12. em conformidade com a norma regulamentadora Nº 05, item 5.7.4 letra C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</a:pPr>
            <a:r>
              <a:rPr b="0" lang="en-US" sz="20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166"/>
          <p:cNvSpPr/>
          <p:nvPr/>
        </p:nvSpPr>
        <p:spPr>
          <a:xfrm>
            <a:off x="1079280" y="210204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0" lang="en-US" sz="1750" spc="187" strike="noStrike" u="none">
                <a:solidFill>
                  <a:srgbClr val="000000"/>
                </a:solidFill>
                <a:effectLst/>
                <a:uFillTx/>
                <a:latin typeface="Avenir LT Std 55 Roman"/>
              </a:rPr>
              <a:t>CERTIFICAMOS QUE O ALUNO</a:t>
            </a:r>
            <a:endParaRPr b="0" lang="pt-BR" sz="1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167"/>
          <p:cNvSpPr/>
          <p:nvPr/>
        </p:nvSpPr>
        <p:spPr>
          <a:xfrm>
            <a:off x="720000" y="6446160"/>
            <a:ext cx="4108680" cy="17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400"/>
              </a:lnSpc>
            </a:pPr>
            <a:r>
              <a:rPr b="1" lang="pt-BR" sz="1400" spc="187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Laura Exemplo Da Melo Viana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8" name="Conector reto 41"/>
          <p:cNvCxnSpPr/>
          <p:nvPr/>
        </p:nvCxnSpPr>
        <p:spPr>
          <a:xfrm flipV="1">
            <a:off x="1002960" y="6201720"/>
            <a:ext cx="3231000" cy="57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  <p:cxnSp>
        <p:nvCxnSpPr>
          <p:cNvPr id="419" name="Conector reto 42"/>
          <p:cNvCxnSpPr/>
          <p:nvPr/>
        </p:nvCxnSpPr>
        <p:spPr>
          <a:xfrm>
            <a:off x="5772240" y="6207120"/>
            <a:ext cx="3130920" cy="360"/>
          </a:xfrm>
          <a:prstGeom prst="straightConnector1">
            <a:avLst/>
          </a:prstGeom>
          <a:ln w="9360">
            <a:solidFill>
              <a:srgbClr val="000000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TextBox 189"/>
          <p:cNvSpPr/>
          <p:nvPr/>
        </p:nvSpPr>
        <p:spPr>
          <a:xfrm>
            <a:off x="317520" y="1035000"/>
            <a:ext cx="9919440" cy="54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a)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Estudo do ambiente, das condições de trabalho, bem como dos riscos originados do processo produtivo;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b)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acidentes e doenças relacionadas ao trabalho decorrentes das condições de trabalho e da exposição aos riscos existentes no estabelecimento e suas medidas de prevenção;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c)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Metodologia de investigação e análise de acidentes e doenças relacionadas ao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d)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princípios gerais de higiene do trabalho e de medidas de prevenção dos riscos;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e) 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Noções sobre as legislações trabalhista e previdenciária relativas à segurança e saúde no trabalho;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f)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Noções sobre a inclusão de pessoas com deficiência e reabilitados nos processos de trabalho; e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g)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Organização da CIPA e outros assuntos necessários ao exercício das atribuições da Comissão.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h)</a:t>
            </a:r>
            <a:r>
              <a:rPr b="0" lang="pt-BR" sz="2000" spc="187" strike="noStrike" u="none">
                <a:solidFill>
                  <a:srgbClr val="000000"/>
                </a:solidFill>
                <a:effectLst/>
                <a:uFillTx/>
                <a:latin typeface="Avenir Next LT Pro"/>
              </a:rPr>
              <a:t> prevenção e combate ao assédio sexual e a outras formas de violência no trabalho.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190"/>
          <p:cNvSpPr/>
          <p:nvPr/>
        </p:nvSpPr>
        <p:spPr>
          <a:xfrm>
            <a:off x="1079640" y="425160"/>
            <a:ext cx="5928480" cy="2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749"/>
              </a:lnSpc>
            </a:pP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CONTEÚDO PR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O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G</a:t>
            </a:r>
            <a:r>
              <a:rPr b="1" lang="pt-BR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RA</a:t>
            </a:r>
            <a:r>
              <a:rPr b="1" lang="en-US" sz="2000" spc="187" strike="noStrike" u="none">
                <a:solidFill>
                  <a:srgbClr val="000000"/>
                </a:solidFill>
                <a:effectLst/>
                <a:uFillTx/>
                <a:latin typeface="Avenir LT Std 45 Book"/>
                <a:ea typeface="Open Sans"/>
              </a:rPr>
              <a:t>MÁTICO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LibreOffice/25.2.6.2$Linux_X86_64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2026-01-16T11:10:28Z</dcterms:created>
  <dc:creator/>
  <dc:description/>
  <dc:language>pt-BR</dc:language>
  <cp:lastModifiedBy/>
  <cp:lastPrinted>2026-01-16T11:16:29Z</cp:lastPrinted>
  <dcterms:modified xsi:type="dcterms:W3CDTF">2026-01-16T11:27:22Z</dcterms:modified>
  <cp:revision>2</cp:revision>
  <dc:subject/>
  <dc:title>of Achievement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7184A5A35B804543BFB3A714F2F08296</vt:lpwstr>
  </property>
  <property fmtid="{D5CDD505-2E9C-101B-9397-08002B2CF9AE}" pid="3" name="KSOProductBuildVer">
    <vt:lpwstr>1046-12.2.0.13359</vt:lpwstr>
  </property>
  <property fmtid="{D5CDD505-2E9C-101B-9397-08002B2CF9AE}" pid="4" name="PresentationFormat">
    <vt:lpwstr>Personalizar</vt:lpwstr>
  </property>
  <property fmtid="{D5CDD505-2E9C-101B-9397-08002B2CF9AE}" pid="5" name="Slides">
    <vt:r8>2</vt:r8>
  </property>
</Properties>
</file>