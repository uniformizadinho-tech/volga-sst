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693400" cy="75565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44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5880" cy="48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11"/>
          <p:cNvPicPr/>
          <p:nvPr/>
        </p:nvPicPr>
        <p:blipFill>
          <a:blip r:embed="rId2"/>
          <a:stretch/>
        </p:blipFill>
        <p:spPr>
          <a:xfrm>
            <a:off x="9275400" y="6143400"/>
            <a:ext cx="1414800" cy="14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165F9A2A-97FE-4599-B39D-D0450D83B780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5880" cy="48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11"/>
          <p:cNvPicPr/>
          <p:nvPr/>
        </p:nvPicPr>
        <p:blipFill>
          <a:blip r:embed="rId2"/>
          <a:stretch/>
        </p:blipFill>
        <p:spPr>
          <a:xfrm>
            <a:off x="9275400" y="6143400"/>
            <a:ext cx="1414800" cy="14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480" cy="438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2" name="PlaceHolder 6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A8E1ABA9-8E97-477C-81E0-E080709A689B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7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5880" cy="48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11"/>
          <p:cNvPicPr/>
          <p:nvPr/>
        </p:nvPicPr>
        <p:blipFill>
          <a:blip r:embed="rId2"/>
          <a:stretch/>
        </p:blipFill>
        <p:spPr>
          <a:xfrm>
            <a:off x="9275400" y="6143400"/>
            <a:ext cx="1414800" cy="14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480" cy="438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465880" y="405720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1" name="PlaceHolder 6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D3FBECD4-4783-41C2-BC71-997296F725FA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7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4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5880" cy="48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11"/>
          <p:cNvPicPr/>
          <p:nvPr/>
        </p:nvPicPr>
        <p:blipFill>
          <a:blip r:embed="rId2"/>
          <a:stretch/>
        </p:blipFill>
        <p:spPr>
          <a:xfrm>
            <a:off x="9275400" y="6143400"/>
            <a:ext cx="1414800" cy="14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962280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0" name="PlaceHolder 6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891E314C-06B8-4E5E-B111-81606950ECA9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7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4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5880" cy="48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Picture 11"/>
          <p:cNvPicPr/>
          <p:nvPr/>
        </p:nvPicPr>
        <p:blipFill>
          <a:blip r:embed="rId2"/>
          <a:stretch/>
        </p:blipFill>
        <p:spPr>
          <a:xfrm>
            <a:off x="9275400" y="6143400"/>
            <a:ext cx="1414800" cy="14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E7A44DE6-BFAB-47CF-B7DB-C8D29D6B20EB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37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160" cy="126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160" cy="438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4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5880" cy="48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Picture 11"/>
          <p:cNvPicPr/>
          <p:nvPr/>
        </p:nvPicPr>
        <p:blipFill>
          <a:blip r:embed="rId2"/>
          <a:stretch/>
        </p:blipFill>
        <p:spPr>
          <a:xfrm>
            <a:off x="9275400" y="6143400"/>
            <a:ext cx="1414800" cy="14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280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534600" y="4057200"/>
            <a:ext cx="962280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B40DA72B-BC7C-4218-A866-15785AA8A299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5880" cy="48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Picture 11"/>
          <p:cNvPicPr/>
          <p:nvPr/>
        </p:nvPicPr>
        <p:blipFill>
          <a:blip r:embed="rId2"/>
          <a:stretch/>
        </p:blipFill>
        <p:spPr>
          <a:xfrm>
            <a:off x="9275400" y="6143400"/>
            <a:ext cx="1414800" cy="14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5465880" y="405720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5" name="PlaceHolder 7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7B932A5B-06AD-494F-BF78-69D6AB4CAACB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4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5880" cy="48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11"/>
          <p:cNvPicPr/>
          <p:nvPr/>
        </p:nvPicPr>
        <p:blipFill>
          <a:blip r:embed="rId2"/>
          <a:stretch/>
        </p:blipFill>
        <p:spPr>
          <a:xfrm>
            <a:off x="9275400" y="6143400"/>
            <a:ext cx="1414800" cy="14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309780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0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3788280" y="1767960"/>
            <a:ext cx="309780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0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7042320" y="1767960"/>
            <a:ext cx="309780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0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534600" y="4057200"/>
            <a:ext cx="309780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0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body"/>
          </p:nvPr>
        </p:nvSpPr>
        <p:spPr>
          <a:xfrm>
            <a:off x="3788280" y="4057200"/>
            <a:ext cx="309780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0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7"/>
          <p:cNvSpPr>
            <a:spLocks noGrp="1"/>
          </p:cNvSpPr>
          <p:nvPr>
            <p:ph type="body"/>
          </p:nvPr>
        </p:nvSpPr>
        <p:spPr>
          <a:xfrm>
            <a:off x="7042320" y="4057200"/>
            <a:ext cx="3097800" cy="208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0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8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7" name="PlaceHolder 9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351BA928-EB14-45FF-9F7E-1EF4A0BD8839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10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4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5880" cy="48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11"/>
          <p:cNvPicPr/>
          <p:nvPr/>
        </p:nvPicPr>
        <p:blipFill>
          <a:blip r:embed="rId2"/>
          <a:stretch/>
        </p:blipFill>
        <p:spPr>
          <a:xfrm>
            <a:off x="9275400" y="6143400"/>
            <a:ext cx="1414800" cy="14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6148E131-FC35-4334-B2CF-979C4FFE4DC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4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5880" cy="48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11"/>
          <p:cNvPicPr/>
          <p:nvPr/>
        </p:nvPicPr>
        <p:blipFill>
          <a:blip r:embed="rId2"/>
          <a:stretch/>
        </p:blipFill>
        <p:spPr>
          <a:xfrm>
            <a:off x="9275400" y="6143400"/>
            <a:ext cx="1414800" cy="14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4FE0A021-C419-4A03-9A3E-CB607CDB1323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4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5880" cy="48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Picture 11"/>
          <p:cNvPicPr/>
          <p:nvPr/>
        </p:nvPicPr>
        <p:blipFill>
          <a:blip r:embed="rId2"/>
          <a:stretch/>
        </p:blipFill>
        <p:spPr>
          <a:xfrm>
            <a:off x="9275400" y="6143400"/>
            <a:ext cx="1414800" cy="14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480" cy="438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480" cy="438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88" name="PlaceHolder 5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4AA857F2-AE65-4620-B1D0-4665260DD6A7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4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5880" cy="48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11"/>
          <p:cNvPicPr/>
          <p:nvPr/>
        </p:nvPicPr>
        <p:blipFill>
          <a:blip r:embed="rId2"/>
          <a:stretch/>
        </p:blipFill>
        <p:spPr>
          <a:xfrm>
            <a:off x="9275400" y="6143400"/>
            <a:ext cx="1414800" cy="14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0454EE24-34CD-4687-937A-B1FEA918FF7B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2"/>
          <p:cNvGrpSpPr/>
          <p:nvPr/>
        </p:nvGrpSpPr>
        <p:grpSpPr>
          <a:xfrm>
            <a:off x="2625480" y="936360"/>
            <a:ext cx="8070480" cy="951120"/>
            <a:chOff x="2625480" y="936360"/>
            <a:chExt cx="8070480" cy="951120"/>
          </a:xfrm>
        </p:grpSpPr>
        <p:sp>
          <p:nvSpPr>
            <p:cNvPr id="97" name="Freeform 3"/>
            <p:cNvSpPr/>
            <p:nvPr/>
          </p:nvSpPr>
          <p:spPr>
            <a:xfrm>
              <a:off x="2625480" y="936360"/>
              <a:ext cx="8070480" cy="951120"/>
            </a:xfrm>
            <a:custGeom>
              <a:avLst/>
              <a:gdLst>
                <a:gd name="textAreaLeft" fmla="*/ 0 w 8070480"/>
                <a:gd name="textAreaRight" fmla="*/ 8072280 w 8070480"/>
                <a:gd name="textAreaTop" fmla="*/ 0 h 951120"/>
                <a:gd name="textAreaBottom" fmla="*/ 952920 h 95112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" name="AutoShape 5"/>
          <p:cNvSpPr/>
          <p:nvPr/>
        </p:nvSpPr>
        <p:spPr>
          <a:xfrm>
            <a:off x="1923480" y="2965320"/>
            <a:ext cx="6408360" cy="360"/>
          </a:xfrm>
          <a:prstGeom prst="line">
            <a:avLst/>
          </a:prstGeom>
          <a:ln w="47625" cap="rnd">
            <a:solidFill>
              <a:srgbClr val="A2C7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Group 8"/>
          <p:cNvGrpSpPr/>
          <p:nvPr/>
        </p:nvGrpSpPr>
        <p:grpSpPr>
          <a:xfrm>
            <a:off x="0" y="393840"/>
            <a:ext cx="8901720" cy="1626480"/>
            <a:chOff x="0" y="393840"/>
            <a:chExt cx="8901720" cy="1626480"/>
          </a:xfrm>
        </p:grpSpPr>
        <p:sp>
          <p:nvSpPr>
            <p:cNvPr id="100" name="Freeform 9"/>
            <p:cNvSpPr/>
            <p:nvPr/>
          </p:nvSpPr>
          <p:spPr>
            <a:xfrm>
              <a:off x="0" y="393840"/>
              <a:ext cx="268200" cy="268200"/>
            </a:xfrm>
            <a:custGeom>
              <a:avLst/>
              <a:gdLst>
                <a:gd name="textAreaLeft" fmla="*/ 0 w 268200"/>
                <a:gd name="textAreaRight" fmla="*/ 270000 w 268200"/>
                <a:gd name="textAreaTop" fmla="*/ 0 h 268200"/>
                <a:gd name="textAreaBottom" fmla="*/ 270000 h 26820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Freeform 10"/>
            <p:cNvSpPr/>
            <p:nvPr/>
          </p:nvSpPr>
          <p:spPr>
            <a:xfrm>
              <a:off x="0" y="663480"/>
              <a:ext cx="8901720" cy="1356840"/>
            </a:xfrm>
            <a:custGeom>
              <a:avLst/>
              <a:gdLst>
                <a:gd name="textAreaLeft" fmla="*/ 0 w 8901720"/>
                <a:gd name="textAreaRight" fmla="*/ 8903520 w 8901720"/>
                <a:gd name="textAreaTop" fmla="*/ 0 h 1356840"/>
                <a:gd name="textAreaBottom" fmla="*/ 1358640 h 135684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" name="TextBox 16"/>
          <p:cNvSpPr/>
          <p:nvPr/>
        </p:nvSpPr>
        <p:spPr>
          <a:xfrm>
            <a:off x="1923840" y="2555640"/>
            <a:ext cx="6406560" cy="81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ts val="32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IRENE EXEMPLO DE MELO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CPF:  000.000.000-00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1788480" y="1041120"/>
            <a:ext cx="7113600" cy="71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601"/>
              </a:lnSpc>
            </a:pPr>
            <a:r>
              <a:rPr lang="en-US" sz="5600" b="1" u="none" strike="noStrike" spc="496">
                <a:solidFill>
                  <a:srgbClr val="FFFFFF"/>
                </a:solidFill>
                <a:effectLst/>
                <a:uFillTx/>
                <a:latin typeface="Avenir Next LT Pro"/>
              </a:rPr>
              <a:t>CERTIFICADO</a:t>
            </a:r>
            <a:endParaRPr lang="pt-BR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952200" y="3430800"/>
            <a:ext cx="8785800" cy="91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0" u="none" strike="noStrike" spc="184" dirty="0" err="1">
                <a:solidFill>
                  <a:srgbClr val="000000"/>
                </a:solidFill>
                <a:effectLst/>
                <a:uFillTx/>
                <a:latin typeface="Arial"/>
              </a:rPr>
              <a:t>Concluiu</a:t>
            </a:r>
            <a:r>
              <a:rPr lang="en-US" sz="2000" b="0" u="none" strike="noStrike" spc="184" dirty="0">
                <a:solidFill>
                  <a:srgbClr val="000000"/>
                </a:solidFill>
                <a:effectLst/>
                <a:uFillTx/>
                <a:latin typeface="Arial"/>
              </a:rPr>
              <a:t> com </a:t>
            </a:r>
            <a:r>
              <a:rPr lang="en-US" sz="2000" b="0" u="none" strike="noStrike" spc="184" dirty="0" err="1">
                <a:solidFill>
                  <a:srgbClr val="000000"/>
                </a:solidFill>
                <a:effectLst/>
                <a:uFillTx/>
                <a:latin typeface="Arial"/>
              </a:rPr>
              <a:t>proficiência</a:t>
            </a:r>
            <a:r>
              <a:rPr lang="en-US" sz="2000" b="0" u="none" strike="noStrike" spc="184" dirty="0">
                <a:solidFill>
                  <a:srgbClr val="000000"/>
                </a:solidFill>
                <a:effectLst/>
                <a:uFillTx/>
                <a:latin typeface="Arial"/>
              </a:rPr>
              <a:t> o </a:t>
            </a:r>
            <a:r>
              <a:rPr lang="en-US" sz="2000" b="0" u="none" strike="noStrike" spc="184" dirty="0" err="1">
                <a:solidFill>
                  <a:srgbClr val="000000"/>
                </a:solidFill>
                <a:effectLst/>
                <a:uFillTx/>
                <a:latin typeface="Arial"/>
              </a:rPr>
              <a:t>treinamento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u="none" strike="noStrike" spc="184" dirty="0">
                <a:solidFill>
                  <a:srgbClr val="000000"/>
                </a:solidFill>
                <a:effectLst/>
                <a:uFillTx/>
                <a:latin typeface="Arial"/>
              </a:rPr>
              <a:t> NR11 - Transporte </a:t>
            </a:r>
            <a:r>
              <a:rPr lang="en-US" sz="2000" b="1" u="none" strike="noStrike" spc="184" dirty="0" err="1">
                <a:solidFill>
                  <a:srgbClr val="000000"/>
                </a:solidFill>
                <a:effectLst/>
                <a:uFillTx/>
                <a:latin typeface="Arial"/>
              </a:rPr>
              <a:t>Movimentação</a:t>
            </a:r>
            <a:r>
              <a:rPr lang="en-US" sz="2000" b="1" u="none" strike="noStrike" spc="184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1" u="none" strike="noStrike" spc="184" dirty="0" err="1">
                <a:solidFill>
                  <a:srgbClr val="000000"/>
                </a:solidFill>
                <a:effectLst/>
                <a:uFillTx/>
                <a:latin typeface="Arial"/>
              </a:rPr>
              <a:t>Armazenagem</a:t>
            </a:r>
            <a:r>
              <a:rPr lang="en-US" sz="2000" b="1" u="none" strike="noStrike" spc="184" dirty="0">
                <a:solidFill>
                  <a:srgbClr val="000000"/>
                </a:solidFill>
                <a:effectLst/>
                <a:uFillTx/>
                <a:latin typeface="Arial"/>
              </a:rPr>
              <a:t> e</a:t>
            </a:r>
            <a:r>
              <a:rPr lang="pt-BR" sz="2000" b="1" u="none" strike="noStrike" spc="184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1" u="none" strike="noStrike" spc="184" dirty="0" err="1">
                <a:solidFill>
                  <a:srgbClr val="000000"/>
                </a:solidFill>
                <a:effectLst/>
                <a:uFillTx/>
                <a:latin typeface="Arial"/>
              </a:rPr>
              <a:t>Manuseio</a:t>
            </a:r>
            <a:r>
              <a:rPr lang="en-US" sz="2000" b="1" u="none" strike="noStrike" spc="184" dirty="0">
                <a:solidFill>
                  <a:srgbClr val="000000"/>
                </a:solidFill>
                <a:effectLst/>
                <a:uFillTx/>
                <a:latin typeface="Arial"/>
              </a:rPr>
              <a:t> de</a:t>
            </a:r>
            <a:r>
              <a:rPr lang="pt-BR" sz="2000" b="1" u="none" strike="noStrike" spc="184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1" u="none" strike="noStrike" spc="184" dirty="0" err="1">
                <a:solidFill>
                  <a:srgbClr val="000000"/>
                </a:solidFill>
                <a:effectLst/>
                <a:uFillTx/>
                <a:latin typeface="Arial"/>
              </a:rPr>
              <a:t>Materiais</a:t>
            </a:r>
            <a:r>
              <a:rPr lang="en-US" sz="2000" b="1" u="none" strike="noStrike" spc="184" dirty="0">
                <a:solidFill>
                  <a:srgbClr val="000000"/>
                </a:solidFill>
                <a:effectLst/>
                <a:uFillTx/>
                <a:latin typeface="Arial"/>
              </a:rPr>
              <a:t> - </a:t>
            </a:r>
            <a:r>
              <a:rPr lang="pt-BR" sz="2000" b="1" u="none" strike="noStrike" spc="184" dirty="0">
                <a:solidFill>
                  <a:srgbClr val="000000"/>
                </a:solidFill>
                <a:effectLst/>
                <a:uFillTx/>
                <a:latin typeface="Arial"/>
              </a:rPr>
              <a:t>Empilhadeira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9"/>
          <p:cNvSpPr/>
          <p:nvPr/>
        </p:nvSpPr>
        <p:spPr>
          <a:xfrm>
            <a:off x="1923480" y="2099520"/>
            <a:ext cx="592776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1750" b="0" u="none" strike="noStrike" spc="184">
                <a:solidFill>
                  <a:srgbClr val="000000"/>
                </a:solidFill>
                <a:effectLst/>
                <a:uFillTx/>
                <a:latin typeface="Avenir Next LT Pro"/>
              </a:rPr>
              <a:t>CERTIFICAMOS QUE O COLABORADOR</a:t>
            </a:r>
            <a:endParaRPr lang="pt-BR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aixa de Texto 3"/>
          <p:cNvSpPr/>
          <p:nvPr/>
        </p:nvSpPr>
        <p:spPr>
          <a:xfrm>
            <a:off x="866520" y="4368960"/>
            <a:ext cx="8925840" cy="16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17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Concluiu em 10 de Janeiro de 2026, o curso de NR11 – Transporte, Movimentação, Armazenagem e Manuseio de Materiais, realizado na empresa Volga Engenharia Ind. E comércio Ltda na Av. Elmar Arantes Cabral, SN, Quadra 001, Lote 5, CEP 74.993-535, Parque Industrial Vice-Presidente José Alencar, Aparecida de Goiânia-GO - CNPJ: 03.347.463/0001-12. Carga horária de 08 (oito) horas conforme determina legislação aplicável.</a:t>
            </a:r>
            <a:endParaRPr lang="pt-BR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6"/>
          <p:cNvPicPr/>
          <p:nvPr/>
        </p:nvPicPr>
        <p:blipFill>
          <a:blip r:embed="rId2"/>
          <a:stretch/>
        </p:blipFill>
        <p:spPr>
          <a:xfrm>
            <a:off x="6627240" y="6323400"/>
            <a:ext cx="2496960" cy="2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7"/>
          <p:cNvPicPr/>
          <p:nvPr/>
        </p:nvPicPr>
        <p:blipFill>
          <a:blip r:embed="rId2"/>
          <a:stretch/>
        </p:blipFill>
        <p:spPr>
          <a:xfrm>
            <a:off x="893520" y="6305760"/>
            <a:ext cx="2496960" cy="2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Box 12"/>
          <p:cNvSpPr/>
          <p:nvPr/>
        </p:nvSpPr>
        <p:spPr>
          <a:xfrm>
            <a:off x="6649920" y="6390000"/>
            <a:ext cx="252972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400"/>
              </a:lnSpc>
            </a:pPr>
            <a:r>
              <a:rPr lang="pt-BR" sz="1300" b="1" u="none" strike="noStrike" spc="184">
                <a:solidFill>
                  <a:srgbClr val="000000"/>
                </a:solidFill>
                <a:effectLst/>
                <a:uFillTx/>
                <a:latin typeface="Arial"/>
              </a:rPr>
              <a:t>Lidian Katlheen R. de Oliveira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6305400" y="6745320"/>
            <a:ext cx="269424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395"/>
              </a:lnSpc>
            </a:pPr>
            <a:br>
              <a:rPr sz="1400"/>
            </a:b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5"/>
          <p:cNvSpPr/>
          <p:nvPr/>
        </p:nvSpPr>
        <p:spPr>
          <a:xfrm>
            <a:off x="1070640" y="6840000"/>
            <a:ext cx="208188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</a:pPr>
            <a:r>
              <a:rPr lang="pt-BR" sz="1300" b="0" u="none" strike="noStrike" spc="113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Next LT Pro"/>
                <a:ea typeface="Open Sans"/>
              </a:rPr>
              <a:t>Colaborador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2"/>
          <p:cNvSpPr/>
          <p:nvPr/>
        </p:nvSpPr>
        <p:spPr>
          <a:xfrm>
            <a:off x="847080" y="6388200"/>
            <a:ext cx="2529720" cy="17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u="none" strike="noStrike" spc="184">
                <a:solidFill>
                  <a:srgbClr val="000000"/>
                </a:solidFill>
                <a:effectLst/>
                <a:uFillTx/>
                <a:latin typeface="Arial"/>
              </a:rPr>
              <a:t>Irene E. de Melo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Picture 7"/>
          <p:cNvPicPr/>
          <p:nvPr/>
        </p:nvPicPr>
        <p:blipFill>
          <a:blip r:embed="rId2"/>
          <a:stretch/>
        </p:blipFill>
        <p:spPr>
          <a:xfrm>
            <a:off x="3736080" y="6316920"/>
            <a:ext cx="2496960" cy="2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CaixaDeTexto 21"/>
          <p:cNvSpPr/>
          <p:nvPr/>
        </p:nvSpPr>
        <p:spPr>
          <a:xfrm>
            <a:off x="3600000" y="6480000"/>
            <a:ext cx="2631600" cy="98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ts val="1409"/>
              </a:lnSpc>
            </a:pPr>
            <a:r>
              <a:rPr lang="pt-BR" sz="1300" b="0" u="none" strike="noStrike" spc="113">
                <a:solidFill>
                  <a:srgbClr val="2E2E2E"/>
                </a:solidFill>
                <a:effectLst/>
                <a:uFillTx/>
                <a:latin typeface="Avenir Next LT Pro"/>
                <a:ea typeface="Open Sans"/>
              </a:rPr>
              <a:t>Responsável Técnico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lang="pt-BR" sz="1300" b="0" u="none" strike="noStrike" spc="113">
                <a:solidFill>
                  <a:srgbClr val="2E2E2E"/>
                </a:solidFill>
                <a:effectLst/>
                <a:uFillTx/>
                <a:latin typeface="Avenir Next LT Pro"/>
                <a:ea typeface="Open Sans"/>
              </a:rPr>
              <a:t>Engenheiro Mecânico e Segurança do Trabalho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lang="pt-BR" sz="1300" b="0" u="none" strike="noStrike" spc="113">
                <a:solidFill>
                  <a:srgbClr val="2E2E2E"/>
                </a:solidFill>
                <a:effectLst/>
                <a:uFillTx/>
                <a:latin typeface="Avenir Next LT Pro"/>
                <a:ea typeface="Open Sans"/>
              </a:rPr>
              <a:t>Crea: 102114193D/GO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aixaDeTexto 25"/>
          <p:cNvSpPr/>
          <p:nvPr/>
        </p:nvSpPr>
        <p:spPr>
          <a:xfrm>
            <a:off x="3598920" y="6338880"/>
            <a:ext cx="2766240" cy="26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u="none" strike="noStrike" spc="184">
                <a:solidFill>
                  <a:srgbClr val="000000"/>
                </a:solidFill>
                <a:effectLst/>
                <a:uFillTx/>
                <a:latin typeface="Arial"/>
              </a:rPr>
              <a:t>Daniel Moreira Oliveira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3"/>
          <p:cNvSpPr/>
          <p:nvPr/>
        </p:nvSpPr>
        <p:spPr>
          <a:xfrm>
            <a:off x="6408720" y="6745320"/>
            <a:ext cx="3084480" cy="53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409"/>
              </a:lnSpc>
            </a:pPr>
            <a:r>
              <a:rPr lang="pt-BR" sz="1300" b="0" u="none" strike="noStrike" spc="113">
                <a:solidFill>
                  <a:srgbClr val="2E2E2E"/>
                </a:solidFill>
                <a:effectLst/>
                <a:uFillTx/>
                <a:latin typeface="Avenir Next LT Pro"/>
                <a:ea typeface="Open Sans"/>
              </a:rPr>
              <a:t>Instrutor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lang="pt-BR" sz="1300" b="0" u="none" strike="noStrike" spc="113">
                <a:solidFill>
                  <a:srgbClr val="2E2E2E"/>
                </a:solidFill>
                <a:effectLst/>
                <a:uFillTx/>
                <a:latin typeface="Avenir Next LT Pro"/>
                <a:ea typeface="Open Sans"/>
              </a:rPr>
              <a:t>Téc. Segurança do Trabalho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lang="pt-BR" sz="1300" b="0" u="none" strike="noStrike" spc="113">
                <a:solidFill>
                  <a:srgbClr val="2E2E2E"/>
                </a:solidFill>
                <a:effectLst/>
                <a:uFillTx/>
                <a:latin typeface="Avenir Next LT Pro"/>
                <a:ea typeface="Open Sans"/>
              </a:rPr>
              <a:t>Reg: 0023880/GO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9"/>
          <p:cNvSpPr/>
          <p:nvPr/>
        </p:nvSpPr>
        <p:spPr>
          <a:xfrm>
            <a:off x="3164760" y="121680"/>
            <a:ext cx="592776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1800" b="1" u="none" strike="noStrike" spc="184">
                <a:solidFill>
                  <a:srgbClr val="000000"/>
                </a:solidFill>
                <a:effectLst/>
                <a:uFillTx/>
                <a:latin typeface="Arial"/>
                <a:ea typeface="Open Sans"/>
              </a:rPr>
              <a:t>CONTEÚDO PR</a:t>
            </a:r>
            <a:r>
              <a:rPr lang="pt-BR" sz="1800" b="1" u="none" strike="noStrike" spc="184">
                <a:solidFill>
                  <a:srgbClr val="000000"/>
                </a:solidFill>
                <a:effectLst/>
                <a:uFillTx/>
                <a:latin typeface="Arial"/>
                <a:ea typeface="Open Sans"/>
              </a:rPr>
              <a:t>O</a:t>
            </a:r>
            <a:r>
              <a:rPr lang="en-US" sz="1800" b="1" u="none" strike="noStrike" spc="184">
                <a:solidFill>
                  <a:srgbClr val="000000"/>
                </a:solidFill>
                <a:effectLst/>
                <a:uFillTx/>
                <a:latin typeface="Arial"/>
                <a:ea typeface="Open Sans"/>
              </a:rPr>
              <a:t>G</a:t>
            </a:r>
            <a:r>
              <a:rPr lang="pt-BR" sz="1800" b="1" u="none" strike="noStrike" spc="184">
                <a:solidFill>
                  <a:srgbClr val="000000"/>
                </a:solidFill>
                <a:effectLst/>
                <a:uFillTx/>
                <a:latin typeface="Arial"/>
                <a:ea typeface="Open Sans"/>
              </a:rPr>
              <a:t>RA</a:t>
            </a:r>
            <a:r>
              <a:rPr lang="en-US" sz="1800" b="1" u="none" strike="noStrike" spc="184">
                <a:solidFill>
                  <a:srgbClr val="000000"/>
                </a:solidFill>
                <a:effectLst/>
                <a:uFillTx/>
                <a:latin typeface="Arial"/>
                <a:ea typeface="Open Sans"/>
              </a:rPr>
              <a:t>MÁTICO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aixa de Texto 3"/>
          <p:cNvSpPr/>
          <p:nvPr/>
        </p:nvSpPr>
        <p:spPr>
          <a:xfrm>
            <a:off x="432360" y="299520"/>
            <a:ext cx="9268560" cy="715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Módulo: Parte Teórica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Introdução sobre operação de empilhadeira;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Conceitos e riscos relacionados a operação;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NR-11 Portaria 3214/78;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Equipamentos de Proteção Individual;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Observação diária – Checklist de Segurança;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Estabilidade e capacidade de carga;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Motores diesel, gasolina, elétrica e GLP;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Acidentes relacionados a operação com empilhadeira;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Preparativos operacionais: antes, durante e após funcionamento do motor;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Percepção de Riscos.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Tipos de Manutenção – Preditivas, Preventivas e Corretivas;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Sistema de Combate Incêndio;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Noções de Primeiros Socorros.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Inspeção visual da empilhadeira;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b) Módulo Prática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Conferências de níveis: Óleo do motor, óleo hidráulico, óleo de transmissão, óleo de freio, água do radiador e água de bateria;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Movimentação de paletes;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Movimentação de zig-zag;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Carregamento e Empilhamento;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Regras gerais de segurança para operador de empilhadeira;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Preencher checklist da empilhadeira;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Manobras: marcha à frente e marcha à ré, diferentes tipos de solo e rampa e carga e descarga com pallets.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Limpeza em geral da empilhadeira e ambiente.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</TotalTime>
  <Words>337</Words>
  <Application>Microsoft Office PowerPoint</Application>
  <PresentationFormat>Personalizar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0" baseType="lpstr">
      <vt:lpstr>OpenSymbol</vt:lpstr>
      <vt:lpstr>Arial</vt:lpstr>
      <vt:lpstr>Avenir Next LT Pro</vt:lpstr>
      <vt:lpstr>Calibri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 Achievement</dc:title>
  <dc:subject/>
  <dc:creator>Larissa Santana Rabelo</dc:creator>
  <dc:description/>
  <cp:lastModifiedBy>Volga Office</cp:lastModifiedBy>
  <cp:revision>46</cp:revision>
  <cp:lastPrinted>2026-01-20T11:40:28Z</cp:lastPrinted>
  <dcterms:created xsi:type="dcterms:W3CDTF">2006-08-16T00:00:00Z</dcterms:created>
  <dcterms:modified xsi:type="dcterms:W3CDTF">2026-02-16T19:18:15Z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5FD197FEF10A4E4FB139637E3CF775E3</vt:lpwstr>
  </property>
  <property fmtid="{D5CDD505-2E9C-101B-9397-08002B2CF9AE}" pid="3" name="KSOProductBuildVer">
    <vt:lpwstr>1046-11.2.0.10132</vt:lpwstr>
  </property>
  <property fmtid="{D5CDD505-2E9C-101B-9397-08002B2CF9AE}" pid="4" name="PresentationFormat">
    <vt:lpwstr>Personalizar</vt:lpwstr>
  </property>
  <property fmtid="{D5CDD505-2E9C-101B-9397-08002B2CF9AE}" pid="5" name="Slides">
    <vt:i4>2</vt:i4>
  </property>
</Properties>
</file>