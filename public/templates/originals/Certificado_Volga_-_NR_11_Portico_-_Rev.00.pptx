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</p:sldIdLst>
  <p:sldSz cx="10693400" cy="7556500"/>
  <p:notesSz cx="6797675" cy="9925050"/>
  <p:embeddedFontLst>
    <p:embeddedFont>
      <p:font typeface="Avenir LT Std 55 Roman" panose="020B0503020203020204" pitchFamily="34" charset="0"/>
      <p:regular r:id="rId4"/>
    </p:embeddedFont>
    <p:embeddedFont>
      <p:font typeface="Avenir Next LT Pro" panose="020B0504020202020204" pitchFamily="34" charset="0"/>
      <p:regular r:id="rId5"/>
      <p:bold r:id="rId6"/>
      <p:italic r:id="rId7"/>
      <p:boldItalic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8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428" y="42"/>
      </p:cViewPr>
      <p:guideLst>
        <p:guide orient="horz" pos="2136"/>
        <p:guide pos="2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4"/>
          <p:cNvPicPr>
            <a:picLocks noChangeAspect="1"/>
          </p:cNvPicPr>
          <p:nvPr userDrawn="1"/>
        </p:nvPicPr>
        <p:blipFill>
          <a:blip r:embed="rId13">
            <a:alphaModFix amt="15000"/>
          </a:blip>
          <a:srcRect l="20075" t="19761" r="21902" b="37364"/>
          <a:stretch>
            <a:fillRect/>
          </a:stretch>
        </p:blipFill>
        <p:spPr>
          <a:xfrm>
            <a:off x="1893681" y="2197996"/>
            <a:ext cx="6547602" cy="4838127"/>
          </a:xfrm>
          <a:prstGeom prst="rect">
            <a:avLst/>
          </a:prstGeom>
        </p:spPr>
      </p:pic>
      <p:pic>
        <p:nvPicPr>
          <p:cNvPr id="8" name="Picture 11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>
          <a:xfrm>
            <a:off x="9275274" y="6143274"/>
            <a:ext cx="1416726" cy="14167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25331" y="936181"/>
            <a:ext cx="8072443" cy="952867"/>
            <a:chOff x="0" y="0"/>
            <a:chExt cx="3815445" cy="4252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15445" cy="425295"/>
            </a:xfrm>
            <a:custGeom>
              <a:avLst/>
              <a:gdLst/>
              <a:ahLst/>
              <a:cxnLst/>
              <a:rect l="l" t="t" r="r" b="b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</p:spPr>
        </p:sp>
      </p:grpSp>
      <p:sp>
        <p:nvSpPr>
          <p:cNvPr id="5" name="AutoShape 5"/>
          <p:cNvSpPr/>
          <p:nvPr/>
        </p:nvSpPr>
        <p:spPr>
          <a:xfrm>
            <a:off x="1923309" y="3214180"/>
            <a:ext cx="6408283" cy="0"/>
          </a:xfrm>
          <a:prstGeom prst="line">
            <a:avLst/>
          </a:prstGeom>
          <a:ln w="47625" cap="rnd">
            <a:solidFill>
              <a:srgbClr val="A2C7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0" y="393789"/>
            <a:ext cx="8903644" cy="1627572"/>
            <a:chOff x="0" y="0"/>
            <a:chExt cx="14874689" cy="27190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850" cy="450850"/>
            </a:xfrm>
            <a:custGeom>
              <a:avLst/>
              <a:gdLst/>
              <a:ahLst/>
              <a:cxnLst/>
              <a:rect l="l" t="t" r="r" b="b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450850"/>
              <a:ext cx="14874689" cy="2269490"/>
            </a:xfrm>
            <a:custGeom>
              <a:avLst/>
              <a:gdLst/>
              <a:ahLst/>
              <a:cxnLst/>
              <a:rect l="l" t="t" r="r" b="b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923309" y="2804253"/>
            <a:ext cx="6408283" cy="781561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ts val="3200"/>
              </a:lnSpc>
            </a:pPr>
            <a:r>
              <a:rPr lang="pt-BR" altLang="en-US" sz="2000" dirty="0">
                <a:ln w="22225">
                  <a:solidFill>
                    <a:schemeClr val="tx1"/>
                  </a:solidFill>
                  <a:prstDash val="solid"/>
                </a:ln>
                <a:effectLst/>
                <a:latin typeface="Avenir Next LT Pro" panose="020B0504020202020204" pitchFamily="34" charset="0"/>
                <a:cs typeface="Times New Roman" panose="02020603050405020304" charset="0"/>
                <a:sym typeface="+mn-ea"/>
              </a:rPr>
              <a:t>NADIA EXEMPLO DOS SOUZA</a:t>
            </a:r>
          </a:p>
          <a:p>
            <a:pPr algn="ctr">
              <a:lnSpc>
                <a:spcPts val="3200"/>
              </a:lnSpc>
            </a:pPr>
            <a:r>
              <a:rPr lang="pt-BR" altLang="en-US" sz="2000" dirty="0">
                <a:ln w="22225">
                  <a:solidFill>
                    <a:schemeClr val="tx1"/>
                  </a:solidFill>
                  <a:prstDash val="solid"/>
                </a:ln>
                <a:effectLst/>
                <a:latin typeface="Avenir Next LT Pro" panose="020B0504020202020204" pitchFamily="34" charset="0"/>
                <a:cs typeface="Times New Roman" panose="02020603050405020304" charset="0"/>
                <a:sym typeface="+mn-ea"/>
              </a:rPr>
              <a:t>CPF:000.000.000-00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8356" y="1040956"/>
            <a:ext cx="7115289" cy="72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b="1" spc="504" dirty="0">
                <a:solidFill>
                  <a:srgbClr val="FFFFFF"/>
                </a:solidFill>
                <a:latin typeface="Avenir Next LT Pro" panose="020B0504020202020204" pitchFamily="34" charset="0"/>
                <a:cs typeface="Times New Roman" panose="02020603050405020304" charset="0"/>
              </a:rPr>
              <a:t>CERTIFICADO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115" y="3640749"/>
            <a:ext cx="8787765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2000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Concluiu com proficiência o </a:t>
            </a:r>
            <a:r>
              <a:rPr lang="en-US" sz="2000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treinamento</a:t>
            </a:r>
            <a:endParaRPr lang="en-US" sz="2000" spc="192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NR11 - </a:t>
            </a:r>
            <a:r>
              <a:rPr lang="en-US" sz="2000" b="1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Transporte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</a:t>
            </a:r>
            <a:r>
              <a:rPr lang="en-US" sz="2000" b="1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Movimentação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</a:t>
            </a:r>
            <a:r>
              <a:rPr lang="en-US" sz="2000" b="1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Armazenagem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e</a:t>
            </a:r>
            <a:r>
              <a:rPr lang="pt-BR" alt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</a:t>
            </a:r>
            <a:r>
              <a:rPr lang="en-US" sz="2000" b="1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Manuseio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de</a:t>
            </a:r>
            <a:r>
              <a:rPr lang="pt-BR" alt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</a:t>
            </a:r>
            <a:r>
              <a:rPr lang="en-US" sz="2000" b="1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Materiais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 - </a:t>
            </a:r>
            <a:r>
              <a:rPr lang="en-US" sz="2000" b="1" spc="192" dirty="0" err="1">
                <a:solidFill>
                  <a:srgbClr val="000000"/>
                </a:solidFill>
                <a:latin typeface="Avenir Next LT Pro" panose="020B0504020202020204" pitchFamily="34" charset="0"/>
              </a:rPr>
              <a:t>Pórtico</a:t>
            </a:r>
            <a:endParaRPr lang="en-US" sz="2000" b="1" spc="192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923309" y="2185107"/>
            <a:ext cx="5929412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750" spc="192" dirty="0">
                <a:solidFill>
                  <a:srgbClr val="000000"/>
                </a:solidFill>
                <a:latin typeface="Avenir Next LT Pro" panose="020B0504020202020204" pitchFamily="34" charset="0"/>
              </a:rPr>
              <a:t>CERTIFICAMOS QUE O ALUNO</a:t>
            </a:r>
          </a:p>
        </p:txBody>
      </p:sp>
      <p:sp>
        <p:nvSpPr>
          <p:cNvPr id="4" name="Caixa de Texto 3"/>
          <p:cNvSpPr txBox="1"/>
          <p:nvPr/>
        </p:nvSpPr>
        <p:spPr>
          <a:xfrm>
            <a:off x="896783" y="4618974"/>
            <a:ext cx="892746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/>
            <a:r>
              <a:rPr lang="pt-BR" altLang="en-US" sz="1600" dirty="0">
                <a:latin typeface="Avenir Next LT Pro" panose="020B0504020202020204" pitchFamily="34" charset="0"/>
              </a:rPr>
              <a:t>Concluído em 24 e 25 de Fevereiro</a:t>
            </a:r>
            <a:r>
              <a:rPr lang="pt-BR" altLang="en-US" sz="1600" dirty="0">
                <a:latin typeface="Avenir Next LT Pro" panose="020B0504020202020204" pitchFamily="34" charset="0"/>
                <a:sym typeface="+mn-ea"/>
              </a:rPr>
              <a:t> de 2023</a:t>
            </a:r>
            <a:r>
              <a:rPr lang="pt-BR" altLang="en-US" sz="1600" dirty="0">
                <a:latin typeface="Avenir Next LT Pro" panose="020B0504020202020204" pitchFamily="34" charset="0"/>
              </a:rPr>
              <a:t> realizado na empresa Volga Engenharia Ind. E comércio Ltda na Av. </a:t>
            </a:r>
            <a:r>
              <a:rPr lang="pt-BR" altLang="en-US" sz="1600" dirty="0" err="1">
                <a:latin typeface="Avenir Next LT Pro" panose="020B0504020202020204" pitchFamily="34" charset="0"/>
              </a:rPr>
              <a:t>Elmar</a:t>
            </a:r>
            <a:r>
              <a:rPr lang="pt-BR" altLang="en-US" sz="1600" dirty="0">
                <a:latin typeface="Avenir Next LT Pro" panose="020B0504020202020204" pitchFamily="34" charset="0"/>
              </a:rPr>
              <a:t> Arantes Cabral, SN, Quadra 001, Lote 5, CEP 74.993-535, Parque Industrial Vice-Presidente José Alencar, Aparecida de Goiânia-GO - CNPJ: 03.347.463/0001-12. Carga horária de 16 (dezesseis) horas conforme determina legislação aplicável.</a:t>
            </a:r>
          </a:p>
        </p:txBody>
      </p:sp>
      <p:sp>
        <p:nvSpPr>
          <p:cNvPr id="25" name="TextBox 13"/>
          <p:cNvSpPr txBox="1"/>
          <p:nvPr/>
        </p:nvSpPr>
        <p:spPr>
          <a:xfrm>
            <a:off x="5899785" y="6798945"/>
            <a:ext cx="3086100" cy="357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5"/>
              </a:lnSpc>
              <a:buClrTx/>
              <a:buSzTx/>
              <a:buFontTx/>
            </a:pPr>
            <a:br>
              <a:rPr lang="en-US" sz="1400" spc="192" dirty="0">
                <a:solidFill>
                  <a:srgbClr val="000000"/>
                </a:solidFill>
                <a:latin typeface="Avenir Next LT Pro" panose="020B0504020202020204" pitchFamily="34" charset="0"/>
              </a:rPr>
            </a:br>
            <a:endParaRPr lang="en-US" sz="1400" spc="192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7" name="TextBox 15"/>
          <p:cNvSpPr txBox="1"/>
          <p:nvPr/>
        </p:nvSpPr>
        <p:spPr>
          <a:xfrm>
            <a:off x="1583573" y="6901810"/>
            <a:ext cx="2083513" cy="15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pt-BR" altLang="en-US" sz="1400" spc="12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Aluno</a:t>
            </a:r>
            <a:endParaRPr lang="en-US" sz="1400" spc="192" dirty="0">
              <a:solidFill>
                <a:schemeClr val="tx1">
                  <a:lumMod val="75000"/>
                  <a:lumOff val="25000"/>
                </a:schemeClr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2"/>
          <p:cNvSpPr txBox="1"/>
          <p:nvPr/>
        </p:nvSpPr>
        <p:spPr>
          <a:xfrm>
            <a:off x="966490" y="6417921"/>
            <a:ext cx="2767962" cy="180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pt-BR" altLang="en-US" sz="1400" b="1" dirty="0">
                <a:latin typeface="Avenir LT Std 55 Roman" panose="020B0503020203020204" charset="0"/>
              </a:rPr>
              <a:t>Nadia Exemplo dos Souza</a:t>
            </a:r>
          </a:p>
        </p:txBody>
      </p:sp>
      <p:pic>
        <p:nvPicPr>
          <p:cNvPr id="30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193485" y="6406720"/>
            <a:ext cx="2498700" cy="22403"/>
          </a:xfrm>
          <a:prstGeom prst="rect">
            <a:avLst/>
          </a:prstGeom>
        </p:spPr>
      </p:pic>
      <p:sp>
        <p:nvSpPr>
          <p:cNvPr id="31" name="CaixaDeTexto 21"/>
          <p:cNvSpPr txBox="1"/>
          <p:nvPr/>
        </p:nvSpPr>
        <p:spPr>
          <a:xfrm>
            <a:off x="6164316" y="6620319"/>
            <a:ext cx="2633332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altLang="en-US" sz="1400" dirty="0">
                <a:latin typeface="Avenir LT Std 55 Roman" panose="020B0503020203020204" charset="0"/>
                <a:sym typeface="+mn-ea"/>
              </a:rPr>
              <a:t>Instrutor/</a:t>
            </a:r>
          </a:p>
          <a:p>
            <a:pPr algn="ctr"/>
            <a:r>
              <a:rPr lang="pt-BR" altLang="en-US" sz="1400" dirty="0">
                <a:latin typeface="Avenir LT Std 55 Roman" panose="020B0503020203020204" charset="0"/>
                <a:cs typeface="Avenir LT Std 55 Roman" panose="020B0503020203020204" charset="0"/>
              </a:rPr>
              <a:t>Responsável Técnico</a:t>
            </a:r>
          </a:p>
          <a:p>
            <a:pPr algn="ctr"/>
            <a:r>
              <a:rPr lang="pt-BR" altLang="en-US" sz="1400" dirty="0">
                <a:latin typeface="Avenir LT Std 55 Roman" panose="020B0503020203020204" charset="0"/>
                <a:cs typeface="Avenir LT Std 55 Roman" panose="020B0503020203020204" charset="0"/>
              </a:rPr>
              <a:t>Eng. Mecânico</a:t>
            </a:r>
          </a:p>
          <a:p>
            <a:pPr algn="ctr"/>
            <a:r>
              <a:rPr lang="pt-BR" altLang="en-US" sz="1400" dirty="0">
                <a:latin typeface="Avenir LT Std 55 Roman" panose="020B0503020203020204" charset="0"/>
                <a:cs typeface="Avenir LT Std 55 Roman" panose="020B0503020203020204" charset="0"/>
              </a:rPr>
              <a:t>Crea: 1020054158D/GO</a:t>
            </a:r>
          </a:p>
          <a:p>
            <a:pPr algn="ctr">
              <a:lnSpc>
                <a:spcPts val="1410"/>
              </a:lnSpc>
            </a:pPr>
            <a:endParaRPr lang="pt-BR" altLang="en-US" sz="1400" spc="121" dirty="0">
              <a:solidFill>
                <a:srgbClr val="2E2E2E"/>
              </a:solidFill>
              <a:latin typeface="Avenir Next LT Pro" panose="020B05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</p:txBody>
      </p:sp>
      <p:sp>
        <p:nvSpPr>
          <p:cNvPr id="32" name="CaixaDeTexto 25"/>
          <p:cNvSpPr txBox="1"/>
          <p:nvPr/>
        </p:nvSpPr>
        <p:spPr>
          <a:xfrm>
            <a:off x="6097001" y="6400612"/>
            <a:ext cx="2767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altLang="en-US" sz="1400" b="1" dirty="0" err="1">
                <a:latin typeface="Avenir LT Std 55 Roman" panose="020B0503020203020204" charset="0"/>
                <a:cs typeface="Avenir LT Std 55 Roman" panose="020B0503020203020204" charset="0"/>
              </a:rPr>
              <a:t>Laurissa</a:t>
            </a:r>
            <a:r>
              <a:rPr lang="pt-BR" altLang="en-US" sz="1400" b="1" dirty="0">
                <a:latin typeface="Avenir LT Std 55 Roman" panose="020B0503020203020204" charset="0"/>
                <a:cs typeface="Avenir LT Std 55 Roman" panose="020B0503020203020204" charset="0"/>
              </a:rPr>
              <a:t> dos Santos Sá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B1126CB-9106-3B0E-C9C5-9A627B162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392422" y="6378758"/>
            <a:ext cx="2498700" cy="224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/>
          <p:cNvSpPr txBox="1"/>
          <p:nvPr/>
        </p:nvSpPr>
        <p:spPr>
          <a:xfrm>
            <a:off x="927100" y="196850"/>
            <a:ext cx="5929412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CONTEÚDO PR</a:t>
            </a:r>
            <a:r>
              <a:rPr lang="pt-BR" alt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</a:t>
            </a:r>
            <a:r>
              <a:rPr lang="pt-BR" alt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</a:t>
            </a:r>
            <a:r>
              <a:rPr lang="en-US" sz="2000" b="1" spc="192" dirty="0">
                <a:solidFill>
                  <a:srgbClr val="00000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MÁTICO</a:t>
            </a:r>
          </a:p>
        </p:txBody>
      </p:sp>
      <p:sp>
        <p:nvSpPr>
          <p:cNvPr id="4" name="Caixa de Texto 3"/>
          <p:cNvSpPr txBox="1"/>
          <p:nvPr/>
        </p:nvSpPr>
        <p:spPr>
          <a:xfrm>
            <a:off x="317500" y="654050"/>
            <a:ext cx="9956165" cy="7294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b="1" dirty="0"/>
              <a:t>Módulo I - SAÚDE, SEGURANÇA E HIGIENE NO TRABALHO</a:t>
            </a:r>
            <a:r>
              <a:rPr lang="pt-BR" dirty="0"/>
              <a:t> </a:t>
            </a:r>
          </a:p>
          <a:p>
            <a:pPr>
              <a:lnSpc>
                <a:spcPct val="100000"/>
              </a:lnSpc>
            </a:pPr>
            <a:endParaRPr lang="pt-BR" dirty="0"/>
          </a:p>
          <a:p>
            <a:pPr algn="just"/>
            <a:r>
              <a:rPr lang="pt-BR" dirty="0"/>
              <a:t>1. Conceito de acidentes de trabalho: prevencionista, legal; 2. Tipos de acidente; 3. Comunicação de Acidente de Trabalho – CAT; 4. Causas de acidentes de trabalho: homem, máquina, ambiente etc.; 5. Consequências dos acidentes de trabalho; 6. Acidentes com movimentação, manuseio e armazenagem de chapas de rochas ornamentais: análise de causas e medidas preventivas; 7. Riscos ambientais: físicos, químicos, biológicos e ergonômicos; 8. Riscos de acidentes; 9. Metodologias de Análise de Riscos: conceitos e exercícios práticos; 10. Equipamentos de proteção coletiva; 11. Medidas técnicas e administrativas; 12. Equipamentos de Proteção Individual; 13. Inspeção de Segurança, 14.</a:t>
            </a:r>
            <a:r>
              <a:rPr lang="pt-BR" altLang="en-US" dirty="0"/>
              <a:t> Orientações gerais normas 01, 04, 05,06, 10,12, 17, 23 e 35.</a:t>
            </a:r>
          </a:p>
          <a:p>
            <a:pPr algn="just">
              <a:lnSpc>
                <a:spcPct val="100000"/>
              </a:lnSpc>
            </a:pPr>
            <a:endParaRPr lang="pt-BR" altLang="en-US" dirty="0"/>
          </a:p>
          <a:p>
            <a:pPr>
              <a:lnSpc>
                <a:spcPct val="100000"/>
              </a:lnSpc>
            </a:pPr>
            <a:r>
              <a:rPr lang="pt-BR" b="1" dirty="0"/>
              <a:t>Módulo III - SEGURANÇA NA OPERAÇÃO DE PONTE ROLANTE</a:t>
            </a:r>
          </a:p>
          <a:p>
            <a:pPr>
              <a:lnSpc>
                <a:spcPct val="100000"/>
              </a:lnSpc>
            </a:pPr>
            <a:endParaRPr lang="pt-BR" b="1" dirty="0"/>
          </a:p>
          <a:p>
            <a:pPr algn="just">
              <a:lnSpc>
                <a:spcPct val="100000"/>
              </a:lnSpc>
            </a:pPr>
            <a:r>
              <a:rPr lang="pt-BR" dirty="0"/>
              <a:t>1. Princípios de segurança na utilização dos equipamentos; 2. Descrição dos riscos relacionados aos equipamentos; 3. Centro de gravidade de cargas; 4. Amarração de cargas; 5. Escolha dos tipos de cabos de aço (estropos); 6. Capacidade de carga dos cabos de aço, cintas e correntes; 7. Critérios de descarte para cabos de aço, cintas e correntes; 8. Acessórios para garantir boa amarração; 9. Uso de quebra-canto; 10. Manilhas, cintas, peras, ganchos - bitolas e capacidades; 11. Inspeção nos equipamentos, acessórios e registros de inspeção e segurança; 12. Sinalização para içamento e movimentação; 13. </a:t>
            </a:r>
            <a:r>
              <a:rPr lang="pt-BR" dirty="0" err="1"/>
              <a:t>Ovador</a:t>
            </a:r>
            <a:r>
              <a:rPr lang="pt-BR" dirty="0"/>
              <a:t> de Contêiner; 14. Equipamento de movimentação de chapas fracionadas; 15. Dispositivos de segurança de acordo com a NR-12 e normas técnicas aplicáveis.</a:t>
            </a:r>
          </a:p>
          <a:p>
            <a:pPr algn="just">
              <a:lnSpc>
                <a:spcPct val="100000"/>
              </a:lnSpc>
            </a:pPr>
            <a:endParaRPr lang="pt-BR" altLang="en-US" dirty="0"/>
          </a:p>
          <a:p>
            <a:pPr algn="just">
              <a:lnSpc>
                <a:spcPct val="100000"/>
              </a:lnSpc>
            </a:pPr>
            <a:r>
              <a:rPr lang="pt-BR" altLang="en-US" dirty="0"/>
              <a:t>Carga horaria diária 08 (oito) horas</a:t>
            </a:r>
          </a:p>
          <a:p>
            <a:pPr algn="just">
              <a:lnSpc>
                <a:spcPct val="100000"/>
              </a:lnSpc>
            </a:pPr>
            <a:r>
              <a:rPr lang="pt-BR" altLang="en-US" dirty="0"/>
              <a:t>Carga horaria total 16 (dezesseis) horas</a:t>
            </a:r>
          </a:p>
          <a:p>
            <a:pPr algn="just">
              <a:lnSpc>
                <a:spcPct val="100000"/>
              </a:lnSpc>
            </a:pPr>
            <a:endParaRPr lang="pt-B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460</Words>
  <Application>Microsoft Office PowerPoint</Application>
  <PresentationFormat>Personalizar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Avenir LT Std 55 Roman</vt:lpstr>
      <vt:lpstr>Avenir Next LT Pro</vt:lpstr>
      <vt:lpstr>Calibri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 Achievement</dc:title>
  <dc:creator>Larissa Santana Rabelo</dc:creator>
  <cp:lastModifiedBy>Lidian  Katleen Ribeiro de Oliveira</cp:lastModifiedBy>
  <cp:revision>40</cp:revision>
  <cp:lastPrinted>2023-02-25T13:38:57Z</cp:lastPrinted>
  <dcterms:created xsi:type="dcterms:W3CDTF">2006-08-16T00:00:00Z</dcterms:created>
  <dcterms:modified xsi:type="dcterms:W3CDTF">2023-02-25T19:59:36Z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5FD197FEF10A4E4FB139637E3CF775E3</vt:lpwstr>
  </property>
  <property fmtid="{D5CDD505-2E9C-101B-9397-08002B2CF9AE}" pid="3" name="KSOProductBuildVer">
    <vt:lpwstr>1046-11.2.0.10132</vt:lpwstr>
  </property>
</Properties>
</file>