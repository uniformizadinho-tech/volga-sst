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565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6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EA88BA-B7AF-43D4-8705-12D901DA6D0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DDF5D42-FD8B-440D-8EEB-09A9935F430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329B80-566F-4C29-9C85-CDAA2B99887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0E8684-7475-4FD9-8E74-DCB0F82926A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494151A-3724-4822-9093-1BCA27E40C4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3F20E80-A5F7-4C98-B651-260CA93BFAA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BB1576-4872-4A39-A651-0DEBC0D5960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885FEB3-2EAE-4673-8ADD-F029A83A511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3678166-BFA1-4101-89CC-20938E71387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1FC746-006F-4B42-A3F9-5912268775A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77F5E6A-7FD6-4857-98E8-046ED9458B57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C25BDC-28EB-49E5-AC64-FA00E8F5CC1C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/>
          <p:nvPr/>
        </p:nvPicPr>
        <p:blipFill>
          <a:blip r:embed="rId14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240" cy="483660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1"/>
          <p:cNvPicPr/>
          <p:nvPr/>
        </p:nvPicPr>
        <p:blipFill>
          <a:blip r:embed="rId14"/>
          <a:stretch/>
        </p:blipFill>
        <p:spPr>
          <a:xfrm>
            <a:off x="9275400" y="6143400"/>
            <a:ext cx="1415160" cy="1415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D756CE-6474-4D85-9CE4-5DB5329CB09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70840" cy="951480"/>
            <a:chOff x="2625480" y="936360"/>
            <a:chExt cx="8070840" cy="95148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70840" cy="951480"/>
            </a:xfrm>
            <a:custGeom>
              <a:avLst/>
              <a:gdLst>
                <a:gd name="textAreaLeft" fmla="*/ 0 w 8070840"/>
                <a:gd name="textAreaRight" fmla="*/ 8072280 w 8070840"/>
                <a:gd name="textAreaTop" fmla="*/ 0 h 951480"/>
                <a:gd name="textAreaBottom" fmla="*/ 952920 h 9514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" name="AutoShape 5"/>
          <p:cNvSpPr/>
          <p:nvPr/>
        </p:nvSpPr>
        <p:spPr>
          <a:xfrm>
            <a:off x="1923120" y="3214080"/>
            <a:ext cx="6408360" cy="36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8" name="Picture 6"/>
          <p:cNvPicPr/>
          <p:nvPr/>
        </p:nvPicPr>
        <p:blipFill>
          <a:blip r:embed="rId2"/>
          <a:stretch/>
        </p:blipFill>
        <p:spPr>
          <a:xfrm>
            <a:off x="6156000" y="6469560"/>
            <a:ext cx="2497320" cy="2088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7"/>
          <p:cNvPicPr/>
          <p:nvPr/>
        </p:nvPicPr>
        <p:blipFill>
          <a:blip r:embed="rId2"/>
          <a:stretch/>
        </p:blipFill>
        <p:spPr>
          <a:xfrm>
            <a:off x="538920" y="6460200"/>
            <a:ext cx="2497320" cy="20880"/>
          </a:xfrm>
          <a:prstGeom prst="rect">
            <a:avLst/>
          </a:prstGeom>
          <a:ln w="0">
            <a:noFill/>
          </a:ln>
        </p:spPr>
      </p:pic>
      <p:grpSp>
        <p:nvGrpSpPr>
          <p:cNvPr id="50" name="Group 8"/>
          <p:cNvGrpSpPr/>
          <p:nvPr/>
        </p:nvGrpSpPr>
        <p:grpSpPr>
          <a:xfrm>
            <a:off x="0" y="393840"/>
            <a:ext cx="8902080" cy="1626840"/>
            <a:chOff x="0" y="393840"/>
            <a:chExt cx="8902080" cy="1626840"/>
          </a:xfrm>
        </p:grpSpPr>
        <p:sp>
          <p:nvSpPr>
            <p:cNvPr id="51" name="Freeform 9"/>
            <p:cNvSpPr/>
            <p:nvPr/>
          </p:nvSpPr>
          <p:spPr>
            <a:xfrm>
              <a:off x="0" y="393840"/>
              <a:ext cx="268560" cy="268560"/>
            </a:xfrm>
            <a:custGeom>
              <a:avLst/>
              <a:gdLst>
                <a:gd name="textAreaLeft" fmla="*/ 0 w 268560"/>
                <a:gd name="textAreaRight" fmla="*/ 270000 w 268560"/>
                <a:gd name="textAreaTop" fmla="*/ 0 h 268560"/>
                <a:gd name="textAreaBottom" fmla="*/ 270000 h 2685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" name="Freeform 10"/>
            <p:cNvSpPr/>
            <p:nvPr/>
          </p:nvSpPr>
          <p:spPr>
            <a:xfrm>
              <a:off x="0" y="663480"/>
              <a:ext cx="8902080" cy="1357200"/>
            </a:xfrm>
            <a:custGeom>
              <a:avLst/>
              <a:gdLst>
                <a:gd name="textAreaLeft" fmla="*/ 0 w 8902080"/>
                <a:gd name="textAreaRight" fmla="*/ 8903520 w 8902080"/>
                <a:gd name="textAreaTop" fmla="*/ 0 h 1357200"/>
                <a:gd name="textAreaBottom" fmla="*/ 1358640 h 13572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" name="TextBox 13"/>
          <p:cNvSpPr/>
          <p:nvPr/>
        </p:nvSpPr>
        <p:spPr>
          <a:xfrm>
            <a:off x="5747400" y="6951240"/>
            <a:ext cx="30848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395"/>
              </a:lnSpc>
            </a:pPr>
            <a:br>
              <a:rPr sz="1400"/>
            </a:b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5"/>
          <p:cNvSpPr/>
          <p:nvPr/>
        </p:nvSpPr>
        <p:spPr>
          <a:xfrm>
            <a:off x="808560" y="6728760"/>
            <a:ext cx="208224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111">
                <a:solidFill>
                  <a:srgbClr val="2E2E2E"/>
                </a:solidFill>
                <a:latin typeface="Calibri"/>
                <a:ea typeface="Open Sans"/>
              </a:rPr>
              <a:t>Colaborador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/>
          <p:cNvSpPr/>
          <p:nvPr/>
        </p:nvSpPr>
        <p:spPr>
          <a:xfrm>
            <a:off x="1788480" y="1041120"/>
            <a:ext cx="71139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494">
                <a:solidFill>
                  <a:srgbClr val="FFFFFF"/>
                </a:solidFill>
                <a:latin typeface="Avenir LT Std 35 Light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1003680" y="3780000"/>
            <a:ext cx="878616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Concluiu com proficiência o treinamento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100" b="1" strike="noStrike" spc="-1" dirty="0">
                <a:solidFill>
                  <a:schemeClr val="dk1"/>
                </a:solidFill>
                <a:latin typeface="Arial"/>
              </a:rPr>
              <a:t>NR10 (Complementar)  – SEP (Segurança no Sistema elétrico de potência)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/>
          <p:cNvSpPr/>
          <p:nvPr/>
        </p:nvSpPr>
        <p:spPr>
          <a:xfrm>
            <a:off x="1923480" y="218520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2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aixa de Texto 3"/>
          <p:cNvSpPr/>
          <p:nvPr/>
        </p:nvSpPr>
        <p:spPr>
          <a:xfrm>
            <a:off x="946800" y="4614840"/>
            <a:ext cx="89262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No período de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22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/06/2026 à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26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/06/2026 realizado na empresa Volga Engenharia Ind. E comércio Ltda na Av. Elmar Arantes Cabral, SN, Quadra 001, Lote 5, CEP 74.993-535, Parque Industrial Vice-Presidente José Alencar, Aparecida de Goiânia-GO - CNPJ: 03.347.463/0001-12. Carga horária de 40 (quarenta) horas conforme determina legislação aplicável.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7"/>
          <p:cNvPicPr/>
          <p:nvPr/>
        </p:nvPicPr>
        <p:blipFill>
          <a:blip r:embed="rId2"/>
          <a:stretch/>
        </p:blipFill>
        <p:spPr>
          <a:xfrm>
            <a:off x="3288240" y="6460200"/>
            <a:ext cx="2497320" cy="20880"/>
          </a:xfrm>
          <a:prstGeom prst="rect">
            <a:avLst/>
          </a:prstGeom>
          <a:ln w="0">
            <a:noFill/>
          </a:ln>
        </p:spPr>
      </p:pic>
      <p:sp>
        <p:nvSpPr>
          <p:cNvPr id="60" name="CaixaDeTexto 21"/>
          <p:cNvSpPr/>
          <p:nvPr/>
        </p:nvSpPr>
        <p:spPr>
          <a:xfrm>
            <a:off x="3036240" y="6712588"/>
            <a:ext cx="3204000" cy="62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400" b="0" strike="noStrike" spc="111" dirty="0">
                <a:solidFill>
                  <a:srgbClr val="2E2E2E"/>
                </a:solidFill>
                <a:latin typeface="Calibri"/>
                <a:ea typeface="Open Sans"/>
              </a:rPr>
              <a:t>Instrutor/Responsável Técnico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400" b="0" strike="noStrike" spc="111" dirty="0">
                <a:solidFill>
                  <a:srgbClr val="2E2E2E"/>
                </a:solidFill>
                <a:latin typeface="Calibri"/>
                <a:ea typeface="Open Sans"/>
              </a:rPr>
              <a:t>Engenheira Eletricista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400" b="0" strike="noStrike" spc="111" dirty="0">
                <a:solidFill>
                  <a:srgbClr val="2E2E2E"/>
                </a:solidFill>
                <a:latin typeface="Calibri"/>
                <a:ea typeface="Open Sans"/>
              </a:rPr>
              <a:t>CREA:1018815520D/GO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aixaDeTexto 25"/>
          <p:cNvSpPr/>
          <p:nvPr/>
        </p:nvSpPr>
        <p:spPr>
          <a:xfrm>
            <a:off x="3213360" y="6447600"/>
            <a:ext cx="2766600" cy="2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 dirty="0">
                <a:solidFill>
                  <a:schemeClr val="dk1"/>
                </a:solidFill>
                <a:latin typeface="Calibri"/>
              </a:rPr>
              <a:t>Naiara Meireles França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2"/>
          <p:cNvSpPr/>
          <p:nvPr/>
        </p:nvSpPr>
        <p:spPr>
          <a:xfrm>
            <a:off x="6032520" y="6490800"/>
            <a:ext cx="3007800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pt-BR" sz="1400" b="1" spc="-1" dirty="0">
                <a:solidFill>
                  <a:schemeClr val="dk1"/>
                </a:solidFill>
              </a:rPr>
              <a:t>Maria Clara Mota da Silva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5956560" y="6750000"/>
            <a:ext cx="3130560" cy="53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409"/>
              </a:lnSpc>
            </a:pPr>
            <a:r>
              <a:rPr lang="pt-BR" sz="1400" b="0" strike="noStrike" spc="111" dirty="0">
                <a:solidFill>
                  <a:srgbClr val="2E2E2E"/>
                </a:solidFill>
                <a:latin typeface="Avenir LT Std 55 Roman"/>
                <a:ea typeface="Open Sans"/>
              </a:rPr>
              <a:t>Instrutor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409"/>
              </a:lnSpc>
            </a:pPr>
            <a:r>
              <a:rPr lang="pt-BR" sz="1400" b="0" strike="noStrike" spc="111" dirty="0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409"/>
              </a:lnSpc>
            </a:pPr>
            <a:r>
              <a:rPr lang="pt-BR" sz="1400" b="0" strike="noStrike" spc="111" dirty="0" err="1">
                <a:solidFill>
                  <a:srgbClr val="2E2E2E"/>
                </a:solidFill>
                <a:latin typeface="Avenir LT Std 55 Roman"/>
                <a:ea typeface="Open Sans"/>
              </a:rPr>
              <a:t>Reg</a:t>
            </a:r>
            <a:r>
              <a:rPr lang="pt-BR" sz="1400" b="0" strike="noStrike" spc="111" dirty="0">
                <a:solidFill>
                  <a:srgbClr val="2E2E2E"/>
                </a:solidFill>
                <a:latin typeface="Avenir LT Std 55 Roman"/>
                <a:ea typeface="Open Sans"/>
              </a:rPr>
              <a:t>: </a:t>
            </a:r>
            <a:r>
              <a:rPr lang="pt-BR" sz="1400" spc="111" dirty="0">
                <a:solidFill>
                  <a:srgbClr val="2E2E2E"/>
                </a:solidFill>
                <a:latin typeface="Avenir LT Std 55 Roman"/>
                <a:ea typeface="Open Sans"/>
              </a:rPr>
              <a:t>27119/GO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792153" y="6501240"/>
            <a:ext cx="2079415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pt-BR" sz="1400" b="1" dirty="0"/>
              <a:t>ELISA EXEMPLO DOS BARROS</a:t>
            </a:r>
            <a:endParaRPr lang="pt-BR" sz="14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16"/>
          <p:cNvSpPr/>
          <p:nvPr/>
        </p:nvSpPr>
        <p:spPr>
          <a:xfrm>
            <a:off x="164520" y="2719440"/>
            <a:ext cx="1036188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pt-BR" sz="3200" b="1" dirty="0">
                <a:latin typeface="Arial Black" panose="020B0A04020102020204" pitchFamily="34" charset="0"/>
              </a:rPr>
              <a:t>ELISA EXEMPLO DOS BARROS</a:t>
            </a:r>
            <a:br>
              <a:rPr lang="pt-BR" sz="3200" b="1" dirty="0">
                <a:latin typeface="Arial Black" panose="020B0A04020102020204" pitchFamily="34" charset="0"/>
              </a:rPr>
            </a:br>
            <a:r>
              <a:rPr lang="pt-BR" sz="3200" b="1" spc="-1" dirty="0">
                <a:solidFill>
                  <a:schemeClr val="dk1"/>
                </a:solidFill>
                <a:latin typeface="Arial Black" panose="020B0A04020102020204" pitchFamily="34" charset="0"/>
                <a:ea typeface="Microsoft YaHei"/>
              </a:rPr>
              <a:t>CPF: </a:t>
            </a:r>
            <a:r>
              <a:rPr lang="pt-BR" sz="3200" b="1" dirty="0">
                <a:latin typeface="Arial Black" panose="020B0A04020102020204" pitchFamily="34" charset="0"/>
              </a:rPr>
              <a:t>000.000.000-00</a:t>
            </a:r>
            <a:endParaRPr lang="pt-BR" sz="3200" b="1" spc="-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8"/>
          <p:cNvSpPr/>
          <p:nvPr/>
        </p:nvSpPr>
        <p:spPr>
          <a:xfrm>
            <a:off x="546120" y="739440"/>
            <a:ext cx="4799160" cy="671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Organização do Sistema Elétrico de Potência - SEP.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Organização do trabalho: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programação e planejamento dos serviços;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trabalho em equipe;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prontuário e cadastro das instalações;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métodos de trabalho; e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comunicação.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3. Aspectos comportamentais.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4. Condições impeditivas para serviços.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5. Riscos típicos no SEP e sua prevenção: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proximidade e contatos com partes energizadas;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b) indução;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c) descargas atmosféricas;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d) estática;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e) campos elétricos e magnéticos;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f) comunicação e identificação;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g) trabalhos em altura, máquinas e equipamentos especiais.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6. Técnicas de análise de Risco no SEP;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7. Procedimentos de trabalho - análise e discussão.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8. Técnicas de trabalho sob tensão: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 algn="just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em linha viva;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b) ao potencial;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c) em áreas internas;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d) trabalho a distância;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e) trabalhos noturnos;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f) ambientes subterrâneos.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9. Equipamentos e ferramentas de trabalho (escolha, uso, conservação, verificação, ensaios).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10. Sistemas de proteção coletiva.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</a:rPr>
              <a:t>11. Equipamentos de proteção individual.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9"/>
          <p:cNvSpPr/>
          <p:nvPr/>
        </p:nvSpPr>
        <p:spPr>
          <a:xfrm>
            <a:off x="927000" y="196920"/>
            <a:ext cx="59281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1" strike="noStrike" spc="182">
                <a:solidFill>
                  <a:srgbClr val="000000"/>
                </a:solidFill>
                <a:latin typeface="Arial"/>
                <a:ea typeface="Open Sans"/>
              </a:rPr>
              <a:t>CONTEÚDO PR</a:t>
            </a:r>
            <a:r>
              <a:rPr lang="pt-BR" sz="2000" b="1" strike="noStrike" spc="182">
                <a:solidFill>
                  <a:srgbClr val="000000"/>
                </a:solidFill>
                <a:latin typeface="Arial"/>
                <a:ea typeface="Open Sans"/>
              </a:rPr>
              <a:t>O</a:t>
            </a:r>
            <a:r>
              <a:rPr lang="en-US" sz="2000" b="1" strike="noStrike" spc="182">
                <a:solidFill>
                  <a:srgbClr val="000000"/>
                </a:solidFill>
                <a:latin typeface="Arial"/>
                <a:ea typeface="Open Sans"/>
              </a:rPr>
              <a:t>G</a:t>
            </a:r>
            <a:r>
              <a:rPr lang="pt-BR" sz="2000" b="1" strike="noStrike" spc="182">
                <a:solidFill>
                  <a:srgbClr val="000000"/>
                </a:solidFill>
                <a:latin typeface="Arial"/>
                <a:ea typeface="Open Sans"/>
              </a:rPr>
              <a:t>RA</a:t>
            </a:r>
            <a:r>
              <a:rPr lang="en-US" sz="2000" b="1" strike="noStrike" spc="182">
                <a:solidFill>
                  <a:srgbClr val="000000"/>
                </a:solidFill>
                <a:latin typeface="Arial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8"/>
          <p:cNvSpPr/>
          <p:nvPr/>
        </p:nvSpPr>
        <p:spPr>
          <a:xfrm>
            <a:off x="5575320" y="618840"/>
            <a:ext cx="4570560" cy="265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12. Posturas e vestuários de trabalho.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13. Segurança com veículos e transporte de pessoas, materiais e equipamentos.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14. Sinalização e isolamento de áreas de trabalho.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15. Liberação de instalação para serviço e para operação e uso.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16. Treinamento em técnicas de remoção, atendimento, transporte de acidentados.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17. Acidentes típicos - Análise, discussão, medidas de proteção. 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r>
              <a:rPr lang="pt-BR" sz="1000" b="0" strike="noStrike" spc="-1">
                <a:solidFill>
                  <a:schemeClr val="dk1"/>
                </a:solidFill>
                <a:latin typeface="Calibri"/>
                <a:ea typeface="Open Sans"/>
              </a:rPr>
              <a:t>18. Responsabilidades.</a:t>
            </a:r>
            <a:endParaRPr lang="pt-BR" sz="10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00000"/>
              </a:lnSpc>
            </a:pPr>
            <a:endParaRPr lang="pt-BR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404</Words>
  <Application>Microsoft Office PowerPoint</Application>
  <PresentationFormat>Personalizar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3" baseType="lpstr">
      <vt:lpstr>Arial</vt:lpstr>
      <vt:lpstr>Arial Black</vt:lpstr>
      <vt:lpstr>Avenir LT Std 35 Light</vt:lpstr>
      <vt:lpstr>Avenir LT Std 55 Roman</vt:lpstr>
      <vt:lpstr>Avenir Next LT Pro</vt:lpstr>
      <vt:lpstr>Calibri</vt:lpstr>
      <vt:lpstr>OpenSymbol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subject/>
  <dc:creator>Larissa Santana Rabelo</dc:creator>
  <dc:description/>
  <cp:lastModifiedBy>Maria Clara Mota da Silva</cp:lastModifiedBy>
  <cp:revision>129</cp:revision>
  <cp:lastPrinted>2025-06-17T11:07:52Z</cp:lastPrinted>
  <dcterms:created xsi:type="dcterms:W3CDTF">2006-08-16T00:00:00Z</dcterms:created>
  <dcterms:modified xsi:type="dcterms:W3CDTF">2026-07-03T19:05:11Z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</vt:i4>
  </property>
</Properties>
</file>