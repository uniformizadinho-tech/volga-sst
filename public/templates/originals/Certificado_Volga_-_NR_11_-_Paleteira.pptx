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0693400" cy="7556500"/>
  <p:notesSz cx="7559675" cy="106918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387" autoAdjust="0"/>
  </p:normalViewPr>
  <p:slideViewPr>
    <p:cSldViewPr snapToGrid="0">
      <p:cViewPr varScale="1">
        <p:scale>
          <a:sx n="67" d="100"/>
          <a:sy n="67" d="100"/>
        </p:scale>
        <p:origin x="157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3A7AC439-410E-4F5E-979B-E2FB68788D41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34600" y="1767960"/>
            <a:ext cx="9623520" cy="438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14283695-E8CC-4051-83BA-6C6A0891E160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3520" cy="438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D9926FC1-DBE8-4D9A-B1DF-0133340DAE40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4696200" cy="438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5465880" y="1767960"/>
            <a:ext cx="4696200" cy="438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4D328199-DE21-4107-8E23-D3B2672A88D8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073DE053-3D5F-4D62-A8CD-F5B6E0CB2152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subTitle"/>
          </p:nvPr>
        </p:nvSpPr>
        <p:spPr>
          <a:xfrm>
            <a:off x="534600" y="301320"/>
            <a:ext cx="9623520" cy="584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28D3AAA-EA68-4F0C-990A-9EF5BDAD9DD8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465880" y="1767960"/>
            <a:ext cx="4696200" cy="438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34600" y="405720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483B46CE-F4A0-469C-962A-8C1688C3764C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4696200" cy="438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465880" y="176796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465880" y="405720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F7E343B9-FA94-4CDF-98C5-9F7E1D5C131A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465880" y="176796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534600" y="4057200"/>
            <a:ext cx="962352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CF865DDB-C3CE-4B97-AC27-94109467FB03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352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534600" y="4057200"/>
            <a:ext cx="962352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23ADAD0-D244-45DF-B42E-D8DBCDFA331E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5465880" y="176796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534600" y="405720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/>
          </p:nvPr>
        </p:nvSpPr>
        <p:spPr>
          <a:xfrm>
            <a:off x="5465880" y="4057200"/>
            <a:ext cx="469620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F2957CC1-10C3-4EDA-BC81-548C93E2D41E}" type="slidenum">
              <a:t>‹nº›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309852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/>
          </p:nvPr>
        </p:nvSpPr>
        <p:spPr>
          <a:xfrm>
            <a:off x="3788280" y="1767960"/>
            <a:ext cx="309852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/>
          </p:nvPr>
        </p:nvSpPr>
        <p:spPr>
          <a:xfrm>
            <a:off x="7042320" y="1767960"/>
            <a:ext cx="309852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/>
          </p:nvPr>
        </p:nvSpPr>
        <p:spPr>
          <a:xfrm>
            <a:off x="534600" y="4057200"/>
            <a:ext cx="309852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/>
          </p:nvPr>
        </p:nvSpPr>
        <p:spPr>
          <a:xfrm>
            <a:off x="3788280" y="4057200"/>
            <a:ext cx="309852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/>
          </p:nvPr>
        </p:nvSpPr>
        <p:spPr>
          <a:xfrm>
            <a:off x="7042320" y="4057200"/>
            <a:ext cx="3098520" cy="2090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BR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DE9E5D9B-C25A-4E85-BBF4-F65E0DA351F8}" type="slidenum">
              <a:t>‹nº›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4"/>
          <p:cNvPicPr/>
          <p:nvPr/>
        </p:nvPicPr>
        <p:blipFill>
          <a:blip r:embed="rId14">
            <a:alphaModFix amt="15000"/>
          </a:blip>
          <a:srcRect l="20075" t="19762" r="21901" b="37365"/>
          <a:stretch/>
        </p:blipFill>
        <p:spPr>
          <a:xfrm>
            <a:off x="1893600" y="2198160"/>
            <a:ext cx="6546600" cy="4836960"/>
          </a:xfrm>
          <a:prstGeom prst="rect">
            <a:avLst/>
          </a:prstGeom>
          <a:ln w="0">
            <a:noFill/>
          </a:ln>
        </p:spPr>
      </p:pic>
      <p:pic>
        <p:nvPicPr>
          <p:cNvPr id="10" name="Picture 11"/>
          <p:cNvPicPr/>
          <p:nvPr/>
        </p:nvPicPr>
        <p:blipFill>
          <a:blip r:embed="rId14"/>
          <a:stretch/>
        </p:blipFill>
        <p:spPr>
          <a:xfrm>
            <a:off x="9275400" y="6143400"/>
            <a:ext cx="1415520" cy="141552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2800" cy="126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34600" y="1767960"/>
            <a:ext cx="4695840" cy="20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222" lnSpcReduction="2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5465880" y="1767960"/>
            <a:ext cx="4695840" cy="438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534600" y="4057200"/>
            <a:ext cx="4695840" cy="20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7222" lnSpcReduction="2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C5A69C02-C999-448A-BFB6-C1D1285A02E9}" type="slidenum"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‹nº›</a:t>
            </a:fld>
            <a:endParaRPr lang="pt-BR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&lt;data/hora&gt;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2"/>
          <p:cNvGrpSpPr/>
          <p:nvPr/>
        </p:nvGrpSpPr>
        <p:grpSpPr>
          <a:xfrm>
            <a:off x="2625480" y="936360"/>
            <a:ext cx="8071200" cy="951840"/>
            <a:chOff x="2625480" y="936360"/>
            <a:chExt cx="8071200" cy="951840"/>
          </a:xfrm>
        </p:grpSpPr>
        <p:sp>
          <p:nvSpPr>
            <p:cNvPr id="46" name="Freeform 3"/>
            <p:cNvSpPr/>
            <p:nvPr/>
          </p:nvSpPr>
          <p:spPr>
            <a:xfrm>
              <a:off x="2625480" y="936360"/>
              <a:ext cx="8071200" cy="951840"/>
            </a:xfrm>
            <a:custGeom>
              <a:avLst/>
              <a:gdLst>
                <a:gd name="textAreaLeft" fmla="*/ 0 w 8071200"/>
                <a:gd name="textAreaRight" fmla="*/ 8072280 w 8071200"/>
                <a:gd name="textAreaTop" fmla="*/ 0 h 951840"/>
                <a:gd name="textAreaBottom" fmla="*/ 952920 h 951840"/>
              </a:gdLst>
              <a:ahLst/>
              <a:cxnLst/>
              <a:rect l="textAreaLeft" t="textAreaTop" r="textAreaRight" b="textAreaBottom"/>
              <a:pathLst>
                <a:path w="3815445" h="425295">
                  <a:moveTo>
                    <a:pt x="0" y="0"/>
                  </a:moveTo>
                  <a:lnTo>
                    <a:pt x="3815445" y="0"/>
                  </a:lnTo>
                  <a:lnTo>
                    <a:pt x="3815445" y="425295"/>
                  </a:lnTo>
                  <a:lnTo>
                    <a:pt x="0" y="425295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pt-BR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47" name="AutoShape 5"/>
          <p:cNvSpPr/>
          <p:nvPr/>
        </p:nvSpPr>
        <p:spPr>
          <a:xfrm>
            <a:off x="1923480" y="2965320"/>
            <a:ext cx="6408360" cy="360"/>
          </a:xfrm>
          <a:prstGeom prst="line">
            <a:avLst/>
          </a:prstGeom>
          <a:ln w="47625" cap="rnd">
            <a:solidFill>
              <a:srgbClr val="A2C73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8" name="Group 8"/>
          <p:cNvGrpSpPr/>
          <p:nvPr/>
        </p:nvGrpSpPr>
        <p:grpSpPr>
          <a:xfrm>
            <a:off x="0" y="393840"/>
            <a:ext cx="8902440" cy="1627200"/>
            <a:chOff x="0" y="393840"/>
            <a:chExt cx="8902440" cy="1627200"/>
          </a:xfrm>
        </p:grpSpPr>
        <p:sp>
          <p:nvSpPr>
            <p:cNvPr id="49" name="Freeform 9"/>
            <p:cNvSpPr/>
            <p:nvPr/>
          </p:nvSpPr>
          <p:spPr>
            <a:xfrm>
              <a:off x="0" y="393840"/>
              <a:ext cx="268920" cy="268920"/>
            </a:xfrm>
            <a:custGeom>
              <a:avLst/>
              <a:gdLst>
                <a:gd name="textAreaLeft" fmla="*/ 0 w 268920"/>
                <a:gd name="textAreaRight" fmla="*/ 270000 w 268920"/>
                <a:gd name="textAreaTop" fmla="*/ 0 h 268920"/>
                <a:gd name="textAreaBottom" fmla="*/ 270000 h 268920"/>
              </a:gdLst>
              <a:ahLst/>
              <a:cxnLst/>
              <a:rect l="textAreaLeft" t="textAreaTop" r="textAreaRight" b="textAreaBottom"/>
              <a:pathLst>
                <a:path w="450850" h="450850">
                  <a:moveTo>
                    <a:pt x="450850" y="450850"/>
                  </a:moveTo>
                  <a:lnTo>
                    <a:pt x="0" y="450850"/>
                  </a:lnTo>
                  <a:lnTo>
                    <a:pt x="450850" y="0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pt-BR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0" name="Freeform 10"/>
            <p:cNvSpPr/>
            <p:nvPr/>
          </p:nvSpPr>
          <p:spPr>
            <a:xfrm>
              <a:off x="0" y="663480"/>
              <a:ext cx="8902440" cy="1357560"/>
            </a:xfrm>
            <a:custGeom>
              <a:avLst/>
              <a:gdLst>
                <a:gd name="textAreaLeft" fmla="*/ 0 w 8902440"/>
                <a:gd name="textAreaRight" fmla="*/ 8903520 w 8902440"/>
                <a:gd name="textAreaTop" fmla="*/ 0 h 1357560"/>
                <a:gd name="textAreaBottom" fmla="*/ 1358640 h 1357560"/>
              </a:gdLst>
              <a:ahLst/>
              <a:cxnLst/>
              <a:rect l="textAreaLeft" t="textAreaTop" r="textAreaRight" b="textAreaBottom"/>
              <a:pathLst>
                <a:path w="14874689" h="2269490">
                  <a:moveTo>
                    <a:pt x="14285409" y="0"/>
                  </a:moveTo>
                  <a:lnTo>
                    <a:pt x="0" y="0"/>
                  </a:lnTo>
                  <a:lnTo>
                    <a:pt x="0" y="2269490"/>
                  </a:lnTo>
                  <a:lnTo>
                    <a:pt x="14285409" y="2269490"/>
                  </a:lnTo>
                  <a:lnTo>
                    <a:pt x="14285409" y="2268220"/>
                  </a:lnTo>
                  <a:lnTo>
                    <a:pt x="14874689" y="1134110"/>
                  </a:lnTo>
                  <a:close/>
                </a:path>
              </a:pathLst>
            </a:custGeom>
            <a:solidFill>
              <a:srgbClr val="A2C73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pt-BR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1" name="TextBox 16"/>
          <p:cNvSpPr/>
          <p:nvPr/>
        </p:nvSpPr>
        <p:spPr>
          <a:xfrm>
            <a:off x="1923840" y="2555640"/>
            <a:ext cx="6407280" cy="81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ctr" defTabSz="914400">
              <a:lnSpc>
                <a:spcPts val="3200"/>
              </a:lnSpc>
            </a:pPr>
            <a:r>
              <a:rPr lang="pt-BR" sz="2800" b="1" strike="noStrike" spc="-1" dirty="0">
                <a:solidFill>
                  <a:schemeClr val="dk1"/>
                </a:solidFill>
                <a:latin typeface="Arial"/>
              </a:rPr>
              <a:t>GUILHERME EXEMPLO VIANA</a:t>
            </a: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3200"/>
              </a:lnSpc>
            </a:pPr>
            <a:r>
              <a:rPr lang="pt-BR" sz="2800" b="1" strike="noStrike" spc="-1" dirty="0">
                <a:solidFill>
                  <a:schemeClr val="dk1"/>
                </a:solidFill>
                <a:latin typeface="Arial"/>
              </a:rPr>
              <a:t>CPF: 000.000.000-00</a:t>
            </a:r>
            <a:endParaRPr lang="pt-BR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Box 17"/>
          <p:cNvSpPr/>
          <p:nvPr/>
        </p:nvSpPr>
        <p:spPr>
          <a:xfrm>
            <a:off x="1788480" y="1041120"/>
            <a:ext cx="7114320" cy="71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5601"/>
              </a:lnSpc>
            </a:pPr>
            <a:r>
              <a:rPr lang="en-US" sz="5600" b="1" strike="noStrike" spc="497">
                <a:solidFill>
                  <a:srgbClr val="FFFFFF"/>
                </a:solidFill>
                <a:latin typeface="Avenir Next LT Pro"/>
              </a:rPr>
              <a:t>CERTIFICADO</a:t>
            </a:r>
            <a:endParaRPr lang="pt-BR" sz="5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Box 18"/>
          <p:cNvSpPr/>
          <p:nvPr/>
        </p:nvSpPr>
        <p:spPr>
          <a:xfrm>
            <a:off x="952200" y="3430800"/>
            <a:ext cx="8786520" cy="91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Box 19"/>
          <p:cNvSpPr/>
          <p:nvPr/>
        </p:nvSpPr>
        <p:spPr>
          <a:xfrm>
            <a:off x="1923480" y="2099520"/>
            <a:ext cx="5928480" cy="22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749"/>
              </a:lnSpc>
            </a:pPr>
            <a:r>
              <a:rPr lang="en-US" sz="1750" b="0" strike="noStrike" spc="185">
                <a:solidFill>
                  <a:srgbClr val="000000"/>
                </a:solidFill>
                <a:latin typeface="Avenir Next LT Pro"/>
              </a:rPr>
              <a:t>CERTIFICAMOS QUE O COLABORADOR</a:t>
            </a:r>
            <a:endParaRPr lang="pt-BR" sz="17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Caixa de Texto 3"/>
          <p:cNvSpPr/>
          <p:nvPr/>
        </p:nvSpPr>
        <p:spPr>
          <a:xfrm>
            <a:off x="866520" y="3736080"/>
            <a:ext cx="8926560" cy="21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pt-BR" sz="1700" b="0" strike="noStrike" spc="-1" dirty="0">
                <a:solidFill>
                  <a:schemeClr val="dk1"/>
                </a:solidFill>
                <a:latin typeface="Arial"/>
              </a:rPr>
              <a:t>Concluiu em </a:t>
            </a:r>
            <a:r>
              <a:rPr lang="pt-BR" sz="1700" b="1" spc="-1" dirty="0">
                <a:solidFill>
                  <a:schemeClr val="dk1"/>
                </a:solidFill>
                <a:latin typeface="Arial"/>
              </a:rPr>
              <a:t>01</a:t>
            </a:r>
            <a:r>
              <a:rPr lang="pt-BR" sz="1700" b="1" strike="noStrike" spc="-1" dirty="0">
                <a:solidFill>
                  <a:schemeClr val="dk1"/>
                </a:solidFill>
                <a:latin typeface="Arial"/>
              </a:rPr>
              <a:t> de outubro de 2025</a:t>
            </a:r>
            <a:r>
              <a:rPr lang="pt-BR" sz="1700" b="0" strike="noStrike" spc="-1" dirty="0">
                <a:solidFill>
                  <a:schemeClr val="dk1"/>
                </a:solidFill>
                <a:latin typeface="Arial"/>
              </a:rPr>
              <a:t>, o curso de NR11 </a:t>
            </a:r>
            <a:r>
              <a:rPr lang="pt-BR" sz="1700" b="1" strike="noStrike" spc="-1" dirty="0">
                <a:solidFill>
                  <a:schemeClr val="dk1"/>
                </a:solidFill>
                <a:latin typeface="Arial"/>
              </a:rPr>
              <a:t>(</a:t>
            </a:r>
            <a:r>
              <a:rPr lang="pt-BR" sz="1700" b="1" spc="-1">
                <a:solidFill>
                  <a:schemeClr val="dk1"/>
                </a:solidFill>
                <a:latin typeface="Arial"/>
              </a:rPr>
              <a:t>Paleteira Manual</a:t>
            </a:r>
            <a:r>
              <a:rPr lang="pt-BR" sz="1700" b="1" strike="noStrike" spc="-1">
                <a:solidFill>
                  <a:schemeClr val="dk1"/>
                </a:solidFill>
                <a:latin typeface="Arial"/>
              </a:rPr>
              <a:t>),</a:t>
            </a:r>
            <a:r>
              <a:rPr lang="pt-BR" sz="1700" b="0" strike="noStrike" spc="-1">
                <a:solidFill>
                  <a:schemeClr val="dk1"/>
                </a:solidFill>
                <a:latin typeface="Arial"/>
              </a:rPr>
              <a:t> </a:t>
            </a:r>
            <a:r>
              <a:rPr lang="pt-BR" sz="1700" b="0" strike="noStrike" spc="-1" dirty="0">
                <a:solidFill>
                  <a:schemeClr val="dk1"/>
                </a:solidFill>
                <a:latin typeface="Arial"/>
              </a:rPr>
              <a:t>– Transporte, Movimentação, Armazenagem e Manuseio de Materiais, em conformidade conteúdo principal, NR-11 Portaria 3214/78, abordagens complementares de NR01, NR06, NR12, NR17, NR23. Realizado na modalidade online pela empresa Volga Engenharia Ind. E comércio Ltda, localizada na Av. Elmar Arantes Cabral, SN, Quadra 001, Lote 5, CEP 74.993-535, Parque Industrial Vice-Presidente José Alencar, Aparecida de Goiânia-GO - CNPJ: 03.347.463/0001-12. Carga horária de 02 (</a:t>
            </a:r>
            <a:r>
              <a:rPr lang="pt-BR" sz="1700" spc="-1" dirty="0">
                <a:solidFill>
                  <a:schemeClr val="dk1"/>
                </a:solidFill>
                <a:latin typeface="Arial"/>
              </a:rPr>
              <a:t>duas</a:t>
            </a:r>
            <a:r>
              <a:rPr lang="pt-BR" sz="1700" b="0" strike="noStrike" spc="-1" dirty="0">
                <a:solidFill>
                  <a:schemeClr val="dk1"/>
                </a:solidFill>
                <a:latin typeface="Arial"/>
              </a:rPr>
              <a:t>) horas conforme determina legislação aplicável.</a:t>
            </a:r>
            <a:endParaRPr lang="pt-BR" sz="17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6" name="Picture 6"/>
          <p:cNvPicPr/>
          <p:nvPr/>
        </p:nvPicPr>
        <p:blipFill>
          <a:blip r:embed="rId2"/>
          <a:stretch/>
        </p:blipFill>
        <p:spPr>
          <a:xfrm>
            <a:off x="6627240" y="6323400"/>
            <a:ext cx="2497680" cy="21240"/>
          </a:xfrm>
          <a:prstGeom prst="rect">
            <a:avLst/>
          </a:prstGeom>
          <a:ln w="0">
            <a:noFill/>
          </a:ln>
        </p:spPr>
      </p:pic>
      <p:pic>
        <p:nvPicPr>
          <p:cNvPr id="57" name="Picture 7"/>
          <p:cNvPicPr/>
          <p:nvPr/>
        </p:nvPicPr>
        <p:blipFill>
          <a:blip r:embed="rId2"/>
          <a:stretch/>
        </p:blipFill>
        <p:spPr>
          <a:xfrm>
            <a:off x="893520" y="6305760"/>
            <a:ext cx="2497680" cy="21240"/>
          </a:xfrm>
          <a:prstGeom prst="rect">
            <a:avLst/>
          </a:prstGeom>
          <a:ln w="0">
            <a:noFill/>
          </a:ln>
        </p:spPr>
      </p:pic>
      <p:sp>
        <p:nvSpPr>
          <p:cNvPr id="58" name="TextBox 12"/>
          <p:cNvSpPr/>
          <p:nvPr/>
        </p:nvSpPr>
        <p:spPr>
          <a:xfrm>
            <a:off x="6680160" y="6390000"/>
            <a:ext cx="2530440" cy="35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1400"/>
              </a:lnSpc>
            </a:pPr>
            <a:r>
              <a:rPr lang="pt-BR" sz="1300" b="1" strike="noStrike" spc="185" dirty="0">
                <a:solidFill>
                  <a:srgbClr val="000000"/>
                </a:solidFill>
                <a:latin typeface="Arial"/>
              </a:rPr>
              <a:t>Lidian Katlheen R. de Oliveira</a:t>
            </a:r>
            <a:endParaRPr lang="pt-BR" sz="13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Box 13"/>
          <p:cNvSpPr/>
          <p:nvPr/>
        </p:nvSpPr>
        <p:spPr>
          <a:xfrm>
            <a:off x="6125400" y="6696720"/>
            <a:ext cx="3085200" cy="35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1395"/>
              </a:lnSpc>
            </a:pPr>
            <a:br>
              <a:rPr sz="1400"/>
            </a:br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Box 15"/>
          <p:cNvSpPr/>
          <p:nvPr/>
        </p:nvSpPr>
        <p:spPr>
          <a:xfrm>
            <a:off x="1062360" y="6852600"/>
            <a:ext cx="2082600" cy="13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1100"/>
              </a:lnSpc>
            </a:pPr>
            <a:r>
              <a:rPr lang="pt-BR" sz="1300" b="0" strike="noStrike" spc="114">
                <a:solidFill>
                  <a:schemeClr val="dk1">
                    <a:lumMod val="75000"/>
                    <a:lumOff val="25000"/>
                  </a:schemeClr>
                </a:solidFill>
                <a:latin typeface="Avenir Next LT Pro"/>
                <a:ea typeface="Open Sans"/>
              </a:rPr>
              <a:t>Colaborador</a:t>
            </a:r>
            <a:endParaRPr lang="pt-BR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Box 13"/>
          <p:cNvSpPr/>
          <p:nvPr/>
        </p:nvSpPr>
        <p:spPr>
          <a:xfrm>
            <a:off x="6517080" y="6754320"/>
            <a:ext cx="3085200" cy="53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1409"/>
              </a:lnSpc>
            </a:pPr>
            <a:r>
              <a:rPr lang="pt-BR" sz="1300" b="0" strike="noStrike" spc="114">
                <a:solidFill>
                  <a:srgbClr val="2E2E2E"/>
                </a:solidFill>
                <a:latin typeface="Avenir Next LT Pro"/>
                <a:ea typeface="Open Sans"/>
              </a:rPr>
              <a:t>Instrutor</a:t>
            </a:r>
            <a:endParaRPr lang="pt-BR" sz="13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409"/>
              </a:lnSpc>
            </a:pPr>
            <a:r>
              <a:rPr lang="pt-BR" sz="1300" b="0" strike="noStrike" spc="114">
                <a:solidFill>
                  <a:srgbClr val="2E2E2E"/>
                </a:solidFill>
                <a:latin typeface="Avenir Next LT Pro"/>
                <a:ea typeface="Open Sans"/>
              </a:rPr>
              <a:t>Téc. Segurança do Trabalho</a:t>
            </a:r>
            <a:endParaRPr lang="pt-BR" sz="13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409"/>
              </a:lnSpc>
            </a:pPr>
            <a:r>
              <a:rPr lang="pt-BR" sz="1300" b="0" strike="noStrike" spc="114">
                <a:solidFill>
                  <a:srgbClr val="2E2E2E"/>
                </a:solidFill>
                <a:latin typeface="Avenir Next LT Pro"/>
                <a:ea typeface="Open Sans"/>
              </a:rPr>
              <a:t>Reg: 0023880/GO</a:t>
            </a:r>
            <a:endParaRPr lang="pt-BR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Box 12"/>
          <p:cNvSpPr/>
          <p:nvPr/>
        </p:nvSpPr>
        <p:spPr>
          <a:xfrm>
            <a:off x="847080" y="6388200"/>
            <a:ext cx="2530440" cy="35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1400"/>
              </a:lnSpc>
            </a:pPr>
            <a:r>
              <a:rPr lang="pt-BR" sz="1400" b="1" strike="noStrike" spc="185" dirty="0">
                <a:solidFill>
                  <a:srgbClr val="000000"/>
                </a:solidFill>
                <a:latin typeface="Arial"/>
              </a:rPr>
              <a:t>Guilherme Exemplo Viana</a:t>
            </a:r>
            <a:endParaRPr lang="pt-BR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3" name="Picture 7"/>
          <p:cNvPicPr/>
          <p:nvPr/>
        </p:nvPicPr>
        <p:blipFill>
          <a:blip r:embed="rId2"/>
          <a:stretch/>
        </p:blipFill>
        <p:spPr>
          <a:xfrm>
            <a:off x="3736080" y="6316920"/>
            <a:ext cx="2497680" cy="21240"/>
          </a:xfrm>
          <a:prstGeom prst="rect">
            <a:avLst/>
          </a:prstGeom>
          <a:ln w="0">
            <a:noFill/>
          </a:ln>
        </p:spPr>
      </p:pic>
      <p:sp>
        <p:nvSpPr>
          <p:cNvPr id="64" name="CaixaDeTexto 21"/>
          <p:cNvSpPr/>
          <p:nvPr/>
        </p:nvSpPr>
        <p:spPr>
          <a:xfrm>
            <a:off x="3733560" y="6606360"/>
            <a:ext cx="2632320" cy="98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ts val="1409"/>
              </a:lnSpc>
            </a:pPr>
            <a:r>
              <a:rPr lang="pt-BR" sz="1300" b="0" strike="noStrike" spc="114" dirty="0">
                <a:solidFill>
                  <a:srgbClr val="2E2E2E"/>
                </a:solidFill>
                <a:latin typeface="Avenir Next LT Pro"/>
                <a:ea typeface="Open Sans"/>
              </a:rPr>
              <a:t>Responsável Técnico</a:t>
            </a:r>
            <a:endParaRPr lang="pt-BR" sz="1300" b="0" strike="noStrike" spc="-1" dirty="0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409"/>
              </a:lnSpc>
            </a:pPr>
            <a:r>
              <a:rPr lang="pt-BR" sz="1300" b="0" strike="noStrike" spc="114" dirty="0">
                <a:solidFill>
                  <a:srgbClr val="2E2E2E"/>
                </a:solidFill>
                <a:latin typeface="Avenir Next LT Pro"/>
                <a:ea typeface="Open Sans"/>
              </a:rPr>
              <a:t>Engenheiro Mecânico e Segurança do Trabalho</a:t>
            </a:r>
            <a:endParaRPr lang="pt-BR" sz="1300" b="0" strike="noStrike" spc="-1" dirty="0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409"/>
              </a:lnSpc>
            </a:pPr>
            <a:r>
              <a:rPr lang="pt-BR" sz="1300" b="0" strike="noStrike" spc="114" dirty="0">
                <a:solidFill>
                  <a:srgbClr val="2E2E2E"/>
                </a:solidFill>
                <a:latin typeface="Avenir Next LT Pro"/>
                <a:ea typeface="Open Sans"/>
              </a:rPr>
              <a:t>Crea: 102114193D/GO</a:t>
            </a:r>
            <a:endParaRPr lang="pt-BR" sz="1300" b="0" strike="noStrike" spc="-1" dirty="0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409"/>
              </a:lnSpc>
            </a:pPr>
            <a:endParaRPr lang="pt-BR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CaixaDeTexto 25"/>
          <p:cNvSpPr/>
          <p:nvPr/>
        </p:nvSpPr>
        <p:spPr>
          <a:xfrm>
            <a:off x="3598920" y="6338880"/>
            <a:ext cx="2766960" cy="267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ts val="1400"/>
              </a:lnSpc>
            </a:pPr>
            <a:r>
              <a:rPr lang="pt-BR" sz="1400" b="1" strike="noStrike" spc="185" dirty="0">
                <a:solidFill>
                  <a:srgbClr val="000000"/>
                </a:solidFill>
                <a:latin typeface="Arial"/>
              </a:rPr>
              <a:t>Daniel Moreira Oliveira</a:t>
            </a:r>
            <a:endParaRPr lang="pt-BR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9"/>
          <p:cNvSpPr/>
          <p:nvPr/>
        </p:nvSpPr>
        <p:spPr>
          <a:xfrm>
            <a:off x="218160" y="304605"/>
            <a:ext cx="4407120" cy="22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749"/>
              </a:lnSpc>
            </a:pPr>
            <a:r>
              <a:rPr lang="en-US" sz="1600" b="1" strike="noStrike" spc="185" dirty="0">
                <a:solidFill>
                  <a:srgbClr val="000000"/>
                </a:solidFill>
                <a:latin typeface="Arial"/>
                <a:ea typeface="Open Sans"/>
              </a:rPr>
              <a:t>CONTEÚDO PR</a:t>
            </a:r>
            <a:r>
              <a:rPr lang="pt-BR" sz="1600" b="1" strike="noStrike" spc="185" dirty="0">
                <a:solidFill>
                  <a:srgbClr val="000000"/>
                </a:solidFill>
                <a:latin typeface="Arial"/>
                <a:ea typeface="Open Sans"/>
              </a:rPr>
              <a:t>O</a:t>
            </a:r>
            <a:r>
              <a:rPr lang="en-US" sz="1600" b="1" strike="noStrike" spc="185" dirty="0">
                <a:solidFill>
                  <a:srgbClr val="000000"/>
                </a:solidFill>
                <a:latin typeface="Arial"/>
                <a:ea typeface="Open Sans"/>
              </a:rPr>
              <a:t>G</a:t>
            </a:r>
            <a:r>
              <a:rPr lang="pt-BR" sz="1600" b="1" strike="noStrike" spc="185" dirty="0">
                <a:solidFill>
                  <a:srgbClr val="000000"/>
                </a:solidFill>
                <a:latin typeface="Arial"/>
                <a:ea typeface="Open Sans"/>
              </a:rPr>
              <a:t>RA</a:t>
            </a:r>
            <a:r>
              <a:rPr lang="en-US" sz="1600" b="1" strike="noStrike" spc="185" dirty="0">
                <a:solidFill>
                  <a:srgbClr val="000000"/>
                </a:solidFill>
                <a:latin typeface="Arial"/>
                <a:ea typeface="Open Sans"/>
              </a:rPr>
              <a:t>MÁTICO</a:t>
            </a:r>
            <a:endParaRPr lang="pt-BR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Caixa de Texto 3"/>
          <p:cNvSpPr/>
          <p:nvPr/>
        </p:nvSpPr>
        <p:spPr>
          <a:xfrm>
            <a:off x="218160" y="720090"/>
            <a:ext cx="4740840" cy="547696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400" b="0" strike="noStrike" spc="-1" dirty="0">
                <a:solidFill>
                  <a:schemeClr val="dk1"/>
                </a:solidFill>
                <a:latin typeface="Arial"/>
              </a:rPr>
              <a:t>Introdução sobre operação;</a:t>
            </a:r>
            <a:endParaRPr lang="pt-BR" sz="14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400" b="0" strike="noStrike" spc="-1" dirty="0">
                <a:solidFill>
                  <a:schemeClr val="dk1"/>
                </a:solidFill>
                <a:latin typeface="Arial"/>
              </a:rPr>
              <a:t>Conceitos e riscos relacionados a operação;</a:t>
            </a:r>
            <a:endParaRPr lang="pt-BR" sz="14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400" b="0" strike="noStrike" spc="-1" dirty="0">
                <a:solidFill>
                  <a:schemeClr val="dk1"/>
                </a:solidFill>
                <a:latin typeface="Arial"/>
              </a:rPr>
              <a:t>NR-11 Portaria 3214/78;</a:t>
            </a:r>
            <a:endParaRPr lang="pt-BR" sz="14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400" b="0" strike="noStrike" spc="-1" dirty="0">
                <a:solidFill>
                  <a:schemeClr val="dk1"/>
                </a:solidFill>
                <a:latin typeface="Arial"/>
                <a:ea typeface="Microsoft YaHei"/>
              </a:rPr>
              <a:t>Introdução NR 01</a:t>
            </a:r>
            <a:endParaRPr lang="pt-BR" sz="14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400" b="0" strike="noStrike" spc="-1" dirty="0">
                <a:solidFill>
                  <a:schemeClr val="dk1"/>
                </a:solidFill>
                <a:latin typeface="Arial"/>
                <a:ea typeface="Microsoft YaHei"/>
              </a:rPr>
              <a:t>Introdução NR 06</a:t>
            </a:r>
            <a:endParaRPr lang="pt-BR" sz="14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400" b="0" strike="noStrike" spc="-1" dirty="0">
                <a:solidFill>
                  <a:schemeClr val="dk1"/>
                </a:solidFill>
                <a:latin typeface="Arial"/>
                <a:ea typeface="Microsoft YaHei"/>
              </a:rPr>
              <a:t>Introdução NR 07</a:t>
            </a:r>
            <a:endParaRPr lang="pt-BR" sz="14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400" b="0" strike="noStrike" spc="-1" dirty="0">
                <a:solidFill>
                  <a:schemeClr val="dk1"/>
                </a:solidFill>
                <a:latin typeface="Arial"/>
                <a:ea typeface="Microsoft YaHei"/>
              </a:rPr>
              <a:t>Introdução NR 09</a:t>
            </a:r>
            <a:endParaRPr lang="pt-BR" sz="14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400" b="0" strike="noStrike" spc="-1" dirty="0">
                <a:solidFill>
                  <a:schemeClr val="dk1"/>
                </a:solidFill>
                <a:latin typeface="Arial"/>
                <a:ea typeface="Microsoft YaHei"/>
              </a:rPr>
              <a:t>Introdução NR 10</a:t>
            </a:r>
            <a:endParaRPr lang="pt-BR" sz="14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400" b="0" strike="noStrike" spc="-1" dirty="0">
                <a:solidFill>
                  <a:schemeClr val="dk1"/>
                </a:solidFill>
                <a:latin typeface="Arial"/>
                <a:ea typeface="Microsoft YaHei"/>
              </a:rPr>
              <a:t>Introdução NR 11</a:t>
            </a:r>
            <a:endParaRPr lang="pt-BR" sz="14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400" b="0" strike="noStrike" spc="-1" dirty="0">
                <a:solidFill>
                  <a:schemeClr val="dk1"/>
                </a:solidFill>
                <a:latin typeface="Arial"/>
                <a:ea typeface="Microsoft YaHei"/>
              </a:rPr>
              <a:t>Introdução NR 12</a:t>
            </a:r>
            <a:endParaRPr lang="pt-BR" sz="14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400" b="0" strike="noStrike" spc="-1" dirty="0">
                <a:solidFill>
                  <a:schemeClr val="dk1"/>
                </a:solidFill>
                <a:latin typeface="Arial"/>
                <a:ea typeface="Microsoft YaHei"/>
              </a:rPr>
              <a:t>Introdução NR 17</a:t>
            </a:r>
            <a:endParaRPr lang="pt-BR" sz="14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400" b="0" strike="noStrike" spc="-1" dirty="0">
                <a:solidFill>
                  <a:schemeClr val="dk1"/>
                </a:solidFill>
                <a:latin typeface="Arial"/>
                <a:ea typeface="Microsoft YaHei"/>
              </a:rPr>
              <a:t>Introdução NR 23</a:t>
            </a:r>
            <a:endParaRPr lang="pt-BR" sz="14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4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400" b="0" strike="noStrike" spc="-1" dirty="0">
                <a:solidFill>
                  <a:schemeClr val="dk1"/>
                </a:solidFill>
                <a:latin typeface="Arial"/>
                <a:ea typeface="Microsoft YaHei"/>
              </a:rPr>
              <a:t>Paleteira</a:t>
            </a:r>
          </a:p>
          <a:p>
            <a:pPr defTabSz="914400">
              <a:lnSpc>
                <a:spcPct val="100000"/>
              </a:lnSpc>
            </a:pPr>
            <a:r>
              <a:rPr lang="pt-BR" sz="1400" b="0" strike="noStrike" spc="-1" dirty="0">
                <a:solidFill>
                  <a:schemeClr val="dk1"/>
                </a:solidFill>
                <a:latin typeface="Arial"/>
                <a:ea typeface="Microsoft YaHei"/>
              </a:rPr>
              <a:t>Deslocamento do equipamento</a:t>
            </a:r>
            <a:endParaRPr lang="pt-BR" sz="14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400" b="0" strike="noStrike" spc="-1" dirty="0">
                <a:solidFill>
                  <a:schemeClr val="dk1"/>
                </a:solidFill>
                <a:latin typeface="Arial"/>
                <a:ea typeface="Microsoft YaHei"/>
              </a:rPr>
              <a:t>Plano de manutenção </a:t>
            </a:r>
            <a:endParaRPr lang="pt-BR" sz="14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400" b="0" strike="noStrike" spc="-1" dirty="0">
                <a:solidFill>
                  <a:schemeClr val="dk1"/>
                </a:solidFill>
                <a:latin typeface="Arial"/>
                <a:ea typeface="Microsoft YaHei"/>
              </a:rPr>
              <a:t>Simbologia </a:t>
            </a:r>
            <a:endParaRPr lang="pt-BR" sz="14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400" b="0" strike="noStrike" spc="-1" dirty="0">
                <a:solidFill>
                  <a:schemeClr val="dk1"/>
                </a:solidFill>
                <a:latin typeface="Arial"/>
                <a:ea typeface="Microsoft YaHei"/>
              </a:rPr>
              <a:t>Regras Básicas de Segurança na operação </a:t>
            </a:r>
            <a:endParaRPr lang="pt-BR" sz="14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400" b="0" strike="noStrike" spc="-1" dirty="0">
                <a:solidFill>
                  <a:schemeClr val="dk1"/>
                </a:solidFill>
                <a:latin typeface="Arial"/>
                <a:ea typeface="Microsoft YaHei"/>
              </a:rPr>
              <a:t>Acidente do Trabalho</a:t>
            </a:r>
            <a:endParaRPr lang="pt-BR" sz="14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400" b="0" strike="noStrike" spc="-1" dirty="0">
                <a:solidFill>
                  <a:schemeClr val="dk1"/>
                </a:solidFill>
                <a:latin typeface="Arial"/>
                <a:ea typeface="Microsoft YaHei"/>
              </a:rPr>
              <a:t>Inspeção visual na paleteira</a:t>
            </a:r>
          </a:p>
          <a:p>
            <a:pPr defTabSz="914400">
              <a:lnSpc>
                <a:spcPct val="100000"/>
              </a:lnSpc>
            </a:pPr>
            <a:r>
              <a:rPr lang="pt-BR" sz="1400" b="0" strike="noStrike" spc="-1" dirty="0">
                <a:solidFill>
                  <a:schemeClr val="dk1"/>
                </a:solidFill>
                <a:latin typeface="Arial"/>
                <a:ea typeface="Microsoft YaHei"/>
              </a:rPr>
              <a:t>Movimentação de cargas; </a:t>
            </a:r>
            <a:endParaRPr lang="pt-BR" sz="14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400" b="0" strike="noStrike" spc="-1" dirty="0">
                <a:solidFill>
                  <a:schemeClr val="dk1"/>
                </a:solidFill>
                <a:latin typeface="Arial"/>
                <a:ea typeface="Microsoft YaHei"/>
              </a:rPr>
              <a:t>Movimentação de paletes;</a:t>
            </a:r>
            <a:endParaRPr lang="pt-BR" sz="14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400" b="0" strike="noStrike" spc="-1" dirty="0">
                <a:solidFill>
                  <a:schemeClr val="dk1"/>
                </a:solidFill>
                <a:latin typeface="Arial"/>
                <a:ea typeface="Microsoft YaHei"/>
              </a:rPr>
              <a:t>Movimentação de </a:t>
            </a:r>
            <a:r>
              <a:rPr lang="pt-BR" sz="1400" b="0" strike="noStrike" spc="-1" dirty="0" err="1">
                <a:solidFill>
                  <a:schemeClr val="dk1"/>
                </a:solidFill>
                <a:latin typeface="Arial"/>
                <a:ea typeface="Microsoft YaHei"/>
              </a:rPr>
              <a:t>zig-zag</a:t>
            </a:r>
            <a:r>
              <a:rPr lang="pt-BR" sz="1400" b="0" strike="noStrike" spc="-1" dirty="0">
                <a:solidFill>
                  <a:schemeClr val="dk1"/>
                </a:solidFill>
                <a:latin typeface="Arial"/>
                <a:ea typeface="Microsoft YaHei"/>
              </a:rPr>
              <a:t>;</a:t>
            </a:r>
            <a:endParaRPr lang="pt-BR" sz="14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400" b="0" strike="noStrike" spc="-1" dirty="0">
                <a:solidFill>
                  <a:schemeClr val="dk1"/>
                </a:solidFill>
                <a:latin typeface="Arial"/>
                <a:ea typeface="Microsoft YaHei"/>
              </a:rPr>
              <a:t>Regras gerais de segurança para operador </a:t>
            </a:r>
            <a:endParaRPr lang="pt-BR" sz="14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400" spc="-1" dirty="0">
                <a:solidFill>
                  <a:schemeClr val="dk1"/>
                </a:solidFill>
                <a:latin typeface="Arial"/>
                <a:ea typeface="Microsoft YaHei"/>
              </a:rPr>
              <a:t>d</a:t>
            </a:r>
            <a:r>
              <a:rPr lang="pt-BR" sz="1400" b="0" strike="noStrike" spc="-1" dirty="0">
                <a:solidFill>
                  <a:schemeClr val="dk1"/>
                </a:solidFill>
                <a:latin typeface="Arial"/>
                <a:ea typeface="Microsoft YaHei"/>
              </a:rPr>
              <a:t>e paleteira</a:t>
            </a:r>
            <a:endParaRPr lang="pt-BR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Caixa de Texto 1"/>
          <p:cNvSpPr/>
          <p:nvPr/>
        </p:nvSpPr>
        <p:spPr>
          <a:xfrm>
            <a:off x="4959000" y="110880"/>
            <a:ext cx="5953320" cy="66311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400" b="0" strike="noStrike" spc="-1" dirty="0">
                <a:solidFill>
                  <a:schemeClr val="dk1"/>
                </a:solidFill>
                <a:latin typeface="Arial"/>
                <a:ea typeface="Microsoft YaHei"/>
              </a:rPr>
              <a:t>Limpeza em geral da máquina e ambiente</a:t>
            </a:r>
            <a:endParaRPr lang="pt-BR" sz="14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400" b="0" strike="noStrike" spc="-1" dirty="0">
                <a:solidFill>
                  <a:schemeClr val="dk1"/>
                </a:solidFill>
                <a:latin typeface="Arial"/>
                <a:ea typeface="Microsoft YaHei"/>
              </a:rPr>
              <a:t>Responsabilidade do Operador de Máquina  - </a:t>
            </a:r>
            <a:endParaRPr lang="pt-BR" sz="14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400" b="0" strike="noStrike" spc="-1" dirty="0">
                <a:solidFill>
                  <a:schemeClr val="dk1"/>
                </a:solidFill>
                <a:latin typeface="Arial"/>
                <a:ea typeface="Microsoft YaHei"/>
              </a:rPr>
              <a:t>Noções sobre Direção Defensiva </a:t>
            </a:r>
            <a:endParaRPr lang="pt-BR" sz="14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400" b="0" strike="noStrike" spc="-1" dirty="0">
                <a:solidFill>
                  <a:schemeClr val="dk1"/>
                </a:solidFill>
                <a:latin typeface="Arial"/>
                <a:ea typeface="Microsoft YaHei"/>
              </a:rPr>
              <a:t>Estabilidade e capacidade de carga;</a:t>
            </a:r>
            <a:endParaRPr lang="pt-BR" sz="14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6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400" b="1" strike="noStrike" spc="-1" dirty="0">
                <a:solidFill>
                  <a:schemeClr val="dk1"/>
                </a:solidFill>
                <a:latin typeface="Arial"/>
                <a:ea typeface="Microsoft YaHei"/>
              </a:rPr>
              <a:t>Objetivo:</a:t>
            </a:r>
            <a:r>
              <a:rPr lang="pt-BR" sz="1400" b="0" strike="noStrike" spc="-1" dirty="0">
                <a:solidFill>
                  <a:schemeClr val="dk1"/>
                </a:solidFill>
                <a:latin typeface="Arial"/>
                <a:ea typeface="Microsoft YaHei"/>
              </a:rPr>
              <a:t> Sensibilizar os operadores de transpaleteira quanto a necessidade de neutralizar ao máximo a possibilidade de provocar acidentes durante a operação de equipamentos de movimentação de cargas. </a:t>
            </a:r>
            <a:endParaRPr lang="pt-BR" sz="14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400" b="0" strike="noStrike" spc="-1" dirty="0">
                <a:solidFill>
                  <a:schemeClr val="dk1"/>
                </a:solidFill>
                <a:latin typeface="Arial"/>
                <a:ea typeface="Microsoft YaHei"/>
              </a:rPr>
              <a:t>Conceito da </a:t>
            </a:r>
            <a:r>
              <a:rPr lang="pt-BR" sz="1400" spc="-1" dirty="0">
                <a:solidFill>
                  <a:schemeClr val="dk1"/>
                </a:solidFill>
                <a:latin typeface="Arial"/>
                <a:ea typeface="Microsoft YaHei"/>
              </a:rPr>
              <a:t>Paleteira</a:t>
            </a:r>
            <a:r>
              <a:rPr lang="pt-BR" sz="1400" b="0" strike="noStrike" spc="-1" dirty="0">
                <a:solidFill>
                  <a:schemeClr val="dk1"/>
                </a:solidFill>
                <a:latin typeface="Arial"/>
                <a:ea typeface="Microsoft YaHei"/>
              </a:rPr>
              <a:t>;</a:t>
            </a:r>
            <a:endParaRPr lang="pt-BR" sz="1400" b="0" strike="noStrike" spc="-1" dirty="0">
              <a:solidFill>
                <a:srgbClr val="000000"/>
              </a:solidFill>
              <a:latin typeface="Arial"/>
            </a:endParaRPr>
          </a:p>
          <a:p>
            <a:r>
              <a:rPr lang="pt-BR" sz="1400" b="0" strike="noStrike" spc="-1" dirty="0">
                <a:solidFill>
                  <a:schemeClr val="dk1"/>
                </a:solidFill>
                <a:latin typeface="Arial"/>
                <a:ea typeface="Microsoft YaHei"/>
              </a:rPr>
              <a:t>Principais características das </a:t>
            </a:r>
            <a:r>
              <a:rPr lang="pt-BR" sz="1400" spc="-1" dirty="0">
                <a:solidFill>
                  <a:schemeClr val="dk1"/>
                </a:solidFill>
                <a:latin typeface="Arial"/>
                <a:ea typeface="Microsoft YaHei"/>
              </a:rPr>
              <a:t>Paleteira</a:t>
            </a:r>
            <a:r>
              <a:rPr lang="pt-BR" sz="1400" b="0" strike="noStrike" spc="-1" dirty="0">
                <a:solidFill>
                  <a:schemeClr val="dk1"/>
                </a:solidFill>
                <a:latin typeface="Arial"/>
                <a:ea typeface="Microsoft YaHei"/>
              </a:rPr>
              <a:t>;</a:t>
            </a:r>
            <a:endParaRPr lang="pt-BR" sz="14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400" b="0" strike="noStrike" spc="-1" dirty="0">
                <a:solidFill>
                  <a:schemeClr val="dk1"/>
                </a:solidFill>
                <a:latin typeface="Arial"/>
                <a:ea typeface="Microsoft YaHei"/>
              </a:rPr>
              <a:t>Procedimentos operacionais; </a:t>
            </a:r>
            <a:endParaRPr lang="pt-BR" sz="14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400" b="0" strike="noStrike" spc="-1" dirty="0">
                <a:solidFill>
                  <a:schemeClr val="dk1"/>
                </a:solidFill>
                <a:latin typeface="Arial"/>
                <a:ea typeface="Microsoft YaHei"/>
              </a:rPr>
              <a:t>Conceito do acidente no ambiente de trabalho;</a:t>
            </a:r>
            <a:endParaRPr lang="pt-BR" sz="14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400" b="0" strike="noStrike" spc="-1" dirty="0">
                <a:solidFill>
                  <a:schemeClr val="dk1"/>
                </a:solidFill>
                <a:latin typeface="Arial"/>
                <a:ea typeface="Microsoft YaHei"/>
              </a:rPr>
              <a:t>Tipos de acidente;</a:t>
            </a:r>
            <a:endParaRPr lang="pt-BR" sz="14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400" b="0" strike="noStrike" spc="-1" dirty="0">
                <a:solidFill>
                  <a:schemeClr val="dk1"/>
                </a:solidFill>
                <a:latin typeface="Arial"/>
                <a:ea typeface="Microsoft YaHei"/>
              </a:rPr>
              <a:t>Comunicação de Acidente de Trabalho – CAT; </a:t>
            </a:r>
            <a:endParaRPr lang="pt-BR" sz="14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400" b="0" strike="noStrike" spc="-1" dirty="0">
                <a:solidFill>
                  <a:schemeClr val="dk1"/>
                </a:solidFill>
                <a:latin typeface="Arial"/>
                <a:ea typeface="Microsoft YaHei"/>
              </a:rPr>
              <a:t>Causas de acidente de trabalho: homem, máquina, ambiente, </a:t>
            </a:r>
            <a:r>
              <a:rPr lang="pt-BR" sz="1400" b="0" strike="noStrike" spc="-1" dirty="0" err="1">
                <a:solidFill>
                  <a:schemeClr val="dk1"/>
                </a:solidFill>
                <a:latin typeface="Arial"/>
                <a:ea typeface="Microsoft YaHei"/>
              </a:rPr>
              <a:t>etc</a:t>
            </a:r>
            <a:r>
              <a:rPr lang="pt-BR" sz="1400" b="0" strike="noStrike" spc="-1" dirty="0">
                <a:solidFill>
                  <a:schemeClr val="dk1"/>
                </a:solidFill>
                <a:latin typeface="Arial"/>
                <a:ea typeface="Microsoft YaHei"/>
              </a:rPr>
              <a:t>;</a:t>
            </a:r>
            <a:endParaRPr lang="pt-BR" sz="14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400" b="0" strike="noStrike" spc="-1" dirty="0">
                <a:solidFill>
                  <a:schemeClr val="dk1"/>
                </a:solidFill>
                <a:latin typeface="Arial"/>
                <a:ea typeface="Microsoft YaHei"/>
              </a:rPr>
              <a:t>Consequências dos acidentes de trabalho; </a:t>
            </a:r>
            <a:endParaRPr lang="pt-BR" sz="14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400" b="0" strike="noStrike" spc="-1" dirty="0">
                <a:solidFill>
                  <a:schemeClr val="dk1"/>
                </a:solidFill>
                <a:latin typeface="Arial"/>
                <a:ea typeface="Microsoft YaHei"/>
              </a:rPr>
              <a:t>Acidentes com movimentação de máquinas;</a:t>
            </a:r>
            <a:endParaRPr lang="pt-BR" sz="14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400" b="0" strike="noStrike" spc="-1" dirty="0">
                <a:solidFill>
                  <a:schemeClr val="dk1"/>
                </a:solidFill>
                <a:latin typeface="Arial"/>
                <a:ea typeface="Microsoft YaHei"/>
              </a:rPr>
              <a:t>Manuseio e transporte de pallets com materiais diversos;</a:t>
            </a:r>
            <a:endParaRPr lang="pt-BR" sz="14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400" b="0" strike="noStrike" spc="-1" dirty="0">
                <a:solidFill>
                  <a:schemeClr val="dk1"/>
                </a:solidFill>
                <a:latin typeface="Arial"/>
                <a:ea typeface="Microsoft YaHei"/>
              </a:rPr>
              <a:t>Riscos ambientais: físicos, químicos, biológicos e ergonômicos no ambiente de trabalho;</a:t>
            </a:r>
            <a:endParaRPr lang="pt-BR" sz="14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400" b="0" strike="noStrike" spc="-1" dirty="0">
                <a:solidFill>
                  <a:schemeClr val="dk1"/>
                </a:solidFill>
                <a:latin typeface="Arial"/>
                <a:ea typeface="Microsoft YaHei"/>
              </a:rPr>
              <a:t>Riscos de acidentes; </a:t>
            </a:r>
            <a:endParaRPr lang="pt-BR" sz="14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400" b="0" strike="noStrike" spc="-1" dirty="0">
                <a:solidFill>
                  <a:schemeClr val="dk1"/>
                </a:solidFill>
                <a:latin typeface="Arial"/>
                <a:ea typeface="Microsoft YaHei"/>
              </a:rPr>
              <a:t>Metodologias de Análise de Riscos: conceitos e </a:t>
            </a:r>
            <a:endParaRPr lang="pt-BR" sz="14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400" b="0" strike="noStrike" spc="-1" dirty="0">
                <a:solidFill>
                  <a:schemeClr val="dk1"/>
                </a:solidFill>
                <a:latin typeface="Arial"/>
                <a:ea typeface="Microsoft YaHei"/>
              </a:rPr>
              <a:t>exercícios práticos;</a:t>
            </a:r>
            <a:endParaRPr lang="pt-BR" sz="14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400" b="0" strike="noStrike" spc="-1" dirty="0">
                <a:solidFill>
                  <a:schemeClr val="dk1"/>
                </a:solidFill>
                <a:latin typeface="Arial"/>
                <a:ea typeface="Microsoft YaHei"/>
              </a:rPr>
              <a:t>Equipamentos de Proteção Coletiva;</a:t>
            </a:r>
            <a:endParaRPr lang="pt-BR" sz="14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400" b="0" strike="noStrike" spc="-1" dirty="0">
                <a:solidFill>
                  <a:schemeClr val="dk1"/>
                </a:solidFill>
                <a:latin typeface="Arial"/>
                <a:ea typeface="Microsoft YaHei"/>
              </a:rPr>
              <a:t>Medidas técnicas e administrativas;</a:t>
            </a:r>
            <a:endParaRPr lang="pt-BR" sz="14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400" b="0" strike="noStrike" spc="-1" dirty="0">
                <a:solidFill>
                  <a:schemeClr val="dk1"/>
                </a:solidFill>
                <a:latin typeface="Arial"/>
                <a:ea typeface="Microsoft YaHei"/>
              </a:rPr>
              <a:t>Equipamentos de Proteção Individual;</a:t>
            </a:r>
            <a:endParaRPr lang="pt-BR" sz="14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400" b="0" strike="noStrike" spc="-1" dirty="0">
                <a:solidFill>
                  <a:schemeClr val="dk1"/>
                </a:solidFill>
                <a:latin typeface="Arial"/>
                <a:ea typeface="Microsoft YaHei"/>
              </a:rPr>
              <a:t>Inspeção de Segurança; </a:t>
            </a:r>
            <a:endParaRPr lang="pt-BR" sz="14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50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3360</TotalTime>
  <Words>415</Words>
  <Application>Microsoft Office PowerPoint</Application>
  <PresentationFormat>Personalizar</PresentationFormat>
  <Paragraphs>66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8" baseType="lpstr">
      <vt:lpstr>Avenir Next LT Pro</vt:lpstr>
      <vt:lpstr>Arial</vt:lpstr>
      <vt:lpstr>Symbol</vt:lpstr>
      <vt:lpstr>Times New Roman</vt:lpstr>
      <vt:lpstr>Wingdings</vt:lpstr>
      <vt:lpstr>Office Theme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 Achievement</dc:title>
  <dc:subject/>
  <dc:creator>Larissa Santana Rabelo</dc:creator>
  <dc:description/>
  <cp:lastModifiedBy>Volga Office</cp:lastModifiedBy>
  <cp:revision>44</cp:revision>
  <cp:lastPrinted>2025-06-28T10:51:19Z</cp:lastPrinted>
  <dcterms:created xsi:type="dcterms:W3CDTF">2006-08-16T00:00:00Z</dcterms:created>
  <dcterms:modified xsi:type="dcterms:W3CDTF">2025-10-01T17:27:36Z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5FD197FEF10A4E4FB139637E3CF775E3</vt:lpwstr>
  </property>
  <property fmtid="{D5CDD505-2E9C-101B-9397-08002B2CF9AE}" pid="3" name="KSOProductBuildVer">
    <vt:lpwstr>1046-11.2.0.10132</vt:lpwstr>
  </property>
  <property fmtid="{D5CDD505-2E9C-101B-9397-08002B2CF9AE}" pid="4" name="PresentationFormat">
    <vt:lpwstr>Personalizar</vt:lpwstr>
  </property>
  <property fmtid="{D5CDD505-2E9C-101B-9397-08002B2CF9AE}" pid="5" name="Slides">
    <vt:i4>2</vt:i4>
  </property>
</Properties>
</file>