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media/image1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0693400" cy="7556500"/>
  <p:notesSz cx="6797675" cy="987266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593A8C-1F08-4E0A-8983-7BFEF9A8637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885960" y="1138320"/>
            <a:ext cx="4314600" cy="304956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10920" y="4387320"/>
            <a:ext cx="4863240" cy="3561480"/>
          </a:xfrm>
          <a:prstGeom prst="rect">
            <a:avLst/>
          </a:prstGeom>
          <a:noFill/>
          <a:ln w="0">
            <a:noFill/>
          </a:ln>
        </p:spPr>
        <p:txBody>
          <a:bodyPr lIns="83520" rIns="83520" tIns="41760" bIns="4176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22"/>
          </p:nvPr>
        </p:nvSpPr>
        <p:spPr>
          <a:xfrm>
            <a:off x="3461760" y="8658720"/>
            <a:ext cx="2621880" cy="429120"/>
          </a:xfrm>
          <a:prstGeom prst="rect">
            <a:avLst/>
          </a:prstGeom>
          <a:noFill/>
          <a:ln w="0">
            <a:noFill/>
          </a:ln>
        </p:spPr>
        <p:txBody>
          <a:bodyPr lIns="83520" rIns="83520" tIns="41760" bIns="41760" anchor="b">
            <a:noAutofit/>
          </a:bodyPr>
          <a:lstStyle>
            <a:lvl1pPr indent="0" algn="r" defTabSz="835200">
              <a:lnSpc>
                <a:spcPct val="100000"/>
              </a:lnSpc>
              <a:buNone/>
              <a:tabLst>
                <a:tab algn="l" pos="0"/>
              </a:tabLst>
              <a:defRPr b="0" lang="pt-BR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835200">
              <a:lnSpc>
                <a:spcPct val="100000"/>
              </a:lnSpc>
              <a:buNone/>
              <a:tabLst>
                <a:tab algn="l" pos="0"/>
              </a:tabLst>
            </a:pPr>
            <a:fld id="{DA91C80B-4B8B-48AC-8FD4-E9688213BF28}" type="slidenum"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&lt;número&gt;</a:t>
            </a:fld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885960" y="1138320"/>
            <a:ext cx="4314600" cy="304956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10920" y="4387320"/>
            <a:ext cx="4863240" cy="3561480"/>
          </a:xfrm>
          <a:prstGeom prst="rect">
            <a:avLst/>
          </a:prstGeom>
          <a:noFill/>
          <a:ln w="0">
            <a:noFill/>
          </a:ln>
        </p:spPr>
        <p:txBody>
          <a:bodyPr lIns="83520" rIns="83520" tIns="41760" bIns="4176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23"/>
          </p:nvPr>
        </p:nvSpPr>
        <p:spPr>
          <a:xfrm>
            <a:off x="3461760" y="8658720"/>
            <a:ext cx="2621880" cy="429120"/>
          </a:xfrm>
          <a:prstGeom prst="rect">
            <a:avLst/>
          </a:prstGeom>
          <a:noFill/>
          <a:ln w="0">
            <a:noFill/>
          </a:ln>
        </p:spPr>
        <p:txBody>
          <a:bodyPr lIns="83520" rIns="83520" tIns="41760" bIns="41760" anchor="b">
            <a:noAutofit/>
          </a:bodyPr>
          <a:lstStyle>
            <a:lvl1pPr indent="0" algn="r" defTabSz="835200">
              <a:lnSpc>
                <a:spcPct val="100000"/>
              </a:lnSpc>
              <a:buNone/>
              <a:tabLst>
                <a:tab algn="l" pos="0"/>
              </a:tabLst>
              <a:defRPr b="0" lang="pt-BR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835200">
              <a:lnSpc>
                <a:spcPct val="100000"/>
              </a:lnSpc>
              <a:buNone/>
              <a:tabLst>
                <a:tab algn="l" pos="0"/>
              </a:tabLst>
            </a:pPr>
            <a:fld id="{B804419D-B1E6-4CBB-ACEB-CB9375E53152}" type="slidenum"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&lt;número&gt;</a:t>
            </a:fld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885960" y="1138320"/>
            <a:ext cx="4314600" cy="304956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10920" y="4387320"/>
            <a:ext cx="4863240" cy="3561480"/>
          </a:xfrm>
          <a:prstGeom prst="rect">
            <a:avLst/>
          </a:prstGeom>
          <a:noFill/>
          <a:ln w="0">
            <a:noFill/>
          </a:ln>
        </p:spPr>
        <p:txBody>
          <a:bodyPr lIns="83520" rIns="83520" tIns="41760" bIns="4176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24"/>
          </p:nvPr>
        </p:nvSpPr>
        <p:spPr>
          <a:xfrm>
            <a:off x="3461760" y="8658720"/>
            <a:ext cx="2621880" cy="429120"/>
          </a:xfrm>
          <a:prstGeom prst="rect">
            <a:avLst/>
          </a:prstGeom>
          <a:noFill/>
          <a:ln w="0">
            <a:noFill/>
          </a:ln>
        </p:spPr>
        <p:txBody>
          <a:bodyPr lIns="83520" rIns="83520" tIns="41760" bIns="41760" anchor="b">
            <a:noAutofit/>
          </a:bodyPr>
          <a:lstStyle>
            <a:lvl1pPr indent="0" algn="r" defTabSz="835200">
              <a:lnSpc>
                <a:spcPct val="100000"/>
              </a:lnSpc>
              <a:buNone/>
              <a:tabLst>
                <a:tab algn="l" pos="0"/>
              </a:tabLst>
              <a:defRPr b="0" lang="pt-BR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835200">
              <a:lnSpc>
                <a:spcPct val="100000"/>
              </a:lnSpc>
              <a:buNone/>
              <a:tabLst>
                <a:tab algn="l" pos="0"/>
              </a:tabLst>
            </a:pPr>
            <a:fld id="{D6BE95F3-8F8A-4387-8713-FF8AC32DFD87}" type="slidenum"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&lt;número&gt;</a:t>
            </a:fld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3FA644-A825-4CA4-BB88-04864D2FF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6000" cy="48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4920" cy="13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6380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4EA514-1024-4DD8-B72B-45FC9AED17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6000" cy="48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4920" cy="13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6380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A23C09-832E-42E4-B8A8-8B49C8C5AC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6000" cy="48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4920" cy="13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6380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908DC1-4D4E-4EA3-88A1-219DB307D6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6000" cy="48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4920" cy="13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6380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52AC90-34AA-441A-B457-3FEF84FEEC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6000" cy="48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4920" cy="13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34600" y="794520"/>
            <a:ext cx="96224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6380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1E6764-9364-401B-BD53-7D737DA428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6000" cy="48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4920" cy="13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794160"/>
            <a:ext cx="9622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380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BC62C1-9B3A-4872-9DDA-46756883213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02040" cy="3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2"/>
          <p:cNvGrpSpPr/>
          <p:nvPr/>
        </p:nvGrpSpPr>
        <p:grpSpPr>
          <a:xfrm>
            <a:off x="2625480" y="936360"/>
            <a:ext cx="8041680" cy="922320"/>
            <a:chOff x="2625480" y="936360"/>
            <a:chExt cx="8041680" cy="922320"/>
          </a:xfrm>
        </p:grpSpPr>
        <p:sp>
          <p:nvSpPr>
            <p:cNvPr id="50" name="Freeform 4"/>
            <p:cNvSpPr/>
            <p:nvPr/>
          </p:nvSpPr>
          <p:spPr>
            <a:xfrm>
              <a:off x="2625480" y="936360"/>
              <a:ext cx="8041680" cy="922320"/>
            </a:xfrm>
            <a:custGeom>
              <a:avLst/>
              <a:gdLst>
                <a:gd name="textAreaLeft" fmla="*/ 0 w 8041680"/>
                <a:gd name="textAreaRight" fmla="*/ 8072280 w 8041680"/>
                <a:gd name="textAreaTop" fmla="*/ 0 h 922320"/>
                <a:gd name="textAreaBottom" fmla="*/ 952920 h 9223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1" name="AutoShape 2"/>
          <p:cNvSpPr/>
          <p:nvPr/>
        </p:nvSpPr>
        <p:spPr>
          <a:xfrm flipV="1">
            <a:off x="508680" y="3420000"/>
            <a:ext cx="9599400" cy="360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52" name="Group 3"/>
          <p:cNvGrpSpPr/>
          <p:nvPr/>
        </p:nvGrpSpPr>
        <p:grpSpPr>
          <a:xfrm>
            <a:off x="0" y="393840"/>
            <a:ext cx="8872920" cy="1597680"/>
            <a:chOff x="0" y="393840"/>
            <a:chExt cx="8872920" cy="1597680"/>
          </a:xfrm>
        </p:grpSpPr>
        <p:sp>
          <p:nvSpPr>
            <p:cNvPr id="53" name="Freeform 5"/>
            <p:cNvSpPr/>
            <p:nvPr/>
          </p:nvSpPr>
          <p:spPr>
            <a:xfrm>
              <a:off x="0" y="393840"/>
              <a:ext cx="239400" cy="239400"/>
            </a:xfrm>
            <a:custGeom>
              <a:avLst/>
              <a:gdLst>
                <a:gd name="textAreaLeft" fmla="*/ 0 w 239400"/>
                <a:gd name="textAreaRight" fmla="*/ 270000 w 239400"/>
                <a:gd name="textAreaTop" fmla="*/ 0 h 239400"/>
                <a:gd name="textAreaBottom" fmla="*/ 270000 h 2394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" name="Freeform 6"/>
            <p:cNvSpPr/>
            <p:nvPr/>
          </p:nvSpPr>
          <p:spPr>
            <a:xfrm>
              <a:off x="0" y="663480"/>
              <a:ext cx="8872920" cy="1328040"/>
            </a:xfrm>
            <a:custGeom>
              <a:avLst/>
              <a:gdLst>
                <a:gd name="textAreaLeft" fmla="*/ 0 w 8872920"/>
                <a:gd name="textAreaRight" fmla="*/ 8903520 w 8872920"/>
                <a:gd name="textAreaTop" fmla="*/ 0 h 1328040"/>
                <a:gd name="textAreaBottom" fmla="*/ 1358640 h 13280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5" name="TextBox 8"/>
          <p:cNvSpPr/>
          <p:nvPr/>
        </p:nvSpPr>
        <p:spPr>
          <a:xfrm>
            <a:off x="1788480" y="1041120"/>
            <a:ext cx="70848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pt-BR" sz="5600" spc="360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9"/>
          <p:cNvSpPr/>
          <p:nvPr/>
        </p:nvSpPr>
        <p:spPr>
          <a:xfrm>
            <a:off x="500760" y="2211120"/>
            <a:ext cx="5898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Caixa de Texto 5"/>
          <p:cNvSpPr/>
          <p:nvPr/>
        </p:nvSpPr>
        <p:spPr>
          <a:xfrm>
            <a:off x="831240" y="4165560"/>
            <a:ext cx="87004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17/07/2026 o curso de NR-12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3" descr=""/>
          <p:cNvPicPr/>
          <p:nvPr/>
        </p:nvPicPr>
        <p:blipFill>
          <a:blip r:embed="rId1"/>
          <a:stretch/>
        </p:blipFill>
        <p:spPr>
          <a:xfrm>
            <a:off x="3597480" y="6377400"/>
            <a:ext cx="246816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Box 10"/>
          <p:cNvSpPr/>
          <p:nvPr/>
        </p:nvSpPr>
        <p:spPr>
          <a:xfrm>
            <a:off x="6251760" y="6080760"/>
            <a:ext cx="317520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___________________________ 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703440" y="6880680"/>
            <a:ext cx="2045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6309720" y="6526800"/>
            <a:ext cx="30067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3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48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02622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-180000" y="6513120"/>
            <a:ext cx="325224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" name="TextBox 14"/>
          <p:cNvSpPr/>
          <p:nvPr/>
        </p:nvSpPr>
        <p:spPr>
          <a:xfrm>
            <a:off x="720000" y="2725200"/>
            <a:ext cx="938376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4" name="Picture 4" descr=""/>
          <p:cNvPicPr/>
          <p:nvPr/>
        </p:nvPicPr>
        <p:blipFill>
          <a:blip r:embed="rId2"/>
          <a:stretch/>
        </p:blipFill>
        <p:spPr>
          <a:xfrm>
            <a:off x="6681600" y="6377760"/>
            <a:ext cx="246816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Caixa de Texto 6"/>
          <p:cNvSpPr/>
          <p:nvPr/>
        </p:nvSpPr>
        <p:spPr>
          <a:xfrm>
            <a:off x="3455280" y="6067440"/>
            <a:ext cx="25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Daniel Moreira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ixa de Texto 7"/>
          <p:cNvSpPr/>
          <p:nvPr/>
        </p:nvSpPr>
        <p:spPr>
          <a:xfrm>
            <a:off x="3151800" y="6423480"/>
            <a:ext cx="30920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Eng. Mecânico e Eng. Segurança do Trabalho 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Crea: 102114193D/GO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tângulo 2"/>
          <p:cNvSpPr/>
          <p:nvPr/>
        </p:nvSpPr>
        <p:spPr>
          <a:xfrm>
            <a:off x="-540000" y="2789280"/>
            <a:ext cx="113328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BRUNO DAS EXEMPLO BRITO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aixa de Texto 8"/>
          <p:cNvSpPr/>
          <p:nvPr/>
        </p:nvSpPr>
        <p:spPr>
          <a:xfrm>
            <a:off x="478440" y="6120000"/>
            <a:ext cx="25794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Bruno Das Exemplo Brito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46120" y="672480"/>
            <a:ext cx="5892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O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G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RA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MÁTICO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TEÓRICO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ixa de Texto 1"/>
          <p:cNvSpPr/>
          <p:nvPr/>
        </p:nvSpPr>
        <p:spPr>
          <a:xfrm>
            <a:off x="546120" y="4880880"/>
            <a:ext cx="5157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PROGRAMÁTICO  PRÁTICO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ixa de Texto 2"/>
          <p:cNvSpPr/>
          <p:nvPr/>
        </p:nvSpPr>
        <p:spPr>
          <a:xfrm>
            <a:off x="546120" y="5421240"/>
            <a:ext cx="92131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Demonstração prática dos perigos e dispositivos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Análise de risco;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Seleção, características, inspeção e cuidados com equipamentos;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Check-list;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Orientações gerais normas 06, 10,12, 17, 23 e 35;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Máquinas rotativas e abrasivas (lixadeira, parafusadeira, furadeira, furadeira martelete, maquita, pinador, policorte, serra circular);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Máquina de solda mig-mag,tig;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Outras máquinas: puncionadeira, prensa, dobra, guilhotina, mesa giratória, elevador SM6, bobinadeira;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Permissão de Trabalho.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aixaDeTexto 2"/>
          <p:cNvSpPr/>
          <p:nvPr/>
        </p:nvSpPr>
        <p:spPr>
          <a:xfrm>
            <a:off x="546120" y="911880"/>
            <a:ext cx="984384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Descrição e identificação dos riscos associados com cada máquina e equipamento e as proteções específicas contra cada um deles;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Funcionamento das proteções; como e por que devem ser usadas;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Como e em que circunstâncias uma proteção pode ser removida, e por quem, sendo na maioria dos casos, somente o pessoal de inspeção ou manutenção;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 que fazer, por exemplo, contatar o supervisor, se uma proteção foi danificada ou se perdeu sua função, deixando de garantir uma segurança adequada;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Os princípios de segurança na utilização da máquina ou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Segurança para riscos mecânicos, elétricos e outros relevantes;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Método de trabalho seguro;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Permissão de trabalho;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Sistema de bloqueio de funcionamento da máquina e equipamento durante operações de inspeção, limpeza, lubrificação e manutenção.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Legislação de segurança e saúde no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sobre acidentes e doenças decorrentes da exposição aos riscos existentes na máquina e equipamentos;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Medidas de controle dos riscos: Equipamentos de Proteção Coletiva - EPCs e Equipamentos de Proteção Individual - EPIs;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Exigências mínimas de segurança previstas nesta NR e na Norma Regulamentadora n.º 10 - Segurança em Instalações e Serviços em Eletricidade;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Medidas de segurança para injetoras elétricas e hidráulicas de comando manual;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Operação com segurança da máquina ou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Inspeção, regulagem e manutenção com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Sinalização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Procedimentos em situação de emergência;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de combate a incêndio;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sobre prestação de primeiros socorros.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4"/>
          <p:cNvGrpSpPr/>
          <p:nvPr/>
        </p:nvGrpSpPr>
        <p:grpSpPr>
          <a:xfrm>
            <a:off x="2625480" y="936360"/>
            <a:ext cx="8041680" cy="922320"/>
            <a:chOff x="2625480" y="936360"/>
            <a:chExt cx="8041680" cy="922320"/>
          </a:xfrm>
        </p:grpSpPr>
        <p:sp>
          <p:nvSpPr>
            <p:cNvPr id="74" name="Freeform 7"/>
            <p:cNvSpPr/>
            <p:nvPr/>
          </p:nvSpPr>
          <p:spPr>
            <a:xfrm>
              <a:off x="2625480" y="936360"/>
              <a:ext cx="8041680" cy="922320"/>
            </a:xfrm>
            <a:custGeom>
              <a:avLst/>
              <a:gdLst>
                <a:gd name="textAreaLeft" fmla="*/ 0 w 8041680"/>
                <a:gd name="textAreaRight" fmla="*/ 8072280 w 8041680"/>
                <a:gd name="textAreaTop" fmla="*/ 0 h 922320"/>
                <a:gd name="textAreaBottom" fmla="*/ 952920 h 9223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5" name="AutoShape 3"/>
          <p:cNvSpPr/>
          <p:nvPr/>
        </p:nvSpPr>
        <p:spPr>
          <a:xfrm flipV="1">
            <a:off x="508680" y="3420000"/>
            <a:ext cx="9599400" cy="360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76" name="Group 5"/>
          <p:cNvGrpSpPr/>
          <p:nvPr/>
        </p:nvGrpSpPr>
        <p:grpSpPr>
          <a:xfrm>
            <a:off x="0" y="393840"/>
            <a:ext cx="8872920" cy="1597680"/>
            <a:chOff x="0" y="393840"/>
            <a:chExt cx="8872920" cy="1597680"/>
          </a:xfrm>
        </p:grpSpPr>
        <p:sp>
          <p:nvSpPr>
            <p:cNvPr id="77" name="Freeform 8"/>
            <p:cNvSpPr/>
            <p:nvPr/>
          </p:nvSpPr>
          <p:spPr>
            <a:xfrm>
              <a:off x="0" y="393840"/>
              <a:ext cx="239400" cy="239400"/>
            </a:xfrm>
            <a:custGeom>
              <a:avLst/>
              <a:gdLst>
                <a:gd name="textAreaLeft" fmla="*/ 0 w 239400"/>
                <a:gd name="textAreaRight" fmla="*/ 270000 w 239400"/>
                <a:gd name="textAreaTop" fmla="*/ 0 h 239400"/>
                <a:gd name="textAreaBottom" fmla="*/ 270000 h 2394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8" name="Freeform 9"/>
            <p:cNvSpPr/>
            <p:nvPr/>
          </p:nvSpPr>
          <p:spPr>
            <a:xfrm>
              <a:off x="0" y="663480"/>
              <a:ext cx="8872920" cy="1328040"/>
            </a:xfrm>
            <a:custGeom>
              <a:avLst/>
              <a:gdLst>
                <a:gd name="textAreaLeft" fmla="*/ 0 w 8872920"/>
                <a:gd name="textAreaRight" fmla="*/ 8903520 w 8872920"/>
                <a:gd name="textAreaTop" fmla="*/ 0 h 1328040"/>
                <a:gd name="textAreaBottom" fmla="*/ 1358640 h 13280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9" name="TextBox 15"/>
          <p:cNvSpPr/>
          <p:nvPr/>
        </p:nvSpPr>
        <p:spPr>
          <a:xfrm>
            <a:off x="1788480" y="1041120"/>
            <a:ext cx="70848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pt-BR" sz="5600" spc="360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500760" y="2211120"/>
            <a:ext cx="5898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aixa de Texto 9"/>
          <p:cNvSpPr/>
          <p:nvPr/>
        </p:nvSpPr>
        <p:spPr>
          <a:xfrm>
            <a:off x="831240" y="4165560"/>
            <a:ext cx="87004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17/07/2026 o curso de NR-12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5" descr=""/>
          <p:cNvPicPr/>
          <p:nvPr/>
        </p:nvPicPr>
        <p:blipFill>
          <a:blip r:embed="rId1"/>
          <a:stretch/>
        </p:blipFill>
        <p:spPr>
          <a:xfrm>
            <a:off x="3597480" y="6377400"/>
            <a:ext cx="246816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17"/>
          <p:cNvSpPr/>
          <p:nvPr/>
        </p:nvSpPr>
        <p:spPr>
          <a:xfrm>
            <a:off x="6251760" y="6080760"/>
            <a:ext cx="317520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___________________________ 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703440" y="6880680"/>
            <a:ext cx="2045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6309720" y="6526800"/>
            <a:ext cx="30067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3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48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02622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-180000" y="6513120"/>
            <a:ext cx="325224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720000" y="2725200"/>
            <a:ext cx="938376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8" name="Picture 6" descr=""/>
          <p:cNvPicPr/>
          <p:nvPr/>
        </p:nvPicPr>
        <p:blipFill>
          <a:blip r:embed="rId2"/>
          <a:stretch/>
        </p:blipFill>
        <p:spPr>
          <a:xfrm>
            <a:off x="6681600" y="6377760"/>
            <a:ext cx="246816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Caixa de Texto 10"/>
          <p:cNvSpPr/>
          <p:nvPr/>
        </p:nvSpPr>
        <p:spPr>
          <a:xfrm>
            <a:off x="3455280" y="6067440"/>
            <a:ext cx="25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Daniel Moreira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aixa de Texto 11"/>
          <p:cNvSpPr/>
          <p:nvPr/>
        </p:nvSpPr>
        <p:spPr>
          <a:xfrm>
            <a:off x="3151800" y="6423480"/>
            <a:ext cx="30920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Eng. Mecânico e Eng. Segurança do Trabalho 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Crea: 102114193D/GO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tângulo 3"/>
          <p:cNvSpPr/>
          <p:nvPr/>
        </p:nvSpPr>
        <p:spPr>
          <a:xfrm>
            <a:off x="-540000" y="2789280"/>
            <a:ext cx="113328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JULIA DAS EXEMPLO PRADO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 de Texto 12"/>
          <p:cNvSpPr/>
          <p:nvPr/>
        </p:nvSpPr>
        <p:spPr>
          <a:xfrm>
            <a:off x="478440" y="6120000"/>
            <a:ext cx="25794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Julia Das Exemplo Prado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2"/>
          <p:cNvSpPr/>
          <p:nvPr/>
        </p:nvSpPr>
        <p:spPr>
          <a:xfrm>
            <a:off x="546120" y="672480"/>
            <a:ext cx="5892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O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G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RA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MÁTICO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TEÓRICO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ixa de Texto 3"/>
          <p:cNvSpPr/>
          <p:nvPr/>
        </p:nvSpPr>
        <p:spPr>
          <a:xfrm>
            <a:off x="546120" y="4880880"/>
            <a:ext cx="5157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PROGRAMÁTICO  PRÁTICO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 de Texto 4"/>
          <p:cNvSpPr/>
          <p:nvPr/>
        </p:nvSpPr>
        <p:spPr>
          <a:xfrm>
            <a:off x="546120" y="5421240"/>
            <a:ext cx="92131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Demonstração prática dos perigos e dispositivos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Análise de risco;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Seleção, características, inspeção e cuidados com equipamentos;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Check-list;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Orientações gerais normas 06, 10,12, 17, 23 e 35;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Máquinas rotativas e abrasivas (lixadeira, parafusadeira, furadeira, furadeira martelete, maquita, pinador, policorte, serra circular);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Máquina de solda mig-mag,tig;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Outras máquinas: puncionadeira, prensa, dobra, guilhotina, mesa giratória, elevador SM6, bobinadeira;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Permissão de Trabalho.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aixaDeTexto 3"/>
          <p:cNvSpPr/>
          <p:nvPr/>
        </p:nvSpPr>
        <p:spPr>
          <a:xfrm>
            <a:off x="546120" y="911880"/>
            <a:ext cx="984384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Descrição e identificação dos riscos associados com cada máquina e equipamento e as proteções específicas contra cada um deles;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Funcionamento das proteções; como e por que devem ser usadas;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Como e em que circunstâncias uma proteção pode ser removida, e por quem, sendo na maioria dos casos, somente o pessoal de inspeção ou manutenção;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 que fazer, por exemplo, contatar o supervisor, se uma proteção foi danificada ou se perdeu sua função, deixando de garantir uma segurança adequada;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Os princípios de segurança na utilização da máquina ou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Segurança para riscos mecânicos, elétricos e outros relevantes;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Método de trabalho seguro;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Permissão de trabalho;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Sistema de bloqueio de funcionamento da máquina e equipamento durante operações de inspeção, limpeza, lubrificação e manutenção.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Legislação de segurança e saúde no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sobre acidentes e doenças decorrentes da exposição aos riscos existentes na máquina e equipamentos;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Medidas de controle dos riscos: Equipamentos de Proteção Coletiva - EPCs e Equipamentos de Proteção Individual - EPIs;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Exigências mínimas de segurança previstas nesta NR e na Norma Regulamentadora n.º 10 - Segurança em Instalações e Serviços em Eletricidade;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Medidas de segurança para injetoras elétricas e hidráulicas de comando manual;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Operação com segurança da máquina ou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Inspeção, regulagem e manutenção com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Sinalização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Procedimentos em situação de emergência;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de combate a incêndio;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sobre prestação de primeiros socorros.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6"/>
          <p:cNvGrpSpPr/>
          <p:nvPr/>
        </p:nvGrpSpPr>
        <p:grpSpPr>
          <a:xfrm>
            <a:off x="2625480" y="936360"/>
            <a:ext cx="8041680" cy="922320"/>
            <a:chOff x="2625480" y="936360"/>
            <a:chExt cx="8041680" cy="922320"/>
          </a:xfrm>
        </p:grpSpPr>
        <p:sp>
          <p:nvSpPr>
            <p:cNvPr id="98" name="Freeform 10"/>
            <p:cNvSpPr/>
            <p:nvPr/>
          </p:nvSpPr>
          <p:spPr>
            <a:xfrm>
              <a:off x="2625480" y="936360"/>
              <a:ext cx="8041680" cy="922320"/>
            </a:xfrm>
            <a:custGeom>
              <a:avLst/>
              <a:gdLst>
                <a:gd name="textAreaLeft" fmla="*/ 0 w 8041680"/>
                <a:gd name="textAreaRight" fmla="*/ 8072280 w 8041680"/>
                <a:gd name="textAreaTop" fmla="*/ 0 h 922320"/>
                <a:gd name="textAreaBottom" fmla="*/ 952920 h 9223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99" name="AutoShape 4"/>
          <p:cNvSpPr/>
          <p:nvPr/>
        </p:nvSpPr>
        <p:spPr>
          <a:xfrm flipV="1">
            <a:off x="508680" y="3420000"/>
            <a:ext cx="9599400" cy="360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100" name="Group 7"/>
          <p:cNvGrpSpPr/>
          <p:nvPr/>
        </p:nvGrpSpPr>
        <p:grpSpPr>
          <a:xfrm>
            <a:off x="0" y="393840"/>
            <a:ext cx="8872920" cy="1597680"/>
            <a:chOff x="0" y="393840"/>
            <a:chExt cx="8872920" cy="1597680"/>
          </a:xfrm>
        </p:grpSpPr>
        <p:sp>
          <p:nvSpPr>
            <p:cNvPr id="101" name="Freeform 11"/>
            <p:cNvSpPr/>
            <p:nvPr/>
          </p:nvSpPr>
          <p:spPr>
            <a:xfrm>
              <a:off x="0" y="393840"/>
              <a:ext cx="239400" cy="239400"/>
            </a:xfrm>
            <a:custGeom>
              <a:avLst/>
              <a:gdLst>
                <a:gd name="textAreaLeft" fmla="*/ 0 w 239400"/>
                <a:gd name="textAreaRight" fmla="*/ 270000 w 239400"/>
                <a:gd name="textAreaTop" fmla="*/ 0 h 239400"/>
                <a:gd name="textAreaBottom" fmla="*/ 270000 h 2394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2" name="Freeform 12"/>
            <p:cNvSpPr/>
            <p:nvPr/>
          </p:nvSpPr>
          <p:spPr>
            <a:xfrm>
              <a:off x="0" y="663480"/>
              <a:ext cx="8872920" cy="1328040"/>
            </a:xfrm>
            <a:custGeom>
              <a:avLst/>
              <a:gdLst>
                <a:gd name="textAreaLeft" fmla="*/ 0 w 8872920"/>
                <a:gd name="textAreaRight" fmla="*/ 8903520 w 8872920"/>
                <a:gd name="textAreaTop" fmla="*/ 0 h 1328040"/>
                <a:gd name="textAreaBottom" fmla="*/ 1358640 h 13280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03" name="TextBox 22"/>
          <p:cNvSpPr/>
          <p:nvPr/>
        </p:nvSpPr>
        <p:spPr>
          <a:xfrm>
            <a:off x="1788480" y="1041120"/>
            <a:ext cx="70848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pt-BR" sz="5600" spc="360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3"/>
          <p:cNvSpPr/>
          <p:nvPr/>
        </p:nvSpPr>
        <p:spPr>
          <a:xfrm>
            <a:off x="500760" y="2211120"/>
            <a:ext cx="5898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ixa de Texto 13"/>
          <p:cNvSpPr/>
          <p:nvPr/>
        </p:nvSpPr>
        <p:spPr>
          <a:xfrm>
            <a:off x="831240" y="4165560"/>
            <a:ext cx="87004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17/07/2026 o curso de NR-12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1"/>
          <a:stretch/>
        </p:blipFill>
        <p:spPr>
          <a:xfrm>
            <a:off x="3597480" y="6377400"/>
            <a:ext cx="246816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Box 24"/>
          <p:cNvSpPr/>
          <p:nvPr/>
        </p:nvSpPr>
        <p:spPr>
          <a:xfrm>
            <a:off x="6251760" y="6080760"/>
            <a:ext cx="317520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___________________________ 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5"/>
          <p:cNvSpPr/>
          <p:nvPr/>
        </p:nvSpPr>
        <p:spPr>
          <a:xfrm>
            <a:off x="703440" y="6880680"/>
            <a:ext cx="2045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6"/>
          <p:cNvSpPr/>
          <p:nvPr/>
        </p:nvSpPr>
        <p:spPr>
          <a:xfrm>
            <a:off x="6309720" y="6526800"/>
            <a:ext cx="30067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3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48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02622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7"/>
          <p:cNvSpPr/>
          <p:nvPr/>
        </p:nvSpPr>
        <p:spPr>
          <a:xfrm>
            <a:off x="-180000" y="6513120"/>
            <a:ext cx="325224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TextBox 28"/>
          <p:cNvSpPr/>
          <p:nvPr/>
        </p:nvSpPr>
        <p:spPr>
          <a:xfrm>
            <a:off x="720000" y="2725200"/>
            <a:ext cx="938376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2" name="Picture 8" descr=""/>
          <p:cNvPicPr/>
          <p:nvPr/>
        </p:nvPicPr>
        <p:blipFill>
          <a:blip r:embed="rId2"/>
          <a:stretch/>
        </p:blipFill>
        <p:spPr>
          <a:xfrm>
            <a:off x="6681600" y="6377760"/>
            <a:ext cx="246816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aixa de Texto 14"/>
          <p:cNvSpPr/>
          <p:nvPr/>
        </p:nvSpPr>
        <p:spPr>
          <a:xfrm>
            <a:off x="3455280" y="6067440"/>
            <a:ext cx="25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Daniel Moreira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 de Texto 15"/>
          <p:cNvSpPr/>
          <p:nvPr/>
        </p:nvSpPr>
        <p:spPr>
          <a:xfrm>
            <a:off x="3151800" y="6423480"/>
            <a:ext cx="30920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Eng. Mecânico e Eng. Segurança do Trabalho 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Crea: 102114193D/GO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tângulo 4"/>
          <p:cNvSpPr/>
          <p:nvPr/>
        </p:nvSpPr>
        <p:spPr>
          <a:xfrm>
            <a:off x="-540000" y="2789280"/>
            <a:ext cx="113328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MARCOS EXEMPLO DUARTE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ixa de Texto 16"/>
          <p:cNvSpPr/>
          <p:nvPr/>
        </p:nvSpPr>
        <p:spPr>
          <a:xfrm>
            <a:off x="478440" y="6120000"/>
            <a:ext cx="25794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Marcos Exemplo Duarte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3"/>
          <p:cNvSpPr/>
          <p:nvPr/>
        </p:nvSpPr>
        <p:spPr>
          <a:xfrm>
            <a:off x="546120" y="672480"/>
            <a:ext cx="5892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O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G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RA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MÁTICO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TEÓRICO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ixa de Texto 17"/>
          <p:cNvSpPr/>
          <p:nvPr/>
        </p:nvSpPr>
        <p:spPr>
          <a:xfrm>
            <a:off x="546120" y="4880880"/>
            <a:ext cx="5157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PROGRAMÁTICO  PRÁTICO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aixa de Texto 18"/>
          <p:cNvSpPr/>
          <p:nvPr/>
        </p:nvSpPr>
        <p:spPr>
          <a:xfrm>
            <a:off x="546120" y="5421240"/>
            <a:ext cx="92131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Demonstração prática dos perigos e dispositivos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Análise de risco;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Seleção, características, inspeção e cuidados com equipamentos;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Check-list;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Orientações gerais normas 06, 10,12, 17, 23 e 35;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Máquinas rotativas e abrasivas (lixadeira, parafusadeira, furadeira, furadeira martelete, maquita, pinador, policorte, serra circular);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Máquina de solda mig-mag,tig;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Outras máquinas: puncionadeira, prensa, dobra, guilhotina, mesa giratória, elevador SM6, bobinadeira;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Permissão de Trabalho.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ixaDeTexto 4"/>
          <p:cNvSpPr/>
          <p:nvPr/>
        </p:nvSpPr>
        <p:spPr>
          <a:xfrm>
            <a:off x="546120" y="911880"/>
            <a:ext cx="984384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Descrição e identificação dos riscos associados com cada máquina e equipamento e as proteções específicas contra cada um deles;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Funcionamento das proteções; como e por que devem ser usadas;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Como e em que circunstâncias uma proteção pode ser removida, e por quem, sendo na maioria dos casos, somente o pessoal de inspeção ou manutenção;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 que fazer, por exemplo, contatar o supervisor, se uma proteção foi danificada ou se perdeu sua função, deixando de garantir uma segurança adequada;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Os princípios de segurança na utilização da máquina ou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Segurança para riscos mecânicos, elétricos e outros relevantes;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Método de trabalho seguro;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Permissão de trabalho;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Sistema de bloqueio de funcionamento da máquina e equipamento durante operações de inspeção, limpeza, lubrificação e manutenção.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Legislação de segurança e saúde no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sobre acidentes e doenças decorrentes da exposição aos riscos existentes na máquina e equipamentos;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Medidas de controle dos riscos: Equipamentos de Proteção Coletiva - EPCs e Equipamentos de Proteção Individual - EPIs;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Exigências mínimas de segurança previstas nesta NR e na Norma Regulamentadora n.º 10 - Segurança em Instalações e Serviços em Eletricidade;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Medidas de segurança para injetoras elétricas e hidráulicas de comando manual;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Operação com segurança da máquina ou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Inspeção, regulagem e manutenção com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Sinalização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Procedimentos em situação de emergência;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de combate a incêndio; 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Noções sobre prestação de primeiros socorros.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39382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2026-07-15T15:05:35Z</cp:lastPrinted>
  <dcterms:modified xsi:type="dcterms:W3CDTF">2026-07-15T16:35:06Z</dcterms:modified>
  <cp:revision>196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F211C065ACC147949C562C12667C37A7</vt:lpwstr>
  </property>
  <property fmtid="{D5CDD505-2E9C-101B-9397-08002B2CF9AE}" pid="3" name="KSOProductBuildVer">
    <vt:lpwstr>1046-11.2.0.10132</vt:lpwstr>
  </property>
  <property fmtid="{D5CDD505-2E9C-101B-9397-08002B2CF9AE}" pid="4" name="Notes">
    <vt:r8>5</vt:r8>
  </property>
  <property fmtid="{D5CDD505-2E9C-101B-9397-08002B2CF9AE}" pid="5" name="PresentationFormat">
    <vt:lpwstr>Personalizar</vt:lpwstr>
  </property>
  <property fmtid="{D5CDD505-2E9C-101B-9397-08002B2CF9AE}" pid="6" name="Slides">
    <vt:r8>10</vt:r8>
  </property>
</Properties>
</file>