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media/image1.png" ContentType="image/png"/>
  <Override PartName="/ppt/media/image2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3B059E3-705A-46E0-841B-0F4486E9DC5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3097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3788280" y="1767960"/>
            <a:ext cx="3097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7042320" y="1767960"/>
            <a:ext cx="3097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534600" y="4057200"/>
            <a:ext cx="3097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body"/>
          </p:nvPr>
        </p:nvSpPr>
        <p:spPr>
          <a:xfrm>
            <a:off x="3788280" y="4057200"/>
            <a:ext cx="3097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body"/>
          </p:nvPr>
        </p:nvSpPr>
        <p:spPr>
          <a:xfrm>
            <a:off x="7042320" y="4057200"/>
            <a:ext cx="3097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8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9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B012193-9A42-4FCE-87A5-95880FF1F05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10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88FBE5A-BBA6-46A7-A3E4-8651E2C7884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A45A0E6-E088-4FDF-AF71-9927E620D96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440" cy="43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1EE4551-7431-4F9D-AF46-AE34EB465D3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120" cy="43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120" cy="43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50DFFF9-2E2F-4FDD-B4E1-E4BB25D2BF8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081E57-32DC-4C0F-BBAD-462D1844E24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6282097-AC66-45FF-A08E-3127CFFC3B6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120" cy="43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ACC9247-4D8A-4669-9A1F-993C1FA612F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120" cy="438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2908D9A-CEB9-448A-865D-8E3FB98A8D4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12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2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FF42490-402A-4083-B5CD-FA1E270DA7B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4080" cy="483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3000" cy="14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44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2440" cy="20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D3AE91D-10A2-426C-9EDC-66F806D6DEA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2"/>
          <p:cNvGrpSpPr/>
          <p:nvPr/>
        </p:nvGrpSpPr>
        <p:grpSpPr>
          <a:xfrm>
            <a:off x="2625480" y="936360"/>
            <a:ext cx="8068680" cy="949320"/>
            <a:chOff x="2625480" y="936360"/>
            <a:chExt cx="8068680" cy="949320"/>
          </a:xfrm>
        </p:grpSpPr>
        <p:sp>
          <p:nvSpPr>
            <p:cNvPr id="97" name="Freeform 3"/>
            <p:cNvSpPr/>
            <p:nvPr/>
          </p:nvSpPr>
          <p:spPr>
            <a:xfrm>
              <a:off x="2625480" y="936360"/>
              <a:ext cx="8068680" cy="949320"/>
            </a:xfrm>
            <a:custGeom>
              <a:avLst/>
              <a:gdLst>
                <a:gd name="textAreaLeft" fmla="*/ 0 w 8068680"/>
                <a:gd name="textAreaRight" fmla="*/ 8072280 w 8068680"/>
                <a:gd name="textAreaTop" fmla="*/ 0 h 949320"/>
                <a:gd name="textAreaBottom" fmla="*/ 952920 h 9493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AutoShape 5"/>
          <p:cNvSpPr/>
          <p:nvPr/>
        </p:nvSpPr>
        <p:spPr>
          <a:xfrm>
            <a:off x="1049400" y="3195720"/>
            <a:ext cx="8676000" cy="154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oup 8"/>
          <p:cNvGrpSpPr/>
          <p:nvPr/>
        </p:nvGrpSpPr>
        <p:grpSpPr>
          <a:xfrm>
            <a:off x="0" y="393840"/>
            <a:ext cx="8899920" cy="1624680"/>
            <a:chOff x="0" y="393840"/>
            <a:chExt cx="8899920" cy="1624680"/>
          </a:xfrm>
        </p:grpSpPr>
        <p:sp>
          <p:nvSpPr>
            <p:cNvPr id="100" name="Freeform 9"/>
            <p:cNvSpPr/>
            <p:nvPr/>
          </p:nvSpPr>
          <p:spPr>
            <a:xfrm>
              <a:off x="0" y="393840"/>
              <a:ext cx="266400" cy="266400"/>
            </a:xfrm>
            <a:custGeom>
              <a:avLst/>
              <a:gdLst>
                <a:gd name="textAreaLeft" fmla="*/ 0 w 266400"/>
                <a:gd name="textAreaRight" fmla="*/ 270000 w 266400"/>
                <a:gd name="textAreaTop" fmla="*/ 0 h 266400"/>
                <a:gd name="textAreaBottom" fmla="*/ 270000 h 2664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Freeform 10"/>
            <p:cNvSpPr/>
            <p:nvPr/>
          </p:nvSpPr>
          <p:spPr>
            <a:xfrm>
              <a:off x="0" y="663480"/>
              <a:ext cx="8899920" cy="1355040"/>
            </a:xfrm>
            <a:custGeom>
              <a:avLst/>
              <a:gdLst>
                <a:gd name="textAreaLeft" fmla="*/ 0 w 8899920"/>
                <a:gd name="textAreaRight" fmla="*/ 8903520 w 8899920"/>
                <a:gd name="textAreaTop" fmla="*/ 0 h 1355040"/>
                <a:gd name="textAreaBottom" fmla="*/ 1358640 h 13550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TextBox 17"/>
          <p:cNvSpPr/>
          <p:nvPr/>
        </p:nvSpPr>
        <p:spPr>
          <a:xfrm>
            <a:off x="871920" y="1043640"/>
            <a:ext cx="81975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85" strike="noStrike" u="none">
                <a:solidFill>
                  <a:srgbClr val="ffffff"/>
                </a:solidFill>
                <a:effectLst/>
                <a:uFillTx/>
                <a:latin typeface="Avenir Next LT Pro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1882080" y="2086920"/>
            <a:ext cx="5925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ixa de Texto 19"/>
          <p:cNvSpPr/>
          <p:nvPr/>
        </p:nvSpPr>
        <p:spPr>
          <a:xfrm>
            <a:off x="1079640" y="3911400"/>
            <a:ext cx="835992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Concluiu no período de 11/04/2026 o curso de NR 18 – ANEXO IV – PLATAFORMA ELEVATÓRIA MÓVEL DE TRABALHO (PEMT),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6" descr=""/>
          <p:cNvPicPr/>
          <p:nvPr/>
        </p:nvPicPr>
        <p:blipFill>
          <a:blip r:embed="rId1"/>
          <a:stretch/>
        </p:blipFill>
        <p:spPr>
          <a:xfrm>
            <a:off x="3362760" y="6356160"/>
            <a:ext cx="24951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382320" y="6355080"/>
            <a:ext cx="249516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Box 12"/>
          <p:cNvSpPr/>
          <p:nvPr/>
        </p:nvSpPr>
        <p:spPr>
          <a:xfrm>
            <a:off x="6279840" y="6377040"/>
            <a:ext cx="3234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Hiolanda N. De Negreiros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5"/>
          <p:cNvSpPr/>
          <p:nvPr/>
        </p:nvSpPr>
        <p:spPr>
          <a:xfrm>
            <a:off x="556920" y="6966360"/>
            <a:ext cx="20800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pc="102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Aluno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6337440" y="6680160"/>
            <a:ext cx="308268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300" spc="102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300" spc="102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300" spc="102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0016958/PE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270360" y="6417000"/>
            <a:ext cx="27288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Maria E. Lima E Costa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0" y="2583720"/>
            <a:ext cx="94107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  MARIA EXEMPLO LIMA E COSTA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6" descr=""/>
          <p:cNvPicPr/>
          <p:nvPr/>
        </p:nvPicPr>
        <p:blipFill>
          <a:blip r:embed="rId3"/>
          <a:stretch/>
        </p:blipFill>
        <p:spPr>
          <a:xfrm>
            <a:off x="6595920" y="6356160"/>
            <a:ext cx="249516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aixa de Texto 6"/>
          <p:cNvSpPr/>
          <p:nvPr/>
        </p:nvSpPr>
        <p:spPr>
          <a:xfrm>
            <a:off x="3362760" y="6377040"/>
            <a:ext cx="2530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Daniel Moreira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 de Texto 14"/>
          <p:cNvSpPr/>
          <p:nvPr/>
        </p:nvSpPr>
        <p:spPr>
          <a:xfrm>
            <a:off x="2828160" y="6680160"/>
            <a:ext cx="35758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Eng. Mecânico e Segurança do Trabalho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Crea: 102114193D/GO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1231920" y="654120"/>
            <a:ext cx="76924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6120" y="429480"/>
            <a:ext cx="5925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 TEÓRICO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aixa de Texto 1"/>
          <p:cNvSpPr/>
          <p:nvPr/>
        </p:nvSpPr>
        <p:spPr>
          <a:xfrm>
            <a:off x="393840" y="806400"/>
            <a:ext cx="9964800" cy="57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Objetivo: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O curso consiste em capacitar os participante a trabalhar de acordo com as regras de segurança na utilização de plataforma Elevatória, Verticais e Multidirecionais; </a:t>
            </a:r>
            <a:r>
              <a:rPr b="1" lang="pt-BR" sz="1200" strike="noStrike" u="sng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Avenir LT Std 55 Roman"/>
              </a:rPr>
              <a:t>Plataforma Elevatória Móvel de Trabalho (PEMT).</a:t>
            </a:r>
            <a:r>
              <a:rPr b="1" lang="pt-BR" sz="1200" strike="noStrike" u="non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Avenir LT Std 55 Roman"/>
              </a:rPr>
              <a:t> </a:t>
            </a: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O treinamento deve ser específico no próprio equipamento, ou similar ao que o colaborador irá operar, conforme preconiza o Anexo IV da NR 18 do Ministério do Trabalho e Emprego, além de proporcionar o treinamento prático de condução e manobra da plataforma, em diversas situações operacionais.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Conteúdo Programático: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Instruções gerais de segurança e conscientização, estudo do manual de instruções do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Responsabilidades do empregador e do empregado;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Tipos de plataformas;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Tipo de montagem de plataformas (Auto-propelida, Rebocada, Montada em Caminhão);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Características técnicas do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Princípios de funcionamentos;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Riscos residuais e verificações da máquina/permissão de trabalho e análise de risco;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Atravancamentos e rótulos;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Espaço de trabalho/Anuência para trabalhos com máquinas (autorização);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Proximidade e linhas elétricas;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Efeitos do vento, trabalhos em ambientes externos – Descargas Atmosféricas;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Carregamento, descarregamento, deslocamento e precauções;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Operações (painel de  solo no cesto da plataforma);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Trajeto básico - translado;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Manobras em altura – ascensão – trabalhos (simulação);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Rotina de estacionamento; Análise de posto de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Risco ergonômicos; e uso corretos dos equipamentos de proteção individual e coletivas;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Impacto e fatores comportamentais na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Operação em casos de emergência;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Manutenção preventiva e corretiva;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Tipos de incidentes/primeiros socorros;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Checklist diário, aula prática – manutenção e manobra da plataforma;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Abordagem complementares de NR 01, NR 06, NR 07, NR 10, NR 11, NR12, NR 17, NR 18, NR 23 e NR35.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3"/>
          <p:cNvGrpSpPr/>
          <p:nvPr/>
        </p:nvGrpSpPr>
        <p:grpSpPr>
          <a:xfrm>
            <a:off x="2625480" y="936360"/>
            <a:ext cx="8068680" cy="949320"/>
            <a:chOff x="2625480" y="936360"/>
            <a:chExt cx="8068680" cy="949320"/>
          </a:xfrm>
        </p:grpSpPr>
        <p:sp>
          <p:nvSpPr>
            <p:cNvPr id="119" name="Freeform 5"/>
            <p:cNvSpPr/>
            <p:nvPr/>
          </p:nvSpPr>
          <p:spPr>
            <a:xfrm>
              <a:off x="2625480" y="936360"/>
              <a:ext cx="8068680" cy="949320"/>
            </a:xfrm>
            <a:custGeom>
              <a:avLst/>
              <a:gdLst>
                <a:gd name="textAreaLeft" fmla="*/ 0 w 8068680"/>
                <a:gd name="textAreaRight" fmla="*/ 8072280 w 8068680"/>
                <a:gd name="textAreaTop" fmla="*/ 0 h 949320"/>
                <a:gd name="textAreaBottom" fmla="*/ 952920 h 9493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" name="AutoShape 2"/>
          <p:cNvSpPr/>
          <p:nvPr/>
        </p:nvSpPr>
        <p:spPr>
          <a:xfrm>
            <a:off x="1049400" y="3195720"/>
            <a:ext cx="8676000" cy="154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1" name="Group 4"/>
          <p:cNvGrpSpPr/>
          <p:nvPr/>
        </p:nvGrpSpPr>
        <p:grpSpPr>
          <a:xfrm>
            <a:off x="0" y="393840"/>
            <a:ext cx="8899920" cy="1624680"/>
            <a:chOff x="0" y="393840"/>
            <a:chExt cx="8899920" cy="1624680"/>
          </a:xfrm>
        </p:grpSpPr>
        <p:sp>
          <p:nvSpPr>
            <p:cNvPr id="122" name="Freeform 6"/>
            <p:cNvSpPr/>
            <p:nvPr/>
          </p:nvSpPr>
          <p:spPr>
            <a:xfrm>
              <a:off x="0" y="393840"/>
              <a:ext cx="266400" cy="266400"/>
            </a:xfrm>
            <a:custGeom>
              <a:avLst/>
              <a:gdLst>
                <a:gd name="textAreaLeft" fmla="*/ 0 w 266400"/>
                <a:gd name="textAreaRight" fmla="*/ 270000 w 266400"/>
                <a:gd name="textAreaTop" fmla="*/ 0 h 266400"/>
                <a:gd name="textAreaBottom" fmla="*/ 270000 h 2664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7"/>
            <p:cNvSpPr/>
            <p:nvPr/>
          </p:nvSpPr>
          <p:spPr>
            <a:xfrm>
              <a:off x="0" y="663480"/>
              <a:ext cx="8899920" cy="1355040"/>
            </a:xfrm>
            <a:custGeom>
              <a:avLst/>
              <a:gdLst>
                <a:gd name="textAreaLeft" fmla="*/ 0 w 8899920"/>
                <a:gd name="textAreaRight" fmla="*/ 8903520 w 8899920"/>
                <a:gd name="textAreaTop" fmla="*/ 0 h 1355040"/>
                <a:gd name="textAreaBottom" fmla="*/ 1358640 h 13550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TextBox 8"/>
          <p:cNvSpPr/>
          <p:nvPr/>
        </p:nvSpPr>
        <p:spPr>
          <a:xfrm>
            <a:off x="871920" y="1043640"/>
            <a:ext cx="81975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85" strike="noStrike" u="none">
                <a:solidFill>
                  <a:srgbClr val="ffffff"/>
                </a:solidFill>
                <a:effectLst/>
                <a:uFillTx/>
                <a:latin typeface="Avenir Next LT Pro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1882080" y="2086920"/>
            <a:ext cx="5925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aixa de Texto 4"/>
          <p:cNvSpPr/>
          <p:nvPr/>
        </p:nvSpPr>
        <p:spPr>
          <a:xfrm>
            <a:off x="1079640" y="3911400"/>
            <a:ext cx="835992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Concluiu no período de 11/04/2026 o curso de NR 18 – ANEXO IV – PLATAFORMA ELEVATÓRIA MÓVEL DE TRABALHO (PEMT),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4" descr=""/>
          <p:cNvPicPr/>
          <p:nvPr/>
        </p:nvPicPr>
        <p:blipFill>
          <a:blip r:embed="rId1"/>
          <a:stretch/>
        </p:blipFill>
        <p:spPr>
          <a:xfrm>
            <a:off x="3362760" y="6356160"/>
            <a:ext cx="24951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5" descr=""/>
          <p:cNvPicPr/>
          <p:nvPr/>
        </p:nvPicPr>
        <p:blipFill>
          <a:blip r:embed="rId2"/>
          <a:stretch/>
        </p:blipFill>
        <p:spPr>
          <a:xfrm>
            <a:off x="382320" y="6355080"/>
            <a:ext cx="249516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10"/>
          <p:cNvSpPr/>
          <p:nvPr/>
        </p:nvSpPr>
        <p:spPr>
          <a:xfrm>
            <a:off x="6279840" y="6377040"/>
            <a:ext cx="3234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Hiolanda N. De Negreiros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556920" y="6966360"/>
            <a:ext cx="20800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pc="102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Aluno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4"/>
          <p:cNvSpPr/>
          <p:nvPr/>
        </p:nvSpPr>
        <p:spPr>
          <a:xfrm>
            <a:off x="6337440" y="6680160"/>
            <a:ext cx="308268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300" spc="102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300" spc="102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300" spc="102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0016958/PE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270360" y="6417000"/>
            <a:ext cx="27288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Joao Exemplo Costa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0"/>
          <p:cNvSpPr/>
          <p:nvPr/>
        </p:nvSpPr>
        <p:spPr>
          <a:xfrm>
            <a:off x="0" y="2583720"/>
            <a:ext cx="94107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  JOAO EXEMPLO COSTA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8" descr=""/>
          <p:cNvPicPr/>
          <p:nvPr/>
        </p:nvPicPr>
        <p:blipFill>
          <a:blip r:embed="rId3"/>
          <a:stretch/>
        </p:blipFill>
        <p:spPr>
          <a:xfrm>
            <a:off x="6595920" y="6356160"/>
            <a:ext cx="249516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Caixa de Texto 5"/>
          <p:cNvSpPr/>
          <p:nvPr/>
        </p:nvSpPr>
        <p:spPr>
          <a:xfrm>
            <a:off x="3362760" y="6377040"/>
            <a:ext cx="2530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Daniel Moreira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 de Texto 7"/>
          <p:cNvSpPr/>
          <p:nvPr/>
        </p:nvSpPr>
        <p:spPr>
          <a:xfrm>
            <a:off x="2828160" y="6680160"/>
            <a:ext cx="35758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Eng. Mecânico e Segurança do Trabalho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Crea: 102114193D/GO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4"/>
          <p:cNvSpPr/>
          <p:nvPr/>
        </p:nvSpPr>
        <p:spPr>
          <a:xfrm>
            <a:off x="1231920" y="654120"/>
            <a:ext cx="76924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546120" y="429480"/>
            <a:ext cx="5925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</a:t>
            </a: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 TEÓRICO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ixa de Texto 3"/>
          <p:cNvSpPr/>
          <p:nvPr/>
        </p:nvSpPr>
        <p:spPr>
          <a:xfrm>
            <a:off x="393840" y="806400"/>
            <a:ext cx="9964800" cy="57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Objetivo: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O curso consiste em capacitar os participante a trabalhar de acordo com as regras de segurança na utilização de plataforma Elevatória, Verticais e Multidirecionais; </a:t>
            </a:r>
            <a:r>
              <a:rPr b="1" lang="pt-BR" sz="1200" strike="noStrike" u="sng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Avenir LT Std 55 Roman"/>
              </a:rPr>
              <a:t>Plataforma Elevatória Móvel de Trabalho (PEMT).</a:t>
            </a:r>
            <a:r>
              <a:rPr b="1" lang="pt-BR" sz="1200" strike="noStrike" u="non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Avenir LT Std 55 Roman"/>
              </a:rPr>
              <a:t> </a:t>
            </a: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O treinamento deve ser específico no próprio equipamento, ou similar ao que o colaborador irá operar, conforme preconiza o Anexo IV da NR 18 do Ministério do Trabalho e Emprego, além de proporcionar o treinamento prático de condução e manobra da plataforma, em diversas situações operacionais.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Conteúdo Programático: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Instruções gerais de segurança e conscientização, estudo do manual de instruções do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Responsabilidades do empregador e do empregado;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Tipos de plataformas;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Tipo de montagem de plataformas (Auto-propelida, Rebocada, Montada em Caminhão);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Características técnicas do equipamento;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Princípios de funcionamentos;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Riscos residuais e verificações da máquina/permissão de trabalho e análise de risco;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Atravancamentos e rótulos;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Espaço de trabalho/Anuência para trabalhos com máquinas (autorização);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Proximidade e linhas elétricas;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Efeitos do vento, trabalhos em ambientes externos – Descargas Atmosféricas;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Carregamento, descarregamento, deslocamento e precauções;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Operações (painel de  solo no cesto da plataforma);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Trajeto básico - translado;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Manobras em altura – ascensão – trabalhos (simulação);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Rotina de estacionamento; Análise de posto de trabalho;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Risco ergonômicos; e uso corretos dos equipamentos de proteção individual e coletivas;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Impacto e fatores comportamentais na segurança;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Operação em casos de emergência;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Manutenção preventiva e corretiva;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Tipos de incidentes/primeiros socorros;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Checklist diário, aula prática – manutenção e manobra da plataforma;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Abordagem complementares de NR 01, NR 06, NR 07, NR 10, NR 11, NR12, NR 17, NR 18, NR 23 e NR35.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</TotalTime>
  <Application>LibreOffice/25.2.7.2$Windows_X86_64 LibreOffice_project/5cbfd1ab6520636bb5f7b99185aa69bd7456825d</Application>
  <AppVersion>15.0000</AppVersion>
  <Words>2518</Words>
  <Paragraphs>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2026-04-13T16:46:12Z</cp:lastPrinted>
  <dcterms:modified xsi:type="dcterms:W3CDTF">2026-04-13T17:09:13Z</dcterms:modified>
  <cp:revision>128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ADEEA7C27F304CCBA09722EF7FA72DEC</vt:lpwstr>
  </property>
  <property fmtid="{D5CDD505-2E9C-101B-9397-08002B2CF9AE}" pid="3" name="KSOProductBuildVer">
    <vt:lpwstr>1046-11.2.0.10132</vt:lpwstr>
  </property>
  <property fmtid="{D5CDD505-2E9C-101B-9397-08002B2CF9AE}" pid="4" name="Notes">
    <vt:i4>1</vt:i4>
  </property>
  <property fmtid="{D5CDD505-2E9C-101B-9397-08002B2CF9AE}" pid="5" name="PresentationFormat">
    <vt:lpwstr>Personalizar</vt:lpwstr>
  </property>
  <property fmtid="{D5CDD505-2E9C-101B-9397-08002B2CF9AE}" pid="6" name="Slides">
    <vt:i4>2</vt:i4>
  </property>
</Properties>
</file>