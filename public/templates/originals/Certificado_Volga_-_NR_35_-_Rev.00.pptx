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media/image1.png" ContentType="image/png"/>
  <Override PartName="/ppt/media/image2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551FD23-2D50-455A-98E5-1BB9C6426E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F089F0C-1DA9-4F4C-AF1A-EF5679ADBCF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B2E75FC-C37F-4EAF-AF2E-58657BD2F08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39716E8-0A04-4E0C-BF49-DA04AFCBFAE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BBA03DE-CA85-454F-BE58-31323B23E23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AA7401F-DF42-465F-9428-B6E97432C8C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2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0F0316B-3919-4663-995E-7C057F5BAA2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2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2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E22BB71-F876-40EE-BEAD-47B13F5F47F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48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03A1181-9400-479A-B16D-3F557C1BED6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788280" y="176796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7042320" y="176796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534600" y="405720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3788280" y="405720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7042320" y="4057200"/>
            <a:ext cx="3097800" cy="208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8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9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F32FFD64-9360-42AC-A037-2AF30403F6F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10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E7B326C-1A30-41BA-90F5-3585E1D45A5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16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36880" cy="48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05800" cy="140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3117F16-D427-4047-898B-555DE49617F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3"/>
          <p:cNvGrpSpPr/>
          <p:nvPr/>
        </p:nvGrpSpPr>
        <p:grpSpPr>
          <a:xfrm>
            <a:off x="2625480" y="936360"/>
            <a:ext cx="8061480" cy="942120"/>
            <a:chOff x="2625480" y="936360"/>
            <a:chExt cx="8061480" cy="942120"/>
          </a:xfrm>
        </p:grpSpPr>
        <p:sp>
          <p:nvSpPr>
            <p:cNvPr id="97" name="Freeform 5"/>
            <p:cNvSpPr/>
            <p:nvPr/>
          </p:nvSpPr>
          <p:spPr>
            <a:xfrm>
              <a:off x="2625480" y="936360"/>
              <a:ext cx="8061480" cy="942120"/>
            </a:xfrm>
            <a:custGeom>
              <a:avLst/>
              <a:gdLst>
                <a:gd name="textAreaLeft" fmla="*/ 0 w 8061480"/>
                <a:gd name="textAreaRight" fmla="*/ 8072280 w 8061480"/>
                <a:gd name="textAreaTop" fmla="*/ 0 h 942120"/>
                <a:gd name="textAreaBottom" fmla="*/ 952920 h 9421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roup 4"/>
          <p:cNvGrpSpPr/>
          <p:nvPr/>
        </p:nvGrpSpPr>
        <p:grpSpPr>
          <a:xfrm>
            <a:off x="0" y="393840"/>
            <a:ext cx="8892720" cy="1617480"/>
            <a:chOff x="0" y="393840"/>
            <a:chExt cx="8892720" cy="1617480"/>
          </a:xfrm>
        </p:grpSpPr>
        <p:sp>
          <p:nvSpPr>
            <p:cNvPr id="99" name="Freeform 6"/>
            <p:cNvSpPr/>
            <p:nvPr/>
          </p:nvSpPr>
          <p:spPr>
            <a:xfrm>
              <a:off x="0" y="393840"/>
              <a:ext cx="259200" cy="259200"/>
            </a:xfrm>
            <a:custGeom>
              <a:avLst/>
              <a:gdLst>
                <a:gd name="textAreaLeft" fmla="*/ 0 w 259200"/>
                <a:gd name="textAreaRight" fmla="*/ 270000 w 259200"/>
                <a:gd name="textAreaTop" fmla="*/ 0 h 259200"/>
                <a:gd name="textAreaBottom" fmla="*/ 270000 h 2592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Freeform 7"/>
            <p:cNvSpPr/>
            <p:nvPr/>
          </p:nvSpPr>
          <p:spPr>
            <a:xfrm>
              <a:off x="0" y="663480"/>
              <a:ext cx="8892720" cy="1347840"/>
            </a:xfrm>
            <a:custGeom>
              <a:avLst/>
              <a:gdLst>
                <a:gd name="textAreaLeft" fmla="*/ 0 w 8892720"/>
                <a:gd name="textAreaRight" fmla="*/ 8903520 w 8892720"/>
                <a:gd name="textAreaTop" fmla="*/ 0 h 1347840"/>
                <a:gd name="textAreaBottom" fmla="*/ 1358640 h 13478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TextBox 9"/>
          <p:cNvSpPr/>
          <p:nvPr/>
        </p:nvSpPr>
        <p:spPr>
          <a:xfrm>
            <a:off x="1788480" y="1041120"/>
            <a:ext cx="71046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1882080" y="230904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ixa de Texto 2"/>
          <p:cNvSpPr/>
          <p:nvPr/>
        </p:nvSpPr>
        <p:spPr>
          <a:xfrm>
            <a:off x="1109520" y="4083120"/>
            <a:ext cx="8352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Concluiu em 28/03/2026 o curso de NR-35 realizado na empresa   Volga Engenharia Ind. E comércio Ltda na Av.Avenida Jataí, Quadra 4, Lote S/N, Industrial Global Park, CEP:  74992-202,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3" descr=""/>
          <p:cNvPicPr/>
          <p:nvPr/>
        </p:nvPicPr>
        <p:blipFill>
          <a:blip r:embed="rId1"/>
          <a:stretch/>
        </p:blipFill>
        <p:spPr>
          <a:xfrm>
            <a:off x="6384600" y="6164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4" descr=""/>
          <p:cNvPicPr/>
          <p:nvPr/>
        </p:nvPicPr>
        <p:blipFill>
          <a:blip r:embed="rId2"/>
          <a:stretch/>
        </p:blipFill>
        <p:spPr>
          <a:xfrm>
            <a:off x="1224720" y="6155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1"/>
          <p:cNvSpPr/>
          <p:nvPr/>
        </p:nvSpPr>
        <p:spPr>
          <a:xfrm>
            <a:off x="5900400" y="6262200"/>
            <a:ext cx="33598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5899680" y="6646680"/>
            <a:ext cx="30754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5"/>
              </a:lnSpc>
            </a:pPr>
            <a:br>
              <a:rPr sz="14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0"/>
          <p:cNvSpPr/>
          <p:nvPr/>
        </p:nvSpPr>
        <p:spPr>
          <a:xfrm>
            <a:off x="1518120" y="6795360"/>
            <a:ext cx="2072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43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Next LT Pro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6141240" y="6561000"/>
            <a:ext cx="3075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5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002622/GO​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853200" y="6221520"/>
            <a:ext cx="32313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Rafael De E. Da Melo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-803880" y="2810160"/>
            <a:ext cx="11705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RAFAEL DE EXEMPLO DA MELO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AutoShape 3"/>
          <p:cNvSpPr/>
          <p:nvPr/>
        </p:nvSpPr>
        <p:spPr>
          <a:xfrm>
            <a:off x="1034280" y="3405600"/>
            <a:ext cx="8708400" cy="36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1231920" y="654120"/>
            <a:ext cx="7685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4" name="Tabela 4"/>
          <p:cNvGraphicFramePr/>
          <p:nvPr/>
        </p:nvGraphicFramePr>
        <p:xfrm>
          <a:off x="777960" y="594360"/>
          <a:ext cx="7536600" cy="2768040"/>
        </p:xfrm>
        <a:graphic>
          <a:graphicData uri="http://schemas.openxmlformats.org/drawingml/2006/table">
            <a:tbl>
              <a:tblPr/>
              <a:tblGrid>
                <a:gridCol w="75369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Normas e regulamentos aplicáveis ao trabalho em altura;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 e condições impeditivas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Riscos potenciais inerentes ao trabalho em altura e medidas de prevenção e controle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Sistemas, equipamentos e procedimentos de proteção coletiva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Equipamentos de Proteção Individual para trabalho em altura: seleção, inspeção, conservação e limitação de uso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Acidentes típicos em trabalhos em altura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Condutas em situações de emergência, incluindo noções de técnicas de resgate e de primeiros socorros.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5" name="TextBox 2"/>
          <p:cNvSpPr/>
          <p:nvPr/>
        </p:nvSpPr>
        <p:spPr>
          <a:xfrm>
            <a:off x="749160" y="347328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6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CONTEÚDO PROGRAMÁTICO PRÁTICO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Tabela 6"/>
          <p:cNvGraphicFramePr/>
          <p:nvPr/>
        </p:nvGraphicFramePr>
        <p:xfrm>
          <a:off x="790200" y="3739680"/>
          <a:ext cx="6730200" cy="3607560"/>
        </p:xfrm>
        <a:graphic>
          <a:graphicData uri="http://schemas.openxmlformats.org/drawingml/2006/table">
            <a:tbl>
              <a:tblPr/>
              <a:tblGrid>
                <a:gridCol w="67305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Seleção, características, inspeção e cuidados com equipamentos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Proteção coletiva, isolamento 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Fator de queda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Acesso por corda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Trabalho em altura conforme NR-18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Nós, voltas e sistemas de ancoragem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Prática de movimentação com talabarte e linhas de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Utilização de andaimes e escadas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Noções de Primeiros Socorros e Técnicas de Resgate.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Simulado de atendimento a vítimas de queda em altura.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" name="Caixa de Texto 1"/>
          <p:cNvSpPr/>
          <p:nvPr/>
        </p:nvSpPr>
        <p:spPr>
          <a:xfrm>
            <a:off x="853200" y="213840"/>
            <a:ext cx="5126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 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TEÓRICO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2"/>
          <p:cNvGrpSpPr/>
          <p:nvPr/>
        </p:nvGrpSpPr>
        <p:grpSpPr>
          <a:xfrm>
            <a:off x="2625480" y="936360"/>
            <a:ext cx="8061480" cy="942120"/>
            <a:chOff x="2625480" y="936360"/>
            <a:chExt cx="8061480" cy="942120"/>
          </a:xfrm>
        </p:grpSpPr>
        <p:sp>
          <p:nvSpPr>
            <p:cNvPr id="119" name="Freeform 4"/>
            <p:cNvSpPr/>
            <p:nvPr/>
          </p:nvSpPr>
          <p:spPr>
            <a:xfrm>
              <a:off x="2625480" y="936360"/>
              <a:ext cx="8061480" cy="942120"/>
            </a:xfrm>
            <a:custGeom>
              <a:avLst/>
              <a:gdLst>
                <a:gd name="textAreaLeft" fmla="*/ 0 w 8061480"/>
                <a:gd name="textAreaRight" fmla="*/ 8072280 w 8061480"/>
                <a:gd name="textAreaTop" fmla="*/ 0 h 942120"/>
                <a:gd name="textAreaBottom" fmla="*/ 952920 h 9421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0" name="Group 5"/>
          <p:cNvGrpSpPr/>
          <p:nvPr/>
        </p:nvGrpSpPr>
        <p:grpSpPr>
          <a:xfrm>
            <a:off x="0" y="393840"/>
            <a:ext cx="8892720" cy="1617480"/>
            <a:chOff x="0" y="393840"/>
            <a:chExt cx="8892720" cy="1617480"/>
          </a:xfrm>
        </p:grpSpPr>
        <p:sp>
          <p:nvSpPr>
            <p:cNvPr id="121" name="Freeform 8"/>
            <p:cNvSpPr/>
            <p:nvPr/>
          </p:nvSpPr>
          <p:spPr>
            <a:xfrm>
              <a:off x="0" y="393840"/>
              <a:ext cx="259200" cy="259200"/>
            </a:xfrm>
            <a:custGeom>
              <a:avLst/>
              <a:gdLst>
                <a:gd name="textAreaLeft" fmla="*/ 0 w 259200"/>
                <a:gd name="textAreaRight" fmla="*/ 270000 w 259200"/>
                <a:gd name="textAreaTop" fmla="*/ 0 h 259200"/>
                <a:gd name="textAreaBottom" fmla="*/ 270000 h 2592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9"/>
            <p:cNvSpPr/>
            <p:nvPr/>
          </p:nvSpPr>
          <p:spPr>
            <a:xfrm>
              <a:off x="0" y="663480"/>
              <a:ext cx="8892720" cy="1347840"/>
            </a:xfrm>
            <a:custGeom>
              <a:avLst/>
              <a:gdLst>
                <a:gd name="textAreaLeft" fmla="*/ 0 w 8892720"/>
                <a:gd name="textAreaRight" fmla="*/ 8903520 w 8892720"/>
                <a:gd name="textAreaTop" fmla="*/ 0 h 1347840"/>
                <a:gd name="textAreaBottom" fmla="*/ 1358640 h 13478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" name="TextBox 12"/>
          <p:cNvSpPr/>
          <p:nvPr/>
        </p:nvSpPr>
        <p:spPr>
          <a:xfrm>
            <a:off x="1788480" y="1041120"/>
            <a:ext cx="71046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1882080" y="230904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Caixa de Texto 3"/>
          <p:cNvSpPr/>
          <p:nvPr/>
        </p:nvSpPr>
        <p:spPr>
          <a:xfrm>
            <a:off x="1109520" y="4083120"/>
            <a:ext cx="8352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Concluiu em 28/03/2026 o curso de NR-35 realizado na empresa   Volga Engenharia Ind. E comércio Ltda na Av.Avenida Jataí, Quadra 4, Lote S/N, Industrial Global Park, CEP:  74992-202,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Picture 5" descr=""/>
          <p:cNvPicPr/>
          <p:nvPr/>
        </p:nvPicPr>
        <p:blipFill>
          <a:blip r:embed="rId1"/>
          <a:stretch/>
        </p:blipFill>
        <p:spPr>
          <a:xfrm>
            <a:off x="6384600" y="6164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6" descr=""/>
          <p:cNvPicPr/>
          <p:nvPr/>
        </p:nvPicPr>
        <p:blipFill>
          <a:blip r:embed="rId2"/>
          <a:stretch/>
        </p:blipFill>
        <p:spPr>
          <a:xfrm>
            <a:off x="1224720" y="6155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15"/>
          <p:cNvSpPr/>
          <p:nvPr/>
        </p:nvSpPr>
        <p:spPr>
          <a:xfrm>
            <a:off x="5900400" y="6262200"/>
            <a:ext cx="33598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6"/>
          <p:cNvSpPr/>
          <p:nvPr/>
        </p:nvSpPr>
        <p:spPr>
          <a:xfrm>
            <a:off x="5899680" y="6646680"/>
            <a:ext cx="30754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5"/>
              </a:lnSpc>
            </a:pPr>
            <a:br>
              <a:rPr sz="14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7"/>
          <p:cNvSpPr/>
          <p:nvPr/>
        </p:nvSpPr>
        <p:spPr>
          <a:xfrm>
            <a:off x="1518120" y="6795360"/>
            <a:ext cx="2072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43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Next LT Pro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8"/>
          <p:cNvSpPr/>
          <p:nvPr/>
        </p:nvSpPr>
        <p:spPr>
          <a:xfrm>
            <a:off x="6141240" y="6561000"/>
            <a:ext cx="3075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5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002622/GO​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9"/>
          <p:cNvSpPr/>
          <p:nvPr/>
        </p:nvSpPr>
        <p:spPr>
          <a:xfrm>
            <a:off x="853200" y="6221520"/>
            <a:ext cx="32313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Maria E. Lima E Costa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4"/>
          <p:cNvSpPr/>
          <p:nvPr/>
        </p:nvSpPr>
        <p:spPr>
          <a:xfrm>
            <a:off x="-803880" y="2810160"/>
            <a:ext cx="11705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MARIA EXEMPLO LIMA E COSTA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AutoShape 2"/>
          <p:cNvSpPr/>
          <p:nvPr/>
        </p:nvSpPr>
        <p:spPr>
          <a:xfrm>
            <a:off x="1034280" y="3405600"/>
            <a:ext cx="8708400" cy="36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4"/>
          <p:cNvSpPr/>
          <p:nvPr/>
        </p:nvSpPr>
        <p:spPr>
          <a:xfrm>
            <a:off x="1231920" y="654120"/>
            <a:ext cx="7685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" name="Tabela 3"/>
          <p:cNvGraphicFramePr/>
          <p:nvPr/>
        </p:nvGraphicFramePr>
        <p:xfrm>
          <a:off x="777960" y="594360"/>
          <a:ext cx="7536600" cy="2768040"/>
        </p:xfrm>
        <a:graphic>
          <a:graphicData uri="http://schemas.openxmlformats.org/drawingml/2006/table">
            <a:tbl>
              <a:tblPr/>
              <a:tblGrid>
                <a:gridCol w="75369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Normas e regulamentos aplicáveis ao trabalho em altura;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 e condições impeditivas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Riscos potenciais inerentes ao trabalho em altura e medidas de prevenção e controle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Sistemas, equipamentos e procedimentos de proteção coletiva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Equipamentos de Proteção Individual para trabalho em altura: seleção, inspeção, conservação e limitação de uso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Acidentes típicos em trabalhos em altura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Condutas em situações de emergência, incluindo noções de técnicas de resgate e de primeiros socorros.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7" name="TextBox 5"/>
          <p:cNvSpPr/>
          <p:nvPr/>
        </p:nvSpPr>
        <p:spPr>
          <a:xfrm>
            <a:off x="749160" y="347328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6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CONTEÚDO PROGRAMÁTICO PRÁTICO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Tabela 5"/>
          <p:cNvGraphicFramePr/>
          <p:nvPr/>
        </p:nvGraphicFramePr>
        <p:xfrm>
          <a:off x="790200" y="3739680"/>
          <a:ext cx="6730200" cy="3607560"/>
        </p:xfrm>
        <a:graphic>
          <a:graphicData uri="http://schemas.openxmlformats.org/drawingml/2006/table">
            <a:tbl>
              <a:tblPr/>
              <a:tblGrid>
                <a:gridCol w="67305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Seleção, características, inspeção e cuidados com equipamentos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Proteção coletiva, isolamento 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Fator de queda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Acesso por corda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Trabalho em altura conforme NR-18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Nós, voltas e sistemas de ancoragem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Prática de movimentação com talabarte e linhas de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Utilização de andaimes e escadas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Noções de Primeiros Socorros e Técnicas de Resgate.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Simulado de atendimento a vítimas de queda em altura.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9" name="Caixa de Texto 6"/>
          <p:cNvSpPr/>
          <p:nvPr/>
        </p:nvSpPr>
        <p:spPr>
          <a:xfrm>
            <a:off x="853200" y="213840"/>
            <a:ext cx="5126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 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TEÓRICO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6"/>
          <p:cNvGrpSpPr/>
          <p:nvPr/>
        </p:nvGrpSpPr>
        <p:grpSpPr>
          <a:xfrm>
            <a:off x="2625480" y="936360"/>
            <a:ext cx="8061480" cy="942120"/>
            <a:chOff x="2625480" y="936360"/>
            <a:chExt cx="8061480" cy="942120"/>
          </a:xfrm>
        </p:grpSpPr>
        <p:sp>
          <p:nvSpPr>
            <p:cNvPr id="141" name="Freeform 10"/>
            <p:cNvSpPr/>
            <p:nvPr/>
          </p:nvSpPr>
          <p:spPr>
            <a:xfrm>
              <a:off x="2625480" y="936360"/>
              <a:ext cx="8061480" cy="942120"/>
            </a:xfrm>
            <a:custGeom>
              <a:avLst/>
              <a:gdLst>
                <a:gd name="textAreaLeft" fmla="*/ 0 w 8061480"/>
                <a:gd name="textAreaRight" fmla="*/ 8072280 w 8061480"/>
                <a:gd name="textAreaTop" fmla="*/ 0 h 942120"/>
                <a:gd name="textAreaBottom" fmla="*/ 952920 h 9421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" name="Group 7"/>
          <p:cNvGrpSpPr/>
          <p:nvPr/>
        </p:nvGrpSpPr>
        <p:grpSpPr>
          <a:xfrm>
            <a:off x="0" y="393840"/>
            <a:ext cx="8892720" cy="1617480"/>
            <a:chOff x="0" y="393840"/>
            <a:chExt cx="8892720" cy="1617480"/>
          </a:xfrm>
        </p:grpSpPr>
        <p:sp>
          <p:nvSpPr>
            <p:cNvPr id="143" name="Freeform 11"/>
            <p:cNvSpPr/>
            <p:nvPr/>
          </p:nvSpPr>
          <p:spPr>
            <a:xfrm>
              <a:off x="0" y="393840"/>
              <a:ext cx="259200" cy="259200"/>
            </a:xfrm>
            <a:custGeom>
              <a:avLst/>
              <a:gdLst>
                <a:gd name="textAreaLeft" fmla="*/ 0 w 259200"/>
                <a:gd name="textAreaRight" fmla="*/ 270000 w 259200"/>
                <a:gd name="textAreaTop" fmla="*/ 0 h 259200"/>
                <a:gd name="textAreaBottom" fmla="*/ 270000 h 2592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 12"/>
            <p:cNvSpPr/>
            <p:nvPr/>
          </p:nvSpPr>
          <p:spPr>
            <a:xfrm>
              <a:off x="0" y="663480"/>
              <a:ext cx="8892720" cy="1347840"/>
            </a:xfrm>
            <a:custGeom>
              <a:avLst/>
              <a:gdLst>
                <a:gd name="textAreaLeft" fmla="*/ 0 w 8892720"/>
                <a:gd name="textAreaRight" fmla="*/ 8903520 w 8892720"/>
                <a:gd name="textAreaTop" fmla="*/ 0 h 1347840"/>
                <a:gd name="textAreaBottom" fmla="*/ 1358640 h 13478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TextBox 25"/>
          <p:cNvSpPr/>
          <p:nvPr/>
        </p:nvSpPr>
        <p:spPr>
          <a:xfrm>
            <a:off x="1788480" y="1041120"/>
            <a:ext cx="71046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6"/>
          <p:cNvSpPr/>
          <p:nvPr/>
        </p:nvSpPr>
        <p:spPr>
          <a:xfrm>
            <a:off x="1882080" y="230904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aixa de Texto 4"/>
          <p:cNvSpPr/>
          <p:nvPr/>
        </p:nvSpPr>
        <p:spPr>
          <a:xfrm>
            <a:off x="1109520" y="4083120"/>
            <a:ext cx="8352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Concluiu em 28/03/2026 o curso de NR-35 realizado na empresa   Volga Engenharia Ind. E comércio Ltda na Av.Avenida Jataí, Quadra 4, Lote S/N, Industrial Global Park, CEP:  74992-202,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7" descr=""/>
          <p:cNvPicPr/>
          <p:nvPr/>
        </p:nvPicPr>
        <p:blipFill>
          <a:blip r:embed="rId1"/>
          <a:stretch/>
        </p:blipFill>
        <p:spPr>
          <a:xfrm>
            <a:off x="6384600" y="6164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8" descr=""/>
          <p:cNvPicPr/>
          <p:nvPr/>
        </p:nvPicPr>
        <p:blipFill>
          <a:blip r:embed="rId2"/>
          <a:stretch/>
        </p:blipFill>
        <p:spPr>
          <a:xfrm>
            <a:off x="1224720" y="6155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27"/>
          <p:cNvSpPr/>
          <p:nvPr/>
        </p:nvSpPr>
        <p:spPr>
          <a:xfrm>
            <a:off x="5900400" y="6262200"/>
            <a:ext cx="33598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8"/>
          <p:cNvSpPr/>
          <p:nvPr/>
        </p:nvSpPr>
        <p:spPr>
          <a:xfrm>
            <a:off x="5899680" y="6646680"/>
            <a:ext cx="30754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5"/>
              </a:lnSpc>
            </a:pPr>
            <a:br>
              <a:rPr sz="14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9"/>
          <p:cNvSpPr/>
          <p:nvPr/>
        </p:nvSpPr>
        <p:spPr>
          <a:xfrm>
            <a:off x="1518120" y="6795360"/>
            <a:ext cx="2072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43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Next LT Pro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0"/>
          <p:cNvSpPr/>
          <p:nvPr/>
        </p:nvSpPr>
        <p:spPr>
          <a:xfrm>
            <a:off x="6141240" y="6561000"/>
            <a:ext cx="3075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5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002622/GO​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1"/>
          <p:cNvSpPr/>
          <p:nvPr/>
        </p:nvSpPr>
        <p:spPr>
          <a:xfrm>
            <a:off x="853200" y="6221520"/>
            <a:ext cx="32313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Joao E. Costa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2"/>
          <p:cNvSpPr/>
          <p:nvPr/>
        </p:nvSpPr>
        <p:spPr>
          <a:xfrm>
            <a:off x="-803880" y="2810160"/>
            <a:ext cx="11705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JOAO EXEMPLO COSTA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AutoShape 4"/>
          <p:cNvSpPr/>
          <p:nvPr/>
        </p:nvSpPr>
        <p:spPr>
          <a:xfrm>
            <a:off x="1034280" y="3405600"/>
            <a:ext cx="8708400" cy="36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6"/>
          <p:cNvSpPr/>
          <p:nvPr/>
        </p:nvSpPr>
        <p:spPr>
          <a:xfrm>
            <a:off x="1231920" y="654120"/>
            <a:ext cx="7685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Tabela 7"/>
          <p:cNvGraphicFramePr/>
          <p:nvPr/>
        </p:nvGraphicFramePr>
        <p:xfrm>
          <a:off x="777960" y="594360"/>
          <a:ext cx="7536600" cy="2768040"/>
        </p:xfrm>
        <a:graphic>
          <a:graphicData uri="http://schemas.openxmlformats.org/drawingml/2006/table">
            <a:tbl>
              <a:tblPr/>
              <a:tblGrid>
                <a:gridCol w="75369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Normas e regulamentos aplicáveis ao trabalho em altura;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 e condições impeditivas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Riscos potenciais inerentes ao trabalho em altura e medidas de prevenção e controle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Sistemas, equipamentos e procedimentos de proteção coletiva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Equipamentos de Proteção Individual para trabalho em altura: seleção, inspeção, conservação e limitação de uso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Acidentes típicos em trabalhos em altura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Condutas em situações de emergência, incluindo noções de técnicas de resgate e de primeiros socorros.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9" name="TextBox 7"/>
          <p:cNvSpPr/>
          <p:nvPr/>
        </p:nvSpPr>
        <p:spPr>
          <a:xfrm>
            <a:off x="749160" y="347328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6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CONTEÚDO PROGRAMÁTICO PRÁTICO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Tabela 8"/>
          <p:cNvGraphicFramePr/>
          <p:nvPr/>
        </p:nvGraphicFramePr>
        <p:xfrm>
          <a:off x="790200" y="3739680"/>
          <a:ext cx="6730200" cy="3607560"/>
        </p:xfrm>
        <a:graphic>
          <a:graphicData uri="http://schemas.openxmlformats.org/drawingml/2006/table">
            <a:tbl>
              <a:tblPr/>
              <a:tblGrid>
                <a:gridCol w="67305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Seleção, características, inspeção e cuidados com equipamentos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Proteção coletiva, isolamento 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Fator de queda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Acesso por corda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Trabalho em altura conforme NR-18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Nós, voltas e sistemas de ancoragem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Prática de movimentação com talabarte e linhas de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Utilização de andaimes e escadas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Noções de Primeiros Socorros e Técnicas de Resgate.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Simulado de atendimento a vítimas de queda em altura.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1" name="Caixa de Texto 7"/>
          <p:cNvSpPr/>
          <p:nvPr/>
        </p:nvSpPr>
        <p:spPr>
          <a:xfrm>
            <a:off x="853200" y="213840"/>
            <a:ext cx="5126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 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TEÓRICO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8"/>
          <p:cNvGrpSpPr/>
          <p:nvPr/>
        </p:nvGrpSpPr>
        <p:grpSpPr>
          <a:xfrm>
            <a:off x="2625480" y="936360"/>
            <a:ext cx="8061480" cy="942120"/>
            <a:chOff x="2625480" y="936360"/>
            <a:chExt cx="8061480" cy="942120"/>
          </a:xfrm>
        </p:grpSpPr>
        <p:sp>
          <p:nvSpPr>
            <p:cNvPr id="163" name="Freeform 13"/>
            <p:cNvSpPr/>
            <p:nvPr/>
          </p:nvSpPr>
          <p:spPr>
            <a:xfrm>
              <a:off x="2625480" y="936360"/>
              <a:ext cx="8061480" cy="942120"/>
            </a:xfrm>
            <a:custGeom>
              <a:avLst/>
              <a:gdLst>
                <a:gd name="textAreaLeft" fmla="*/ 0 w 8061480"/>
                <a:gd name="textAreaRight" fmla="*/ 8072280 w 8061480"/>
                <a:gd name="textAreaTop" fmla="*/ 0 h 942120"/>
                <a:gd name="textAreaBottom" fmla="*/ 952920 h 94212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" name="Group 9"/>
          <p:cNvGrpSpPr/>
          <p:nvPr/>
        </p:nvGrpSpPr>
        <p:grpSpPr>
          <a:xfrm>
            <a:off x="0" y="393840"/>
            <a:ext cx="8892720" cy="1617480"/>
            <a:chOff x="0" y="393840"/>
            <a:chExt cx="8892720" cy="1617480"/>
          </a:xfrm>
        </p:grpSpPr>
        <p:sp>
          <p:nvSpPr>
            <p:cNvPr id="165" name="Freeform 14"/>
            <p:cNvSpPr/>
            <p:nvPr/>
          </p:nvSpPr>
          <p:spPr>
            <a:xfrm>
              <a:off x="0" y="393840"/>
              <a:ext cx="259200" cy="259200"/>
            </a:xfrm>
            <a:custGeom>
              <a:avLst/>
              <a:gdLst>
                <a:gd name="textAreaLeft" fmla="*/ 0 w 259200"/>
                <a:gd name="textAreaRight" fmla="*/ 270000 w 259200"/>
                <a:gd name="textAreaTop" fmla="*/ 0 h 259200"/>
                <a:gd name="textAreaBottom" fmla="*/ 270000 h 25920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Freeform 15"/>
            <p:cNvSpPr/>
            <p:nvPr/>
          </p:nvSpPr>
          <p:spPr>
            <a:xfrm>
              <a:off x="0" y="663480"/>
              <a:ext cx="8892720" cy="1347840"/>
            </a:xfrm>
            <a:custGeom>
              <a:avLst/>
              <a:gdLst>
                <a:gd name="textAreaLeft" fmla="*/ 0 w 8892720"/>
                <a:gd name="textAreaRight" fmla="*/ 8903520 w 8892720"/>
                <a:gd name="textAreaTop" fmla="*/ 0 h 1347840"/>
                <a:gd name="textAreaBottom" fmla="*/ 1358640 h 134784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TextBox 33"/>
          <p:cNvSpPr/>
          <p:nvPr/>
        </p:nvSpPr>
        <p:spPr>
          <a:xfrm>
            <a:off x="1788480" y="1041120"/>
            <a:ext cx="71046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25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4"/>
          <p:cNvSpPr/>
          <p:nvPr/>
        </p:nvSpPr>
        <p:spPr>
          <a:xfrm>
            <a:off x="1882080" y="230904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ixa de Texto 5"/>
          <p:cNvSpPr/>
          <p:nvPr/>
        </p:nvSpPr>
        <p:spPr>
          <a:xfrm>
            <a:off x="1109520" y="4083120"/>
            <a:ext cx="8352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</a:rPr>
              <a:t>Concluiu em 28/03/2026 o curso de NR-35 realizado na empresa   Volga Engenharia Ind. E comércio Ltda na Av.Avenida Jataí, Quadra 4, Lote S/N, Industrial Global Park, CEP:  74992-202,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9" descr=""/>
          <p:cNvPicPr/>
          <p:nvPr/>
        </p:nvPicPr>
        <p:blipFill>
          <a:blip r:embed="rId1"/>
          <a:stretch/>
        </p:blipFill>
        <p:spPr>
          <a:xfrm>
            <a:off x="6384600" y="6164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10" descr=""/>
          <p:cNvPicPr/>
          <p:nvPr/>
        </p:nvPicPr>
        <p:blipFill>
          <a:blip r:embed="rId2"/>
          <a:stretch/>
        </p:blipFill>
        <p:spPr>
          <a:xfrm>
            <a:off x="1224720" y="6155640"/>
            <a:ext cx="2487960" cy="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Box 35"/>
          <p:cNvSpPr/>
          <p:nvPr/>
        </p:nvSpPr>
        <p:spPr>
          <a:xfrm>
            <a:off x="5900400" y="6262200"/>
            <a:ext cx="33598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6"/>
          <p:cNvSpPr/>
          <p:nvPr/>
        </p:nvSpPr>
        <p:spPr>
          <a:xfrm>
            <a:off x="5899680" y="6646680"/>
            <a:ext cx="30754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95"/>
              </a:lnSpc>
            </a:pPr>
            <a:br>
              <a:rPr sz="1400"/>
            </a:b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7"/>
          <p:cNvSpPr/>
          <p:nvPr/>
        </p:nvSpPr>
        <p:spPr>
          <a:xfrm>
            <a:off x="1518120" y="6795360"/>
            <a:ext cx="2072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43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Next LT Pro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8"/>
          <p:cNvSpPr/>
          <p:nvPr/>
        </p:nvSpPr>
        <p:spPr>
          <a:xfrm>
            <a:off x="6141240" y="6561000"/>
            <a:ext cx="3075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b="0" lang="pt-BR" sz="1400" spc="45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002622/GO​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9"/>
          <p:cNvSpPr/>
          <p:nvPr/>
        </p:nvSpPr>
        <p:spPr>
          <a:xfrm>
            <a:off x="853200" y="6221520"/>
            <a:ext cx="32313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Clara E. Viana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0"/>
          <p:cNvSpPr/>
          <p:nvPr/>
        </p:nvSpPr>
        <p:spPr>
          <a:xfrm>
            <a:off x="-803880" y="2810160"/>
            <a:ext cx="11705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CLARA EXEMPLO VIANA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  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AutoShape 5"/>
          <p:cNvSpPr/>
          <p:nvPr/>
        </p:nvSpPr>
        <p:spPr>
          <a:xfrm>
            <a:off x="1034280" y="3405600"/>
            <a:ext cx="8708400" cy="36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8"/>
          <p:cNvSpPr/>
          <p:nvPr/>
        </p:nvSpPr>
        <p:spPr>
          <a:xfrm>
            <a:off x="1231920" y="654120"/>
            <a:ext cx="7685280" cy="9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Tabela 9"/>
          <p:cNvGraphicFramePr/>
          <p:nvPr/>
        </p:nvGraphicFramePr>
        <p:xfrm>
          <a:off x="777960" y="594360"/>
          <a:ext cx="7536600" cy="2768040"/>
        </p:xfrm>
        <a:graphic>
          <a:graphicData uri="http://schemas.openxmlformats.org/drawingml/2006/table">
            <a:tbl>
              <a:tblPr/>
              <a:tblGrid>
                <a:gridCol w="75369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Normas e regulamentos aplicáveis ao trabalho em altura;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 e condições impeditivas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Riscos potenciais inerentes ao trabalho em altura e medidas de prevenção e controle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Sistemas, equipamentos e procedimentos de proteção coletiva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Equipamentos de Proteção Individual para trabalho em altura: seleção, inspeção, conservação e limitação de uso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Acidentes típicos em trabalhos em altura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6412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Condutas em situações de emergência, incluindo noções de técnicas de resgate e de primeiros socorros.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1" name="TextBox 41"/>
          <p:cNvSpPr/>
          <p:nvPr/>
        </p:nvSpPr>
        <p:spPr>
          <a:xfrm>
            <a:off x="749160" y="3473280"/>
            <a:ext cx="5918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6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CONTEÚDO PROGRAMÁTICO PRÁTICO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2" name="Tabela 10"/>
          <p:cNvGraphicFramePr/>
          <p:nvPr/>
        </p:nvGraphicFramePr>
        <p:xfrm>
          <a:off x="790200" y="3739680"/>
          <a:ext cx="6730200" cy="3607560"/>
        </p:xfrm>
        <a:graphic>
          <a:graphicData uri="http://schemas.openxmlformats.org/drawingml/2006/table">
            <a:tbl>
              <a:tblPr/>
              <a:tblGrid>
                <a:gridCol w="6730560"/>
              </a:tblGrid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Análise de risco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Seleção, características, inspeção e cuidados com equipamentos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Proteção coletiva, isolamento 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Fator de queda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Acesso por corda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Trabalho em altura conforme NR-18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Nós, voltas e sistemas de ancoragem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Prática de movimentação com talabarte e linhas de segurança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Utilização de andaimes e escadas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Noções de Primeiros Socorros e Técnicas de Resgate.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27960">
                <a:tc>
                  <a:txBody>
                    <a:bodyPr lIns="12600" rIns="12600" anchor="ctr">
                      <a:noAutofit/>
                    </a:bodyPr>
                    <a:p>
                      <a:pPr marL="285840" indent="-285840" algn="just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venir LT Std 35 Light"/>
                        </a:rPr>
                        <a:t>Simulado de atendimento a vítimas de queda em altura.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12600" marR="126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3" name="Caixa de Texto 8"/>
          <p:cNvSpPr/>
          <p:nvPr/>
        </p:nvSpPr>
        <p:spPr>
          <a:xfrm>
            <a:off x="853200" y="213840"/>
            <a:ext cx="512604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O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G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RA</a:t>
            </a:r>
            <a:r>
              <a:rPr b="1" lang="en-US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MÁTICO </a:t>
            </a:r>
            <a:r>
              <a:rPr b="1" lang="pt-BR" sz="16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TEÓRICO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8825</TotalTime>
  <Application>LibreOffice/25.2.7.2$Windows_X86_64 LibreOffice_project/5cbfd1ab6520636bb5f7b99185aa69bd7456825d</Application>
  <AppVersion>15.0000</AppVersion>
  <Words>259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2026-03-28T00:52:52Z</cp:lastPrinted>
  <dcterms:modified xsi:type="dcterms:W3CDTF">2026-03-28T00:54:22Z</dcterms:modified>
  <cp:revision>102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F211C065ACC147949C562C12667C37A7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</vt:i4>
  </property>
</Properties>
</file>