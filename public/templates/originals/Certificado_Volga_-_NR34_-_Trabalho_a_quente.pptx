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media/image1.png" ContentType="image/png"/>
  <Override PartName="/ppt/media/image2.png" ContentType="image/pn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10693400" cy="75565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352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34600" y="1767960"/>
            <a:ext cx="9623520" cy="438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5499351-3C96-4A5F-9A09-6F5A987E066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7C39658-8032-4EA2-B54D-26717EA46D2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352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subTitle"/>
          </p:nvPr>
        </p:nvSpPr>
        <p:spPr>
          <a:xfrm>
            <a:off x="534600" y="1767960"/>
            <a:ext cx="9623520" cy="438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6C9A014-8A97-4183-B8AD-E8B1F983FAF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Picture 4" descr=""/>
          <p:cNvPicPr/>
          <p:nvPr/>
        </p:nvPicPr>
        <p:blipFill>
          <a:blip r:embed="rId2">
            <a:alphaModFix amt="15000"/>
          </a:blip>
          <a:srcRect l="20075" t="19762" r="21901" b="37365"/>
          <a:stretch/>
        </p:blipFill>
        <p:spPr>
          <a:xfrm>
            <a:off x="1893600" y="2198160"/>
            <a:ext cx="6512400" cy="4802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" name="Picture 11" descr=""/>
          <p:cNvPicPr/>
          <p:nvPr/>
        </p:nvPicPr>
        <p:blipFill>
          <a:blip r:embed="rId3"/>
          <a:stretch/>
        </p:blipFill>
        <p:spPr>
          <a:xfrm>
            <a:off x="9275400" y="6143400"/>
            <a:ext cx="1381320" cy="1381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34600" y="793080"/>
            <a:ext cx="96202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60200" cy="32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098440" cy="32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0A779E5-0EDE-41D0-9CEA-315D2516B50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DejaVu Sans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098440" cy="32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534600" y="1767960"/>
            <a:ext cx="9623520" cy="438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4" descr=""/>
          <p:cNvPicPr/>
          <p:nvPr/>
        </p:nvPicPr>
        <p:blipFill>
          <a:blip r:embed="rId2">
            <a:alphaModFix amt="15000"/>
          </a:blip>
          <a:srcRect l="20075" t="19762" r="21901" b="37365"/>
          <a:stretch/>
        </p:blipFill>
        <p:spPr>
          <a:xfrm>
            <a:off x="1893600" y="2198160"/>
            <a:ext cx="6512400" cy="4802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" name="Picture 11" descr=""/>
          <p:cNvPicPr/>
          <p:nvPr/>
        </p:nvPicPr>
        <p:blipFill>
          <a:blip r:embed="rId3"/>
          <a:stretch/>
        </p:blipFill>
        <p:spPr>
          <a:xfrm>
            <a:off x="9275400" y="6143400"/>
            <a:ext cx="1381320" cy="1381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60200" cy="32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098440" cy="32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E782F61-38E1-44D0-956A-277D62D199C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DejaVu Sans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098440" cy="32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352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body"/>
          </p:nvPr>
        </p:nvSpPr>
        <p:spPr>
          <a:xfrm>
            <a:off x="534600" y="1767960"/>
            <a:ext cx="9623520" cy="438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4"/>
    <p:sldLayoutId id="2147483652" r:id="rId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2"/>
          <p:cNvGrpSpPr/>
          <p:nvPr/>
        </p:nvGrpSpPr>
        <p:grpSpPr>
          <a:xfrm>
            <a:off x="2625480" y="936360"/>
            <a:ext cx="8037000" cy="917640"/>
            <a:chOff x="2625480" y="936360"/>
            <a:chExt cx="8037000" cy="917640"/>
          </a:xfrm>
        </p:grpSpPr>
        <p:sp>
          <p:nvSpPr>
            <p:cNvPr id="19" name="Freeform 4"/>
            <p:cNvSpPr/>
            <p:nvPr/>
          </p:nvSpPr>
          <p:spPr>
            <a:xfrm>
              <a:off x="2625480" y="936360"/>
              <a:ext cx="8037000" cy="917640"/>
            </a:xfrm>
            <a:custGeom>
              <a:avLst/>
              <a:gdLst>
                <a:gd name="textAreaLeft" fmla="*/ 0 w 8037000"/>
                <a:gd name="textAreaRight" fmla="*/ 8072280 w 8037000"/>
                <a:gd name="textAreaTop" fmla="*/ 0 h 917640"/>
                <a:gd name="textAreaBottom" fmla="*/ 952920 h 917640"/>
              </a:gdLst>
              <a:ahLst/>
              <a:cxnLst/>
              <a:rect l="textAreaLeft" t="textAreaTop" r="textAreaRight" b="textAreaBottom"/>
              <a:pathLst>
                <a:path w="3815445" h="425295">
                  <a:moveTo>
                    <a:pt x="0" y="0"/>
                  </a:moveTo>
                  <a:lnTo>
                    <a:pt x="3815445" y="0"/>
                  </a:lnTo>
                  <a:lnTo>
                    <a:pt x="3815445" y="425295"/>
                  </a:lnTo>
                  <a:lnTo>
                    <a:pt x="0" y="425295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grpSp>
        <p:nvGrpSpPr>
          <p:cNvPr id="20" name="Group 3"/>
          <p:cNvGrpSpPr/>
          <p:nvPr/>
        </p:nvGrpSpPr>
        <p:grpSpPr>
          <a:xfrm>
            <a:off x="0" y="393840"/>
            <a:ext cx="8868240" cy="1593000"/>
            <a:chOff x="0" y="393840"/>
            <a:chExt cx="8868240" cy="1593000"/>
          </a:xfrm>
        </p:grpSpPr>
        <p:sp>
          <p:nvSpPr>
            <p:cNvPr id="21" name="Freeform 5"/>
            <p:cNvSpPr/>
            <p:nvPr/>
          </p:nvSpPr>
          <p:spPr>
            <a:xfrm>
              <a:off x="0" y="393840"/>
              <a:ext cx="234720" cy="234720"/>
            </a:xfrm>
            <a:custGeom>
              <a:avLst/>
              <a:gdLst>
                <a:gd name="textAreaLeft" fmla="*/ 0 w 234720"/>
                <a:gd name="textAreaRight" fmla="*/ 270000 w 234720"/>
                <a:gd name="textAreaTop" fmla="*/ 0 h 234720"/>
                <a:gd name="textAreaBottom" fmla="*/ 270000 h 234720"/>
              </a:gdLst>
              <a:ahLst/>
              <a:cxnLst/>
              <a:rect l="textAreaLeft" t="textAreaTop" r="textAreaRight" b="textAreaBottom"/>
              <a:pathLst>
                <a:path w="450850" h="450850">
                  <a:moveTo>
                    <a:pt x="450850" y="450850"/>
                  </a:moveTo>
                  <a:lnTo>
                    <a:pt x="0" y="450850"/>
                  </a:lnTo>
                  <a:lnTo>
                    <a:pt x="450850" y="0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2" name="Freeform 6"/>
            <p:cNvSpPr/>
            <p:nvPr/>
          </p:nvSpPr>
          <p:spPr>
            <a:xfrm>
              <a:off x="0" y="663480"/>
              <a:ext cx="8868240" cy="1323360"/>
            </a:xfrm>
            <a:custGeom>
              <a:avLst/>
              <a:gdLst>
                <a:gd name="textAreaLeft" fmla="*/ 0 w 8868240"/>
                <a:gd name="textAreaRight" fmla="*/ 8903520 w 8868240"/>
                <a:gd name="textAreaTop" fmla="*/ 0 h 1323360"/>
                <a:gd name="textAreaBottom" fmla="*/ 1358640 h 1323360"/>
              </a:gdLst>
              <a:ahLst/>
              <a:cxnLst/>
              <a:rect l="textAreaLeft" t="textAreaTop" r="textAreaRight" b="textAreaBottom"/>
              <a:pathLst>
                <a:path w="14874689" h="2269490">
                  <a:moveTo>
                    <a:pt x="14285409" y="0"/>
                  </a:moveTo>
                  <a:lnTo>
                    <a:pt x="0" y="0"/>
                  </a:lnTo>
                  <a:lnTo>
                    <a:pt x="0" y="2269490"/>
                  </a:lnTo>
                  <a:lnTo>
                    <a:pt x="14285409" y="2269490"/>
                  </a:lnTo>
                  <a:lnTo>
                    <a:pt x="14285409" y="2268220"/>
                  </a:lnTo>
                  <a:lnTo>
                    <a:pt x="14874689" y="1134110"/>
                  </a:lnTo>
                  <a:close/>
                </a:path>
              </a:pathLst>
            </a:custGeom>
            <a:solidFill>
              <a:srgbClr val="a2c73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sp>
        <p:nvSpPr>
          <p:cNvPr id="23" name="TextBox 8"/>
          <p:cNvSpPr/>
          <p:nvPr/>
        </p:nvSpPr>
        <p:spPr>
          <a:xfrm>
            <a:off x="1788480" y="1041120"/>
            <a:ext cx="7080120" cy="71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601"/>
              </a:lnSpc>
            </a:pPr>
            <a:r>
              <a:rPr b="1" lang="en-US" sz="5600" spc="332" strike="noStrike" u="none">
                <a:solidFill>
                  <a:srgbClr val="ffffff"/>
                </a:solidFill>
                <a:effectLst/>
                <a:uFillTx/>
                <a:latin typeface="Avenir Next LT Pro"/>
                <a:ea typeface="DejaVu Sans"/>
              </a:rPr>
              <a:t>CERTIFICADO</a:t>
            </a:r>
            <a:endParaRPr b="0" lang="pt-BR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Box 9"/>
          <p:cNvSpPr/>
          <p:nvPr/>
        </p:nvSpPr>
        <p:spPr>
          <a:xfrm>
            <a:off x="1882080" y="2309040"/>
            <a:ext cx="5894280" cy="22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0" lang="en-US" sz="1750" spc="181" strike="noStrike" u="none">
                <a:solidFill>
                  <a:srgbClr val="000000"/>
                </a:solidFill>
                <a:effectLst/>
                <a:uFillTx/>
                <a:latin typeface="Avenir Next LT Pro"/>
                <a:ea typeface="DejaVu Sans"/>
              </a:rPr>
              <a:t>CERTIFICAMOS QUE O COLABORADOR</a:t>
            </a:r>
            <a:endParaRPr b="0" lang="pt-BR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Caixa de Texto 2"/>
          <p:cNvSpPr/>
          <p:nvPr/>
        </p:nvSpPr>
        <p:spPr>
          <a:xfrm>
            <a:off x="1079640" y="4092120"/>
            <a:ext cx="8328240" cy="173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00000"/>
              </a:lnSpc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venir Next LT Pro"/>
                <a:ea typeface="DejaVu Sans"/>
              </a:rPr>
              <a:t>Concluiu em 21/07/2026 o curso de NR-34 realizado na empresa Volga Engenharia Ind. E comércio Ltda na Av. Elmar Arantes Cabral, SN, Quadra 001, Lote 5, CEP 74.993-535, Parque Industrial Vice-Presidente osé Alencar, Aparecida de Goiânia-GO - CNPJ: 03.347.463/0001-12. Carga horária de 08 (oito) horas conforme determina legislação aplicável.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" name="Picture 5" descr=""/>
          <p:cNvPicPr/>
          <p:nvPr/>
        </p:nvPicPr>
        <p:blipFill>
          <a:blip r:embed="rId1"/>
          <a:stretch/>
        </p:blipFill>
        <p:spPr>
          <a:xfrm>
            <a:off x="1412280" y="6294600"/>
            <a:ext cx="2463480" cy="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" name="TextBox 10"/>
          <p:cNvSpPr/>
          <p:nvPr/>
        </p:nvSpPr>
        <p:spPr>
          <a:xfrm>
            <a:off x="5844960" y="6086880"/>
            <a:ext cx="3418200" cy="35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914400">
              <a:lnSpc>
                <a:spcPts val="14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pt-BR" sz="1400" strike="noStrike" u="none">
                <a:solidFill>
                  <a:schemeClr val="dk1"/>
                </a:solidFill>
                <a:effectLst/>
                <a:uFillTx/>
                <a:latin typeface="Avenir LT Std 55 Roman"/>
                <a:ea typeface="DejaVu Sans"/>
              </a:rPr>
              <a:t>______________________________</a:t>
            </a:r>
            <a:br>
              <a:rPr sz="1400"/>
            </a:br>
            <a:r>
              <a:rPr b="1" lang="pt-BR" sz="1400" strike="noStrike" u="none">
                <a:solidFill>
                  <a:schemeClr val="dk1"/>
                </a:solidFill>
                <a:effectLst/>
                <a:uFillTx/>
                <a:latin typeface="Avenir LT Std 55 Roman"/>
                <a:ea typeface="DejaVu Sans"/>
              </a:rPr>
              <a:t>Hervinio Tomaz Da Rocha Sobrinho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Box 11"/>
          <p:cNvSpPr/>
          <p:nvPr/>
        </p:nvSpPr>
        <p:spPr>
          <a:xfrm>
            <a:off x="1723320" y="6763680"/>
            <a:ext cx="2048400" cy="13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100"/>
              </a:lnSpc>
            </a:pPr>
            <a:r>
              <a:rPr b="0" lang="pt-BR" sz="1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venir LT Std 55 Roman"/>
                <a:ea typeface="Open Sans"/>
              </a:rPr>
              <a:t>Colaborador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Box 12"/>
          <p:cNvSpPr/>
          <p:nvPr/>
        </p:nvSpPr>
        <p:spPr>
          <a:xfrm>
            <a:off x="5975280" y="6559200"/>
            <a:ext cx="305100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409"/>
              </a:lnSpc>
            </a:pPr>
            <a:r>
              <a:rPr b="0" lang="pt-BR" sz="1400" strike="noStrike" u="none">
                <a:solidFill>
                  <a:srgbClr val="2e2e2e"/>
                </a:solidFill>
                <a:effectLst/>
                <a:uFillTx/>
                <a:latin typeface="Avenir LT Std 55 Roman"/>
                <a:ea typeface="Open Sans"/>
              </a:rPr>
              <a:t>Instrutor/Responsável Técnico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409"/>
              </a:lnSpc>
            </a:pPr>
            <a:r>
              <a:rPr b="0" lang="pt-BR" sz="1400" strike="noStrike" u="none">
                <a:solidFill>
                  <a:srgbClr val="2e2e2e"/>
                </a:solidFill>
                <a:effectLst/>
                <a:uFillTx/>
                <a:latin typeface="Avenir LT Std 55 Roman"/>
                <a:ea typeface="Open Sans"/>
              </a:rPr>
              <a:t>Téc. Segurança do Trabalho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pt-BR" sz="1400" spc="17" strike="noStrike" u="none">
                <a:solidFill>
                  <a:srgbClr val="2e2e2e"/>
                </a:solidFill>
                <a:effectLst/>
                <a:uFillTx/>
                <a:latin typeface="Avenir LT Std 55 Roman"/>
                <a:ea typeface="Open Sans"/>
              </a:rPr>
              <a:t>Reg: 0</a:t>
            </a:r>
            <a:r>
              <a:rPr b="0" lang="pt-BR" sz="1300" strike="noStrike" u="none">
                <a:solidFill>
                  <a:srgbClr val="2e2e2e"/>
                </a:solidFill>
                <a:effectLst/>
                <a:uFillTx/>
                <a:latin typeface="Avenir LT Std 55 Roman"/>
                <a:ea typeface="Open Sans"/>
              </a:rPr>
              <a:t>02622/GO 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Retângulo 3"/>
          <p:cNvSpPr/>
          <p:nvPr/>
        </p:nvSpPr>
        <p:spPr>
          <a:xfrm>
            <a:off x="1249920" y="6082200"/>
            <a:ext cx="3017160" cy="56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ts val="14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pt-BR" sz="1400" strike="noStrike" u="none">
                <a:solidFill>
                  <a:schemeClr val="dk1"/>
                </a:solidFill>
                <a:effectLst/>
                <a:uFillTx/>
                <a:latin typeface="Avenir LT Std 55 Roman"/>
                <a:ea typeface="Arial"/>
              </a:rPr>
              <a:t>_____________________________ </a:t>
            </a:r>
            <a:r>
              <a:rPr b="1" lang="pt-BR" sz="1400" strike="noStrike" u="none">
                <a:solidFill>
                  <a:schemeClr val="dk1"/>
                </a:solidFill>
                <a:effectLst/>
                <a:uFillTx/>
                <a:latin typeface="Avenir LT Std 55 Roman"/>
                <a:ea typeface="DejaVu Sans"/>
              </a:rPr>
              <a:t> </a:t>
            </a:r>
            <a:r>
              <a:rPr b="1" lang="pt-BR" sz="1100" strike="noStrike" u="none">
                <a:solidFill>
                  <a:schemeClr val="dk1"/>
                </a:solidFill>
                <a:effectLst/>
                <a:uFillTx/>
                <a:latin typeface="Avenir LT Std 55 Roman"/>
                <a:ea typeface="DejaVu Sans"/>
              </a:rPr>
              <a:t>Bruno Das Exemplo Brito 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Box 13"/>
          <p:cNvSpPr/>
          <p:nvPr/>
        </p:nvSpPr>
        <p:spPr>
          <a:xfrm>
            <a:off x="1285200" y="6300000"/>
            <a:ext cx="357372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2" name="TextBox 14"/>
          <p:cNvSpPr/>
          <p:nvPr/>
        </p:nvSpPr>
        <p:spPr>
          <a:xfrm>
            <a:off x="360000" y="2700000"/>
            <a:ext cx="9619560" cy="12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ct val="100000"/>
              </a:lnSpc>
            </a:pP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" name="Picture 6" descr=""/>
          <p:cNvPicPr/>
          <p:nvPr/>
        </p:nvPicPr>
        <p:blipFill>
          <a:blip r:embed="rId2"/>
          <a:stretch/>
        </p:blipFill>
        <p:spPr>
          <a:xfrm>
            <a:off x="6327360" y="6316560"/>
            <a:ext cx="2463480" cy="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" name="AutoShape 2"/>
          <p:cNvSpPr/>
          <p:nvPr/>
        </p:nvSpPr>
        <p:spPr>
          <a:xfrm>
            <a:off x="541800" y="3405600"/>
            <a:ext cx="9253080" cy="360"/>
          </a:xfrm>
          <a:prstGeom prst="line">
            <a:avLst/>
          </a:prstGeom>
          <a:ln cap="rnd" w="47520">
            <a:solidFill>
              <a:srgbClr val="a2c7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5" name="Retângulo 4"/>
          <p:cNvSpPr/>
          <p:nvPr/>
        </p:nvSpPr>
        <p:spPr>
          <a:xfrm>
            <a:off x="-159480" y="2742480"/>
            <a:ext cx="10702440" cy="10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pt-B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         </a:t>
            </a: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BRUNO DAS EXEMPLO BRITO 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</a:t>
            </a:r>
            <a:r>
              <a:rPr b="1" lang="pt-BR" sz="4000" strike="noStrike" u="non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CPF: 000.000.000-00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6" name="Picture 7" descr=""/>
          <p:cNvPicPr/>
          <p:nvPr/>
        </p:nvPicPr>
        <p:blipFill>
          <a:blip r:embed="rId3"/>
          <a:stretch/>
        </p:blipFill>
        <p:spPr>
          <a:xfrm>
            <a:off x="1502280" y="6291360"/>
            <a:ext cx="2468160" cy="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" name="Picture 8" descr=""/>
          <p:cNvPicPr/>
          <p:nvPr/>
        </p:nvPicPr>
        <p:blipFill>
          <a:blip r:embed="rId4"/>
          <a:stretch/>
        </p:blipFill>
        <p:spPr>
          <a:xfrm>
            <a:off x="6378840" y="6253560"/>
            <a:ext cx="2468160" cy="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1"/>
          <p:cNvSpPr/>
          <p:nvPr/>
        </p:nvSpPr>
        <p:spPr>
          <a:xfrm>
            <a:off x="1231920" y="654120"/>
            <a:ext cx="7660800" cy="90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2336"/>
              </a:lnSpc>
            </a:pP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Box 4"/>
          <p:cNvSpPr/>
          <p:nvPr/>
        </p:nvSpPr>
        <p:spPr>
          <a:xfrm>
            <a:off x="546120" y="429480"/>
            <a:ext cx="5894280" cy="22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1" lang="en-US" sz="1400" spc="181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Open Sans"/>
              </a:rPr>
              <a:t>CONTEÚDO PR</a:t>
            </a:r>
            <a:r>
              <a:rPr b="1" lang="pt-BR" sz="1400" spc="181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Open Sans"/>
              </a:rPr>
              <a:t>O</a:t>
            </a:r>
            <a:r>
              <a:rPr b="1" lang="en-US" sz="1400" spc="181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Open Sans"/>
              </a:rPr>
              <a:t>G</a:t>
            </a:r>
            <a:r>
              <a:rPr b="1" lang="pt-BR" sz="1400" spc="181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Open Sans"/>
              </a:rPr>
              <a:t>RA</a:t>
            </a:r>
            <a:r>
              <a:rPr b="1" lang="en-US" sz="1400" spc="181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Open Sans"/>
              </a:rPr>
              <a:t>MÁTICO</a:t>
            </a:r>
            <a:r>
              <a:rPr b="1" lang="pt-BR" sz="1400" spc="181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Open Sans"/>
              </a:rPr>
              <a:t> GERAL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Caixa de Texto 1"/>
          <p:cNvSpPr/>
          <p:nvPr/>
        </p:nvSpPr>
        <p:spPr>
          <a:xfrm>
            <a:off x="393840" y="4997520"/>
            <a:ext cx="5159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pt-BR" sz="1400" strike="noStrike" u="none">
                <a:solidFill>
                  <a:schemeClr val="dk1"/>
                </a:solidFill>
                <a:effectLst/>
                <a:uFillTx/>
                <a:latin typeface="Avenir LT Std 55 Roman"/>
                <a:ea typeface="DejaVu Sans"/>
              </a:rPr>
              <a:t>CONTEÚDO PROGRAMÁTICO  ESPECIFICO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Caixa de Texto 8"/>
          <p:cNvSpPr/>
          <p:nvPr/>
        </p:nvSpPr>
        <p:spPr>
          <a:xfrm>
            <a:off x="546120" y="5454720"/>
            <a:ext cx="921492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pt-BR" sz="1200" strike="noStrike" u="none">
                <a:solidFill>
                  <a:schemeClr val="dk1"/>
                </a:solidFill>
                <a:effectLst/>
                <a:uFillTx/>
                <a:latin typeface="Avenir LT Std 55 Roman"/>
                <a:ea typeface="DejaVu Sans"/>
              </a:rPr>
              <a:t>Atividades com Máquinas Portáteis rotativas - Riscos e Forma de Prevenção: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pt-BR" sz="1200" strike="noStrike" u="none">
                <a:solidFill>
                  <a:schemeClr val="dk1"/>
                </a:solidFill>
                <a:effectLst/>
                <a:uFillTx/>
                <a:latin typeface="Avenir LT Std 55 Roman"/>
                <a:ea typeface="DejaVu Sans"/>
              </a:rPr>
              <a:t>• Equipamentos de Corte e Desbaste;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pt-BR" sz="1200" strike="noStrike" u="none">
                <a:solidFill>
                  <a:schemeClr val="dk1"/>
                </a:solidFill>
                <a:effectLst/>
                <a:uFillTx/>
                <a:latin typeface="Avenir LT Std 55 Roman"/>
                <a:ea typeface="DejaVu Sans"/>
              </a:rPr>
              <a:t>• Acessórios: Coifas, Disco de Corte, Disco de Desbaste, Escova, Retífica, Lixa e Outros;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pt-BR" sz="1200" strike="noStrike" u="none">
                <a:solidFill>
                  <a:schemeClr val="dk1"/>
                </a:solidFill>
                <a:effectLst/>
                <a:uFillTx/>
                <a:latin typeface="Avenir LT Std 55 Roman"/>
                <a:ea typeface="DejaVu Sans"/>
              </a:rPr>
              <a:t>• Sistema de Segurança;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pt-BR" sz="1200" strike="noStrike" u="none">
                <a:solidFill>
                  <a:schemeClr val="dk1"/>
                </a:solidFill>
                <a:effectLst/>
                <a:uFillTx/>
                <a:latin typeface="Avenir LT Std 55 Roman"/>
                <a:ea typeface="DejaVu Sans"/>
              </a:rPr>
              <a:t>• Proteção Física contra Faíscas;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pt-BR" sz="1200" strike="noStrike" u="none">
                <a:solidFill>
                  <a:schemeClr val="dk1"/>
                </a:solidFill>
                <a:effectLst/>
                <a:uFillTx/>
                <a:latin typeface="Avenir LT Std 55 Roman"/>
                <a:ea typeface="DejaVu Sans"/>
              </a:rPr>
              <a:t>Proteção Elétrica - Quadros, Disjuntores e Cabos de Alimentação;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pt-BR" sz="1200" strike="noStrike" u="none">
                <a:solidFill>
                  <a:schemeClr val="dk1"/>
                </a:solidFill>
                <a:effectLst/>
                <a:uFillTx/>
                <a:latin typeface="Avenir LT Std 55 Roman"/>
                <a:ea typeface="DejaVu Sans"/>
              </a:rPr>
              <a:t>• EPI e EPC.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Caixa de Texto 9"/>
          <p:cNvSpPr/>
          <p:nvPr/>
        </p:nvSpPr>
        <p:spPr>
          <a:xfrm>
            <a:off x="393840" y="806400"/>
            <a:ext cx="9933120" cy="356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a) Estudo da NR-34, Item 34.5;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b) Identificação de Perigos e Análise de Riscos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• Conceitos de Perigos e Riscos;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• Técnicas de Identificação de Perigos e Análise de Riscos;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• APP e APR - Análise Preliminar de Perigos e Análise Preliminar de Riscos.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c) Permissão para Trabalho - PT;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d) Limite inferior e superior de explosividade;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e) Medidas de Controle no Local de Trabalho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• Inspeção Preliminar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• Controle de materiais combustíveis e inflamáveis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• Proteção Física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• Atividades no entorno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• Sinalização e Isolamento do Local de Trabalho;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• Inspeção Posterior para controle de fontes de ignição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f) Renovação de Ar no Local de Trabalho (Ventilação/Exaustão);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g) Rede de Gases (Válvulas e Engates);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h) Ergonomia;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i) Doenças ocupacionais;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j) FISPQ.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"/>
          <p:cNvGrpSpPr/>
          <p:nvPr/>
        </p:nvGrpSpPr>
        <p:grpSpPr>
          <a:xfrm>
            <a:off x="2625480" y="936360"/>
            <a:ext cx="8037000" cy="917640"/>
            <a:chOff x="2625480" y="936360"/>
            <a:chExt cx="8037000" cy="917640"/>
          </a:xfrm>
        </p:grpSpPr>
        <p:sp>
          <p:nvSpPr>
            <p:cNvPr id="44" name="Freeform 7"/>
            <p:cNvSpPr/>
            <p:nvPr/>
          </p:nvSpPr>
          <p:spPr>
            <a:xfrm>
              <a:off x="2625480" y="936360"/>
              <a:ext cx="8037000" cy="917640"/>
            </a:xfrm>
            <a:custGeom>
              <a:avLst/>
              <a:gdLst>
                <a:gd name="textAreaLeft" fmla="*/ 0 w 8037000"/>
                <a:gd name="textAreaRight" fmla="*/ 8072280 w 8037000"/>
                <a:gd name="textAreaTop" fmla="*/ 0 h 917640"/>
                <a:gd name="textAreaBottom" fmla="*/ 952920 h 917640"/>
              </a:gdLst>
              <a:ahLst/>
              <a:cxnLst/>
              <a:rect l="textAreaLeft" t="textAreaTop" r="textAreaRight" b="textAreaBottom"/>
              <a:pathLst>
                <a:path w="3815445" h="425295">
                  <a:moveTo>
                    <a:pt x="0" y="0"/>
                  </a:moveTo>
                  <a:lnTo>
                    <a:pt x="3815445" y="0"/>
                  </a:lnTo>
                  <a:lnTo>
                    <a:pt x="3815445" y="425295"/>
                  </a:lnTo>
                  <a:lnTo>
                    <a:pt x="0" y="425295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grpSp>
        <p:nvGrpSpPr>
          <p:cNvPr id="45" name="Group 5"/>
          <p:cNvGrpSpPr/>
          <p:nvPr/>
        </p:nvGrpSpPr>
        <p:grpSpPr>
          <a:xfrm>
            <a:off x="0" y="393840"/>
            <a:ext cx="8868240" cy="1593000"/>
            <a:chOff x="0" y="393840"/>
            <a:chExt cx="8868240" cy="1593000"/>
          </a:xfrm>
        </p:grpSpPr>
        <p:sp>
          <p:nvSpPr>
            <p:cNvPr id="46" name="Freeform 8"/>
            <p:cNvSpPr/>
            <p:nvPr/>
          </p:nvSpPr>
          <p:spPr>
            <a:xfrm>
              <a:off x="0" y="393840"/>
              <a:ext cx="234720" cy="234720"/>
            </a:xfrm>
            <a:custGeom>
              <a:avLst/>
              <a:gdLst>
                <a:gd name="textAreaLeft" fmla="*/ 0 w 234720"/>
                <a:gd name="textAreaRight" fmla="*/ 270000 w 234720"/>
                <a:gd name="textAreaTop" fmla="*/ 0 h 234720"/>
                <a:gd name="textAreaBottom" fmla="*/ 270000 h 234720"/>
              </a:gdLst>
              <a:ahLst/>
              <a:cxnLst/>
              <a:rect l="textAreaLeft" t="textAreaTop" r="textAreaRight" b="textAreaBottom"/>
              <a:pathLst>
                <a:path w="450850" h="450850">
                  <a:moveTo>
                    <a:pt x="450850" y="450850"/>
                  </a:moveTo>
                  <a:lnTo>
                    <a:pt x="0" y="450850"/>
                  </a:lnTo>
                  <a:lnTo>
                    <a:pt x="450850" y="0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47" name="Freeform 9"/>
            <p:cNvSpPr/>
            <p:nvPr/>
          </p:nvSpPr>
          <p:spPr>
            <a:xfrm>
              <a:off x="0" y="663480"/>
              <a:ext cx="8868240" cy="1323360"/>
            </a:xfrm>
            <a:custGeom>
              <a:avLst/>
              <a:gdLst>
                <a:gd name="textAreaLeft" fmla="*/ 0 w 8868240"/>
                <a:gd name="textAreaRight" fmla="*/ 8903520 w 8868240"/>
                <a:gd name="textAreaTop" fmla="*/ 0 h 1323360"/>
                <a:gd name="textAreaBottom" fmla="*/ 1358640 h 1323360"/>
              </a:gdLst>
              <a:ahLst/>
              <a:cxnLst/>
              <a:rect l="textAreaLeft" t="textAreaTop" r="textAreaRight" b="textAreaBottom"/>
              <a:pathLst>
                <a:path w="14874689" h="2269490">
                  <a:moveTo>
                    <a:pt x="14285409" y="0"/>
                  </a:moveTo>
                  <a:lnTo>
                    <a:pt x="0" y="0"/>
                  </a:lnTo>
                  <a:lnTo>
                    <a:pt x="0" y="2269490"/>
                  </a:lnTo>
                  <a:lnTo>
                    <a:pt x="14285409" y="2269490"/>
                  </a:lnTo>
                  <a:lnTo>
                    <a:pt x="14285409" y="2268220"/>
                  </a:lnTo>
                  <a:lnTo>
                    <a:pt x="14874689" y="1134110"/>
                  </a:lnTo>
                  <a:close/>
                </a:path>
              </a:pathLst>
            </a:custGeom>
            <a:solidFill>
              <a:srgbClr val="a2c73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sp>
        <p:nvSpPr>
          <p:cNvPr id="48" name="TextBox 15"/>
          <p:cNvSpPr/>
          <p:nvPr/>
        </p:nvSpPr>
        <p:spPr>
          <a:xfrm>
            <a:off x="1788480" y="1041120"/>
            <a:ext cx="7080120" cy="71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601"/>
              </a:lnSpc>
            </a:pPr>
            <a:r>
              <a:rPr b="1" lang="en-US" sz="5600" spc="332" strike="noStrike" u="none">
                <a:solidFill>
                  <a:srgbClr val="ffffff"/>
                </a:solidFill>
                <a:effectLst/>
                <a:uFillTx/>
                <a:latin typeface="Avenir Next LT Pro"/>
                <a:ea typeface="DejaVu Sans"/>
              </a:rPr>
              <a:t>CERTIFICADO</a:t>
            </a:r>
            <a:endParaRPr b="0" lang="pt-BR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Box 16"/>
          <p:cNvSpPr/>
          <p:nvPr/>
        </p:nvSpPr>
        <p:spPr>
          <a:xfrm>
            <a:off x="1882080" y="2309040"/>
            <a:ext cx="5894280" cy="22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0" lang="en-US" sz="1750" spc="181" strike="noStrike" u="none">
                <a:solidFill>
                  <a:srgbClr val="000000"/>
                </a:solidFill>
                <a:effectLst/>
                <a:uFillTx/>
                <a:latin typeface="Avenir Next LT Pro"/>
                <a:ea typeface="DejaVu Sans"/>
              </a:rPr>
              <a:t>CERTIFICAMOS QUE O COLABORADOR</a:t>
            </a:r>
            <a:endParaRPr b="0" lang="pt-BR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Caixa de Texto 3"/>
          <p:cNvSpPr/>
          <p:nvPr/>
        </p:nvSpPr>
        <p:spPr>
          <a:xfrm>
            <a:off x="1079640" y="4092120"/>
            <a:ext cx="8328240" cy="173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00000"/>
              </a:lnSpc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venir Next LT Pro"/>
                <a:ea typeface="DejaVu Sans"/>
              </a:rPr>
              <a:t>Concluiu em 21/07/2026 o curso de NR-34 realizado na empresa Volga Engenharia Ind. E comércio Ltda na Av. Elmar Arantes Cabral, SN, Quadra 001, Lote 5, CEP 74.993-535, Parque Industrial Vice-Presidente osé Alencar, Aparecida de Goiânia-GO - CNPJ: 03.347.463/0001-12. Carga horária de 08 (oito) horas conforme determina legislação aplicável.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1" name="Picture 9" descr=""/>
          <p:cNvPicPr/>
          <p:nvPr/>
        </p:nvPicPr>
        <p:blipFill>
          <a:blip r:embed="rId1"/>
          <a:stretch/>
        </p:blipFill>
        <p:spPr>
          <a:xfrm>
            <a:off x="1412280" y="6294600"/>
            <a:ext cx="2463480" cy="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" name="TextBox 17"/>
          <p:cNvSpPr/>
          <p:nvPr/>
        </p:nvSpPr>
        <p:spPr>
          <a:xfrm>
            <a:off x="5844960" y="6086880"/>
            <a:ext cx="3418200" cy="35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914400">
              <a:lnSpc>
                <a:spcPts val="14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pt-BR" sz="1400" strike="noStrike" u="none">
                <a:solidFill>
                  <a:schemeClr val="dk1"/>
                </a:solidFill>
                <a:effectLst/>
                <a:uFillTx/>
                <a:latin typeface="Avenir LT Std 55 Roman"/>
                <a:ea typeface="DejaVu Sans"/>
              </a:rPr>
              <a:t>______________________________</a:t>
            </a:r>
            <a:br>
              <a:rPr sz="1400"/>
            </a:br>
            <a:r>
              <a:rPr b="1" lang="pt-BR" sz="1400" strike="noStrike" u="none">
                <a:solidFill>
                  <a:schemeClr val="dk1"/>
                </a:solidFill>
                <a:effectLst/>
                <a:uFillTx/>
                <a:latin typeface="Avenir LT Std 55 Roman"/>
                <a:ea typeface="DejaVu Sans"/>
              </a:rPr>
              <a:t>Hervinio Tomaz Da Rocha Sobrinho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Box 18"/>
          <p:cNvSpPr/>
          <p:nvPr/>
        </p:nvSpPr>
        <p:spPr>
          <a:xfrm>
            <a:off x="1723320" y="6763680"/>
            <a:ext cx="2048400" cy="13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100"/>
              </a:lnSpc>
            </a:pPr>
            <a:r>
              <a:rPr b="0" lang="pt-BR" sz="1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venir LT Std 55 Roman"/>
                <a:ea typeface="Open Sans"/>
              </a:rPr>
              <a:t>Colaborador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Box 19"/>
          <p:cNvSpPr/>
          <p:nvPr/>
        </p:nvSpPr>
        <p:spPr>
          <a:xfrm>
            <a:off x="5975280" y="6559200"/>
            <a:ext cx="305100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409"/>
              </a:lnSpc>
            </a:pPr>
            <a:r>
              <a:rPr b="0" lang="pt-BR" sz="1400" strike="noStrike" u="none">
                <a:solidFill>
                  <a:srgbClr val="2e2e2e"/>
                </a:solidFill>
                <a:effectLst/>
                <a:uFillTx/>
                <a:latin typeface="Avenir LT Std 55 Roman"/>
                <a:ea typeface="Open Sans"/>
              </a:rPr>
              <a:t>Instrutor/Responsável Técnico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409"/>
              </a:lnSpc>
            </a:pPr>
            <a:r>
              <a:rPr b="0" lang="pt-BR" sz="1400" strike="noStrike" u="none">
                <a:solidFill>
                  <a:srgbClr val="2e2e2e"/>
                </a:solidFill>
                <a:effectLst/>
                <a:uFillTx/>
                <a:latin typeface="Avenir LT Std 55 Roman"/>
                <a:ea typeface="Open Sans"/>
              </a:rPr>
              <a:t>Téc. Segurança do Trabalho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pt-BR" sz="1400" spc="17" strike="noStrike" u="none">
                <a:solidFill>
                  <a:srgbClr val="2e2e2e"/>
                </a:solidFill>
                <a:effectLst/>
                <a:uFillTx/>
                <a:latin typeface="Avenir LT Std 55 Roman"/>
                <a:ea typeface="Open Sans"/>
              </a:rPr>
              <a:t>Reg: 0</a:t>
            </a:r>
            <a:r>
              <a:rPr b="0" lang="pt-BR" sz="1300" strike="noStrike" u="none">
                <a:solidFill>
                  <a:srgbClr val="2e2e2e"/>
                </a:solidFill>
                <a:effectLst/>
                <a:uFillTx/>
                <a:latin typeface="Avenir LT Std 55 Roman"/>
                <a:ea typeface="Open Sans"/>
              </a:rPr>
              <a:t>02622/GO 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Retângulo 5"/>
          <p:cNvSpPr/>
          <p:nvPr/>
        </p:nvSpPr>
        <p:spPr>
          <a:xfrm>
            <a:off x="1249920" y="6082200"/>
            <a:ext cx="3017160" cy="56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ts val="14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pt-BR" sz="1400" strike="noStrike" u="none">
                <a:solidFill>
                  <a:schemeClr val="dk1"/>
                </a:solidFill>
                <a:effectLst/>
                <a:uFillTx/>
                <a:latin typeface="Avenir LT Std 55 Roman"/>
                <a:ea typeface="Arial"/>
              </a:rPr>
              <a:t>_____________________________ </a:t>
            </a:r>
            <a:r>
              <a:rPr b="1" lang="pt-BR" sz="1400" strike="noStrike" u="none">
                <a:solidFill>
                  <a:schemeClr val="dk1"/>
                </a:solidFill>
                <a:effectLst/>
                <a:uFillTx/>
                <a:latin typeface="Avenir LT Std 55 Roman"/>
                <a:ea typeface="DejaVu Sans"/>
              </a:rPr>
              <a:t> </a:t>
            </a:r>
            <a:r>
              <a:rPr b="1" lang="pt-BR" sz="1100" strike="noStrike" u="none">
                <a:solidFill>
                  <a:schemeClr val="dk1"/>
                </a:solidFill>
                <a:effectLst/>
                <a:uFillTx/>
                <a:latin typeface="Avenir LT Std 55 Roman"/>
                <a:ea typeface="DejaVu Sans"/>
              </a:rPr>
              <a:t>Julia Das Exemplo Prado 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Box 20"/>
          <p:cNvSpPr/>
          <p:nvPr/>
        </p:nvSpPr>
        <p:spPr>
          <a:xfrm>
            <a:off x="1285200" y="6300000"/>
            <a:ext cx="357372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7" name="TextBox 21"/>
          <p:cNvSpPr/>
          <p:nvPr/>
        </p:nvSpPr>
        <p:spPr>
          <a:xfrm>
            <a:off x="360000" y="2700000"/>
            <a:ext cx="9619560" cy="12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ct val="100000"/>
              </a:lnSpc>
            </a:pP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8" name="Picture 10" descr=""/>
          <p:cNvPicPr/>
          <p:nvPr/>
        </p:nvPicPr>
        <p:blipFill>
          <a:blip r:embed="rId2"/>
          <a:stretch/>
        </p:blipFill>
        <p:spPr>
          <a:xfrm>
            <a:off x="6327360" y="6316560"/>
            <a:ext cx="2463480" cy="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" name="AutoShape 3"/>
          <p:cNvSpPr/>
          <p:nvPr/>
        </p:nvSpPr>
        <p:spPr>
          <a:xfrm>
            <a:off x="541800" y="3405600"/>
            <a:ext cx="9253080" cy="360"/>
          </a:xfrm>
          <a:prstGeom prst="line">
            <a:avLst/>
          </a:prstGeom>
          <a:ln cap="rnd" w="47520">
            <a:solidFill>
              <a:srgbClr val="a2c7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0" name="Retângulo 6"/>
          <p:cNvSpPr/>
          <p:nvPr/>
        </p:nvSpPr>
        <p:spPr>
          <a:xfrm>
            <a:off x="-159480" y="2742480"/>
            <a:ext cx="10702440" cy="10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pt-B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         </a:t>
            </a: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JULIA DAS EXEMPLO PRADO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</a:t>
            </a:r>
            <a:r>
              <a:rPr b="1" lang="pt-BR" sz="4000" strike="noStrike" u="non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CPF: 000.000.000-00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1" name="Picture 11" descr=""/>
          <p:cNvPicPr/>
          <p:nvPr/>
        </p:nvPicPr>
        <p:blipFill>
          <a:blip r:embed="rId3"/>
          <a:stretch/>
        </p:blipFill>
        <p:spPr>
          <a:xfrm>
            <a:off x="1502280" y="6291360"/>
            <a:ext cx="2468160" cy="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2" name="Picture 12" descr=""/>
          <p:cNvPicPr/>
          <p:nvPr/>
        </p:nvPicPr>
        <p:blipFill>
          <a:blip r:embed="rId4"/>
          <a:stretch/>
        </p:blipFill>
        <p:spPr>
          <a:xfrm>
            <a:off x="6378840" y="6253560"/>
            <a:ext cx="2468160" cy="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2"/>
          <p:cNvSpPr/>
          <p:nvPr/>
        </p:nvSpPr>
        <p:spPr>
          <a:xfrm>
            <a:off x="1231920" y="654120"/>
            <a:ext cx="7660800" cy="90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2336"/>
              </a:lnSpc>
            </a:pP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3"/>
          <p:cNvSpPr/>
          <p:nvPr/>
        </p:nvSpPr>
        <p:spPr>
          <a:xfrm>
            <a:off x="546120" y="429480"/>
            <a:ext cx="5894280" cy="22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1" lang="en-US" sz="1400" spc="181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Open Sans"/>
              </a:rPr>
              <a:t>CONTEÚDO PR</a:t>
            </a:r>
            <a:r>
              <a:rPr b="1" lang="pt-BR" sz="1400" spc="181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Open Sans"/>
              </a:rPr>
              <a:t>O</a:t>
            </a:r>
            <a:r>
              <a:rPr b="1" lang="en-US" sz="1400" spc="181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Open Sans"/>
              </a:rPr>
              <a:t>G</a:t>
            </a:r>
            <a:r>
              <a:rPr b="1" lang="pt-BR" sz="1400" spc="181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Open Sans"/>
              </a:rPr>
              <a:t>RA</a:t>
            </a:r>
            <a:r>
              <a:rPr b="1" lang="en-US" sz="1400" spc="181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Open Sans"/>
              </a:rPr>
              <a:t>MÁTICO</a:t>
            </a:r>
            <a:r>
              <a:rPr b="1" lang="pt-BR" sz="1400" spc="181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Open Sans"/>
              </a:rPr>
              <a:t> GERAL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Caixa de Texto 5"/>
          <p:cNvSpPr/>
          <p:nvPr/>
        </p:nvSpPr>
        <p:spPr>
          <a:xfrm>
            <a:off x="393840" y="4997520"/>
            <a:ext cx="5159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pt-BR" sz="1400" strike="noStrike" u="none">
                <a:solidFill>
                  <a:schemeClr val="dk1"/>
                </a:solidFill>
                <a:effectLst/>
                <a:uFillTx/>
                <a:latin typeface="Avenir LT Std 55 Roman"/>
                <a:ea typeface="DejaVu Sans"/>
              </a:rPr>
              <a:t>CONTEÚDO PROGRAMÁTICO  ESPECIFICO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Caixa de Texto 6"/>
          <p:cNvSpPr/>
          <p:nvPr/>
        </p:nvSpPr>
        <p:spPr>
          <a:xfrm>
            <a:off x="546120" y="5454720"/>
            <a:ext cx="921492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pt-BR" sz="1200" strike="noStrike" u="none">
                <a:solidFill>
                  <a:schemeClr val="dk1"/>
                </a:solidFill>
                <a:effectLst/>
                <a:uFillTx/>
                <a:latin typeface="Avenir LT Std 55 Roman"/>
                <a:ea typeface="DejaVu Sans"/>
              </a:rPr>
              <a:t>Atividades com Máquinas Portáteis rotativas - Riscos e Forma de Prevenção: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pt-BR" sz="1200" strike="noStrike" u="none">
                <a:solidFill>
                  <a:schemeClr val="dk1"/>
                </a:solidFill>
                <a:effectLst/>
                <a:uFillTx/>
                <a:latin typeface="Avenir LT Std 55 Roman"/>
                <a:ea typeface="DejaVu Sans"/>
              </a:rPr>
              <a:t>• Equipamentos de Corte e Desbaste;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pt-BR" sz="1200" strike="noStrike" u="none">
                <a:solidFill>
                  <a:schemeClr val="dk1"/>
                </a:solidFill>
                <a:effectLst/>
                <a:uFillTx/>
                <a:latin typeface="Avenir LT Std 55 Roman"/>
                <a:ea typeface="DejaVu Sans"/>
              </a:rPr>
              <a:t>• Acessórios: Coifas, Disco de Corte, Disco de Desbaste, Escova, Retífica, Lixa e Outros;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pt-BR" sz="1200" strike="noStrike" u="none">
                <a:solidFill>
                  <a:schemeClr val="dk1"/>
                </a:solidFill>
                <a:effectLst/>
                <a:uFillTx/>
                <a:latin typeface="Avenir LT Std 55 Roman"/>
                <a:ea typeface="DejaVu Sans"/>
              </a:rPr>
              <a:t>• Sistema de Segurança;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pt-BR" sz="1200" strike="noStrike" u="none">
                <a:solidFill>
                  <a:schemeClr val="dk1"/>
                </a:solidFill>
                <a:effectLst/>
                <a:uFillTx/>
                <a:latin typeface="Avenir LT Std 55 Roman"/>
                <a:ea typeface="DejaVu Sans"/>
              </a:rPr>
              <a:t>• Proteção Física contra Faíscas;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pt-BR" sz="1200" strike="noStrike" u="none">
                <a:solidFill>
                  <a:schemeClr val="dk1"/>
                </a:solidFill>
                <a:effectLst/>
                <a:uFillTx/>
                <a:latin typeface="Avenir LT Std 55 Roman"/>
                <a:ea typeface="DejaVu Sans"/>
              </a:rPr>
              <a:t>Proteção Elétrica - Quadros, Disjuntores e Cabos de Alimentação;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pt-BR" sz="1200" strike="noStrike" u="none">
                <a:solidFill>
                  <a:schemeClr val="dk1"/>
                </a:solidFill>
                <a:effectLst/>
                <a:uFillTx/>
                <a:latin typeface="Avenir LT Std 55 Roman"/>
                <a:ea typeface="DejaVu Sans"/>
              </a:rPr>
              <a:t>• EPI e EPC.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Caixa de Texto 7"/>
          <p:cNvSpPr/>
          <p:nvPr/>
        </p:nvSpPr>
        <p:spPr>
          <a:xfrm>
            <a:off x="393840" y="806400"/>
            <a:ext cx="9933120" cy="356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a) Estudo da NR-34, Item 34.5;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b) Identificação de Perigos e Análise de Riscos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• Conceitos de Perigos e Riscos;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• Técnicas de Identificação de Perigos e Análise de Riscos;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• APP e APR - Análise Preliminar de Perigos e Análise Preliminar de Riscos.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c) Permissão para Trabalho - PT;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d) Limite inferior e superior de explosividade;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e) Medidas de Controle no Local de Trabalho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• Inspeção Preliminar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• Controle de materiais combustíveis e inflamáveis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• Proteção Física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• Atividades no entorno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• Sinalização e Isolamento do Local de Trabalho;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• Inspeção Posterior para controle de fontes de ignição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f) Renovação de Ar no Local de Trabalho (Ventilação/Exaustão);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g) Rede de Gases (Válvulas e Engates);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h) Ergonomia;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i) Doenças ocupacionais;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j) FISPQ.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roup 6"/>
          <p:cNvGrpSpPr/>
          <p:nvPr/>
        </p:nvGrpSpPr>
        <p:grpSpPr>
          <a:xfrm>
            <a:off x="2625480" y="936360"/>
            <a:ext cx="8037000" cy="917640"/>
            <a:chOff x="2625480" y="936360"/>
            <a:chExt cx="8037000" cy="917640"/>
          </a:xfrm>
        </p:grpSpPr>
        <p:sp>
          <p:nvSpPr>
            <p:cNvPr id="69" name="Freeform 10"/>
            <p:cNvSpPr/>
            <p:nvPr/>
          </p:nvSpPr>
          <p:spPr>
            <a:xfrm>
              <a:off x="2625480" y="936360"/>
              <a:ext cx="8037000" cy="917640"/>
            </a:xfrm>
            <a:custGeom>
              <a:avLst/>
              <a:gdLst>
                <a:gd name="textAreaLeft" fmla="*/ 0 w 8037000"/>
                <a:gd name="textAreaRight" fmla="*/ 8072280 w 8037000"/>
                <a:gd name="textAreaTop" fmla="*/ 0 h 917640"/>
                <a:gd name="textAreaBottom" fmla="*/ 952920 h 917640"/>
              </a:gdLst>
              <a:ahLst/>
              <a:cxnLst/>
              <a:rect l="textAreaLeft" t="textAreaTop" r="textAreaRight" b="textAreaBottom"/>
              <a:pathLst>
                <a:path w="3815445" h="425295">
                  <a:moveTo>
                    <a:pt x="0" y="0"/>
                  </a:moveTo>
                  <a:lnTo>
                    <a:pt x="3815445" y="0"/>
                  </a:lnTo>
                  <a:lnTo>
                    <a:pt x="3815445" y="425295"/>
                  </a:lnTo>
                  <a:lnTo>
                    <a:pt x="0" y="425295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grpSp>
        <p:nvGrpSpPr>
          <p:cNvPr id="70" name="Group 7"/>
          <p:cNvGrpSpPr/>
          <p:nvPr/>
        </p:nvGrpSpPr>
        <p:grpSpPr>
          <a:xfrm>
            <a:off x="0" y="393840"/>
            <a:ext cx="8868240" cy="1593000"/>
            <a:chOff x="0" y="393840"/>
            <a:chExt cx="8868240" cy="1593000"/>
          </a:xfrm>
        </p:grpSpPr>
        <p:sp>
          <p:nvSpPr>
            <p:cNvPr id="71" name="Freeform 11"/>
            <p:cNvSpPr/>
            <p:nvPr/>
          </p:nvSpPr>
          <p:spPr>
            <a:xfrm>
              <a:off x="0" y="393840"/>
              <a:ext cx="234720" cy="234720"/>
            </a:xfrm>
            <a:custGeom>
              <a:avLst/>
              <a:gdLst>
                <a:gd name="textAreaLeft" fmla="*/ 0 w 234720"/>
                <a:gd name="textAreaRight" fmla="*/ 270000 w 234720"/>
                <a:gd name="textAreaTop" fmla="*/ 0 h 234720"/>
                <a:gd name="textAreaBottom" fmla="*/ 270000 h 234720"/>
              </a:gdLst>
              <a:ahLst/>
              <a:cxnLst/>
              <a:rect l="textAreaLeft" t="textAreaTop" r="textAreaRight" b="textAreaBottom"/>
              <a:pathLst>
                <a:path w="450850" h="450850">
                  <a:moveTo>
                    <a:pt x="450850" y="450850"/>
                  </a:moveTo>
                  <a:lnTo>
                    <a:pt x="0" y="450850"/>
                  </a:lnTo>
                  <a:lnTo>
                    <a:pt x="450850" y="0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72" name="Freeform 12"/>
            <p:cNvSpPr/>
            <p:nvPr/>
          </p:nvSpPr>
          <p:spPr>
            <a:xfrm>
              <a:off x="0" y="663480"/>
              <a:ext cx="8868240" cy="1323360"/>
            </a:xfrm>
            <a:custGeom>
              <a:avLst/>
              <a:gdLst>
                <a:gd name="textAreaLeft" fmla="*/ 0 w 8868240"/>
                <a:gd name="textAreaRight" fmla="*/ 8903520 w 8868240"/>
                <a:gd name="textAreaTop" fmla="*/ 0 h 1323360"/>
                <a:gd name="textAreaBottom" fmla="*/ 1358640 h 1323360"/>
              </a:gdLst>
              <a:ahLst/>
              <a:cxnLst/>
              <a:rect l="textAreaLeft" t="textAreaTop" r="textAreaRight" b="textAreaBottom"/>
              <a:pathLst>
                <a:path w="14874689" h="2269490">
                  <a:moveTo>
                    <a:pt x="14285409" y="0"/>
                  </a:moveTo>
                  <a:lnTo>
                    <a:pt x="0" y="0"/>
                  </a:lnTo>
                  <a:lnTo>
                    <a:pt x="0" y="2269490"/>
                  </a:lnTo>
                  <a:lnTo>
                    <a:pt x="14285409" y="2269490"/>
                  </a:lnTo>
                  <a:lnTo>
                    <a:pt x="14285409" y="2268220"/>
                  </a:lnTo>
                  <a:lnTo>
                    <a:pt x="14874689" y="1134110"/>
                  </a:lnTo>
                  <a:close/>
                </a:path>
              </a:pathLst>
            </a:custGeom>
            <a:solidFill>
              <a:srgbClr val="a2c73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sp>
        <p:nvSpPr>
          <p:cNvPr id="73" name="TextBox 22"/>
          <p:cNvSpPr/>
          <p:nvPr/>
        </p:nvSpPr>
        <p:spPr>
          <a:xfrm>
            <a:off x="1788480" y="1041120"/>
            <a:ext cx="7080120" cy="71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601"/>
              </a:lnSpc>
            </a:pPr>
            <a:r>
              <a:rPr b="1" lang="en-US" sz="5600" spc="332" strike="noStrike" u="none">
                <a:solidFill>
                  <a:srgbClr val="ffffff"/>
                </a:solidFill>
                <a:effectLst/>
                <a:uFillTx/>
                <a:latin typeface="Avenir Next LT Pro"/>
                <a:ea typeface="DejaVu Sans"/>
              </a:rPr>
              <a:t>CERTIFICADO</a:t>
            </a:r>
            <a:endParaRPr b="0" lang="pt-BR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23"/>
          <p:cNvSpPr/>
          <p:nvPr/>
        </p:nvSpPr>
        <p:spPr>
          <a:xfrm>
            <a:off x="1882080" y="2309040"/>
            <a:ext cx="5894280" cy="22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0" lang="en-US" sz="1750" spc="181" strike="noStrike" u="none">
                <a:solidFill>
                  <a:srgbClr val="000000"/>
                </a:solidFill>
                <a:effectLst/>
                <a:uFillTx/>
                <a:latin typeface="Avenir Next LT Pro"/>
                <a:ea typeface="DejaVu Sans"/>
              </a:rPr>
              <a:t>CERTIFICAMOS QUE O COLABORADOR</a:t>
            </a:r>
            <a:endParaRPr b="0" lang="pt-BR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Caixa de Texto 4"/>
          <p:cNvSpPr/>
          <p:nvPr/>
        </p:nvSpPr>
        <p:spPr>
          <a:xfrm>
            <a:off x="1079640" y="4092120"/>
            <a:ext cx="8328240" cy="173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00000"/>
              </a:lnSpc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venir Next LT Pro"/>
                <a:ea typeface="DejaVu Sans"/>
              </a:rPr>
              <a:t>Concluiu em 21/07/2026 o curso de NR-34 realizado na empresa Volga Engenharia Ind. E comércio Ltda na Av. Elmar Arantes Cabral, SN, Quadra 001, Lote 5, CEP 74.993-535, Parque Industrial Vice-Presidente osé Alencar, Aparecida de Goiânia-GO - CNPJ: 03.347.463/0001-12. Carga horária de 08 (oito) horas conforme determina legislação aplicável.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6" name="Picture 13" descr=""/>
          <p:cNvPicPr/>
          <p:nvPr/>
        </p:nvPicPr>
        <p:blipFill>
          <a:blip r:embed="rId1"/>
          <a:stretch/>
        </p:blipFill>
        <p:spPr>
          <a:xfrm>
            <a:off x="1412280" y="6294600"/>
            <a:ext cx="2463480" cy="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TextBox 24"/>
          <p:cNvSpPr/>
          <p:nvPr/>
        </p:nvSpPr>
        <p:spPr>
          <a:xfrm>
            <a:off x="5844960" y="6086880"/>
            <a:ext cx="3418200" cy="35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914400">
              <a:lnSpc>
                <a:spcPts val="14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pt-BR" sz="1400" strike="noStrike" u="none">
                <a:solidFill>
                  <a:schemeClr val="dk1"/>
                </a:solidFill>
                <a:effectLst/>
                <a:uFillTx/>
                <a:latin typeface="Avenir LT Std 55 Roman"/>
                <a:ea typeface="DejaVu Sans"/>
              </a:rPr>
              <a:t>______________________________</a:t>
            </a:r>
            <a:br>
              <a:rPr sz="1400"/>
            </a:br>
            <a:r>
              <a:rPr b="1" lang="pt-BR" sz="1400" strike="noStrike" u="none">
                <a:solidFill>
                  <a:schemeClr val="dk1"/>
                </a:solidFill>
                <a:effectLst/>
                <a:uFillTx/>
                <a:latin typeface="Avenir LT Std 55 Roman"/>
                <a:ea typeface="DejaVu Sans"/>
              </a:rPr>
              <a:t>Hervinio Tomaz Da Rocha Sobrinho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25"/>
          <p:cNvSpPr/>
          <p:nvPr/>
        </p:nvSpPr>
        <p:spPr>
          <a:xfrm>
            <a:off x="1723320" y="6763680"/>
            <a:ext cx="2048400" cy="13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100"/>
              </a:lnSpc>
            </a:pPr>
            <a:r>
              <a:rPr b="0" lang="pt-BR" sz="1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venir LT Std 55 Roman"/>
                <a:ea typeface="Open Sans"/>
              </a:rPr>
              <a:t>Colaborador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26"/>
          <p:cNvSpPr/>
          <p:nvPr/>
        </p:nvSpPr>
        <p:spPr>
          <a:xfrm>
            <a:off x="5975280" y="6559200"/>
            <a:ext cx="305100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409"/>
              </a:lnSpc>
            </a:pPr>
            <a:r>
              <a:rPr b="0" lang="pt-BR" sz="1400" strike="noStrike" u="none">
                <a:solidFill>
                  <a:srgbClr val="2e2e2e"/>
                </a:solidFill>
                <a:effectLst/>
                <a:uFillTx/>
                <a:latin typeface="Avenir LT Std 55 Roman"/>
                <a:ea typeface="Open Sans"/>
              </a:rPr>
              <a:t>Instrutor/Responsável Técnico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409"/>
              </a:lnSpc>
            </a:pPr>
            <a:r>
              <a:rPr b="0" lang="pt-BR" sz="1400" strike="noStrike" u="none">
                <a:solidFill>
                  <a:srgbClr val="2e2e2e"/>
                </a:solidFill>
                <a:effectLst/>
                <a:uFillTx/>
                <a:latin typeface="Avenir LT Std 55 Roman"/>
                <a:ea typeface="Open Sans"/>
              </a:rPr>
              <a:t>Téc. Segurança do Trabalho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pt-BR" sz="1400" spc="17" strike="noStrike" u="none">
                <a:solidFill>
                  <a:srgbClr val="2e2e2e"/>
                </a:solidFill>
                <a:effectLst/>
                <a:uFillTx/>
                <a:latin typeface="Avenir LT Std 55 Roman"/>
                <a:ea typeface="Open Sans"/>
              </a:rPr>
              <a:t>Reg: 0</a:t>
            </a:r>
            <a:r>
              <a:rPr b="0" lang="pt-BR" sz="1300" strike="noStrike" u="none">
                <a:solidFill>
                  <a:srgbClr val="2e2e2e"/>
                </a:solidFill>
                <a:effectLst/>
                <a:uFillTx/>
                <a:latin typeface="Avenir LT Std 55 Roman"/>
                <a:ea typeface="Open Sans"/>
              </a:rPr>
              <a:t>02622/GO 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Retângulo 7"/>
          <p:cNvSpPr/>
          <p:nvPr/>
        </p:nvSpPr>
        <p:spPr>
          <a:xfrm>
            <a:off x="1249920" y="6082200"/>
            <a:ext cx="3017160" cy="56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ts val="14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pt-BR" sz="1400" strike="noStrike" u="none">
                <a:solidFill>
                  <a:schemeClr val="dk1"/>
                </a:solidFill>
                <a:effectLst/>
                <a:uFillTx/>
                <a:latin typeface="Avenir LT Std 55 Roman"/>
                <a:ea typeface="Arial"/>
              </a:rPr>
              <a:t>_____________________________ </a:t>
            </a:r>
            <a:r>
              <a:rPr b="1" lang="pt-BR" sz="1400" strike="noStrike" u="none">
                <a:solidFill>
                  <a:schemeClr val="dk1"/>
                </a:solidFill>
                <a:effectLst/>
                <a:uFillTx/>
                <a:latin typeface="Avenir LT Std 55 Roman"/>
                <a:ea typeface="DejaVu Sans"/>
              </a:rPr>
              <a:t> </a:t>
            </a:r>
            <a:r>
              <a:rPr b="1" lang="pt-BR" sz="1100" strike="noStrike" u="none">
                <a:solidFill>
                  <a:schemeClr val="dk1"/>
                </a:solidFill>
                <a:effectLst/>
                <a:uFillTx/>
                <a:latin typeface="Avenir LT Std 55 Roman"/>
                <a:ea typeface="DejaVu Sans"/>
              </a:rPr>
              <a:t>Marcos Exemplo Duarte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27"/>
          <p:cNvSpPr/>
          <p:nvPr/>
        </p:nvSpPr>
        <p:spPr>
          <a:xfrm>
            <a:off x="1285200" y="6300000"/>
            <a:ext cx="357372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2" name="TextBox 28"/>
          <p:cNvSpPr/>
          <p:nvPr/>
        </p:nvSpPr>
        <p:spPr>
          <a:xfrm>
            <a:off x="360000" y="2700000"/>
            <a:ext cx="9619560" cy="12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ct val="100000"/>
              </a:lnSpc>
            </a:pP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3" name="Picture 14" descr=""/>
          <p:cNvPicPr/>
          <p:nvPr/>
        </p:nvPicPr>
        <p:blipFill>
          <a:blip r:embed="rId2"/>
          <a:stretch/>
        </p:blipFill>
        <p:spPr>
          <a:xfrm>
            <a:off x="6327360" y="6316560"/>
            <a:ext cx="2463480" cy="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" name="AutoShape 4"/>
          <p:cNvSpPr/>
          <p:nvPr/>
        </p:nvSpPr>
        <p:spPr>
          <a:xfrm>
            <a:off x="541800" y="3405600"/>
            <a:ext cx="9253080" cy="360"/>
          </a:xfrm>
          <a:prstGeom prst="line">
            <a:avLst/>
          </a:prstGeom>
          <a:ln cap="rnd" w="47520">
            <a:solidFill>
              <a:srgbClr val="a2c7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5" name="Retângulo 8"/>
          <p:cNvSpPr/>
          <p:nvPr/>
        </p:nvSpPr>
        <p:spPr>
          <a:xfrm>
            <a:off x="-159480" y="2742480"/>
            <a:ext cx="10702440" cy="10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pt-B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         </a:t>
            </a: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MARCOS EXEMPLO DUARTE 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</a:t>
            </a:r>
            <a:r>
              <a:rPr b="1" lang="pt-BR" sz="4000" strike="noStrike" u="non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CPF: 000.000.000-00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6" name="Picture 15" descr=""/>
          <p:cNvPicPr/>
          <p:nvPr/>
        </p:nvPicPr>
        <p:blipFill>
          <a:blip r:embed="rId3"/>
          <a:stretch/>
        </p:blipFill>
        <p:spPr>
          <a:xfrm>
            <a:off x="1502280" y="6291360"/>
            <a:ext cx="2468160" cy="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7" name="Picture 16" descr=""/>
          <p:cNvPicPr/>
          <p:nvPr/>
        </p:nvPicPr>
        <p:blipFill>
          <a:blip r:embed="rId4"/>
          <a:stretch/>
        </p:blipFill>
        <p:spPr>
          <a:xfrm>
            <a:off x="6378840" y="6253560"/>
            <a:ext cx="2468160" cy="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Box 5"/>
          <p:cNvSpPr/>
          <p:nvPr/>
        </p:nvSpPr>
        <p:spPr>
          <a:xfrm>
            <a:off x="1231920" y="654120"/>
            <a:ext cx="7660800" cy="90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2336"/>
              </a:lnSpc>
            </a:pP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6"/>
          <p:cNvSpPr/>
          <p:nvPr/>
        </p:nvSpPr>
        <p:spPr>
          <a:xfrm>
            <a:off x="546120" y="429480"/>
            <a:ext cx="5894280" cy="22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1" lang="en-US" sz="1400" spc="181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Open Sans"/>
              </a:rPr>
              <a:t>CONTEÚDO PR</a:t>
            </a:r>
            <a:r>
              <a:rPr b="1" lang="pt-BR" sz="1400" spc="181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Open Sans"/>
              </a:rPr>
              <a:t>O</a:t>
            </a:r>
            <a:r>
              <a:rPr b="1" lang="en-US" sz="1400" spc="181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Open Sans"/>
              </a:rPr>
              <a:t>G</a:t>
            </a:r>
            <a:r>
              <a:rPr b="1" lang="pt-BR" sz="1400" spc="181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Open Sans"/>
              </a:rPr>
              <a:t>RA</a:t>
            </a:r>
            <a:r>
              <a:rPr b="1" lang="en-US" sz="1400" spc="181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Open Sans"/>
              </a:rPr>
              <a:t>MÁTICO</a:t>
            </a:r>
            <a:r>
              <a:rPr b="1" lang="pt-BR" sz="1400" spc="181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Open Sans"/>
              </a:rPr>
              <a:t> GERAL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Caixa de Texto 10"/>
          <p:cNvSpPr/>
          <p:nvPr/>
        </p:nvSpPr>
        <p:spPr>
          <a:xfrm>
            <a:off x="393840" y="4997520"/>
            <a:ext cx="5159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pt-BR" sz="1400" strike="noStrike" u="none">
                <a:solidFill>
                  <a:schemeClr val="dk1"/>
                </a:solidFill>
                <a:effectLst/>
                <a:uFillTx/>
                <a:latin typeface="Avenir LT Std 55 Roman"/>
                <a:ea typeface="DejaVu Sans"/>
              </a:rPr>
              <a:t>CONTEÚDO PROGRAMÁTICO  ESPECIFICO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Caixa de Texto 11"/>
          <p:cNvSpPr/>
          <p:nvPr/>
        </p:nvSpPr>
        <p:spPr>
          <a:xfrm>
            <a:off x="546120" y="5454720"/>
            <a:ext cx="921492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pt-BR" sz="1200" strike="noStrike" u="none">
                <a:solidFill>
                  <a:schemeClr val="dk1"/>
                </a:solidFill>
                <a:effectLst/>
                <a:uFillTx/>
                <a:latin typeface="Avenir LT Std 55 Roman"/>
                <a:ea typeface="DejaVu Sans"/>
              </a:rPr>
              <a:t>Atividades com Máquinas Portáteis rotativas - Riscos e Forma de Prevenção: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pt-BR" sz="1200" strike="noStrike" u="none">
                <a:solidFill>
                  <a:schemeClr val="dk1"/>
                </a:solidFill>
                <a:effectLst/>
                <a:uFillTx/>
                <a:latin typeface="Avenir LT Std 55 Roman"/>
                <a:ea typeface="DejaVu Sans"/>
              </a:rPr>
              <a:t>• Equipamentos de Corte e Desbaste;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pt-BR" sz="1200" strike="noStrike" u="none">
                <a:solidFill>
                  <a:schemeClr val="dk1"/>
                </a:solidFill>
                <a:effectLst/>
                <a:uFillTx/>
                <a:latin typeface="Avenir LT Std 55 Roman"/>
                <a:ea typeface="DejaVu Sans"/>
              </a:rPr>
              <a:t>• Acessórios: Coifas, Disco de Corte, Disco de Desbaste, Escova, Retífica, Lixa e Outros;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pt-BR" sz="1200" strike="noStrike" u="none">
                <a:solidFill>
                  <a:schemeClr val="dk1"/>
                </a:solidFill>
                <a:effectLst/>
                <a:uFillTx/>
                <a:latin typeface="Avenir LT Std 55 Roman"/>
                <a:ea typeface="DejaVu Sans"/>
              </a:rPr>
              <a:t>• Sistema de Segurança;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pt-BR" sz="1200" strike="noStrike" u="none">
                <a:solidFill>
                  <a:schemeClr val="dk1"/>
                </a:solidFill>
                <a:effectLst/>
                <a:uFillTx/>
                <a:latin typeface="Avenir LT Std 55 Roman"/>
                <a:ea typeface="DejaVu Sans"/>
              </a:rPr>
              <a:t>• Proteção Física contra Faíscas;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pt-BR" sz="1200" strike="noStrike" u="none">
                <a:solidFill>
                  <a:schemeClr val="dk1"/>
                </a:solidFill>
                <a:effectLst/>
                <a:uFillTx/>
                <a:latin typeface="Avenir LT Std 55 Roman"/>
                <a:ea typeface="DejaVu Sans"/>
              </a:rPr>
              <a:t>Proteção Elétrica - Quadros, Disjuntores e Cabos de Alimentação;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pt-BR" sz="1200" strike="noStrike" u="none">
                <a:solidFill>
                  <a:schemeClr val="dk1"/>
                </a:solidFill>
                <a:effectLst/>
                <a:uFillTx/>
                <a:latin typeface="Avenir LT Std 55 Roman"/>
                <a:ea typeface="DejaVu Sans"/>
              </a:rPr>
              <a:t>• EPI e EPC.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Caixa de Texto 12"/>
          <p:cNvSpPr/>
          <p:nvPr/>
        </p:nvSpPr>
        <p:spPr>
          <a:xfrm>
            <a:off x="393840" y="806400"/>
            <a:ext cx="9933120" cy="356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a) Estudo da NR-34, Item 34.5;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b) Identificação de Perigos e Análise de Riscos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• Conceitos de Perigos e Riscos;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• Técnicas de Identificação de Perigos e Análise de Riscos;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• APP e APR - Análise Preliminar de Perigos e Análise Preliminar de Riscos.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c) Permissão para Trabalho - PT;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d) Limite inferior e superior de explosividade;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e) Medidas de Controle no Local de Trabalho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• Inspeção Preliminar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• Controle de materiais combustíveis e inflamáveis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• Proteção Física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• Atividades no entorno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• Sinalização e Isolamento do Local de Trabalho;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• Inspeção Posterior para controle de fontes de ignição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f) Renovação de Ar no Local de Trabalho (Ventilação/Exaustão);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g) Rede de Gases (Válvulas e Engates);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h) Ergonomia;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i) Doenças ocupacionais;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j) FISPQ.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38417</TotalTime>
  <Application>LibreOffice/25.2.7.2$Windows_X86_64 LibreOffice_project/5cbfd1ab6520636bb5f7b99185aa69bd7456825d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Larissa Santana Rabelo</dc:creator>
  <dc:description/>
  <dc:language>pt-BR</dc:language>
  <cp:lastModifiedBy/>
  <cp:lastPrinted>2026-07-15T15:05:21Z</cp:lastPrinted>
  <dcterms:modified xsi:type="dcterms:W3CDTF">2026-07-15T15:09:57Z</dcterms:modified>
  <cp:revision>193</cp:revision>
  <dc:subject/>
  <dc:title>of Achievement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F211C065ACC147949C562C12667C37A7</vt:lpwstr>
  </property>
  <property fmtid="{D5CDD505-2E9C-101B-9397-08002B2CF9AE}" pid="3" name="KSOProductBuildVer">
    <vt:lpwstr>1046-11.2.0.11440</vt:lpwstr>
  </property>
  <property fmtid="{D5CDD505-2E9C-101B-9397-08002B2CF9AE}" pid="4" name="Notes">
    <vt:r8>1</vt:r8>
  </property>
  <property fmtid="{D5CDD505-2E9C-101B-9397-08002B2CF9AE}" pid="5" name="PresentationFormat">
    <vt:lpwstr>Personalizar</vt:lpwstr>
  </property>
  <property fmtid="{D5CDD505-2E9C-101B-9397-08002B2CF9AE}" pid="6" name="Slides">
    <vt:r8>18</vt:r8>
  </property>
</Properties>
</file>