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56FFDC-CA51-4986-BA62-67A0CCFC51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892286-73A0-4D07-BFD0-DCA21DC79C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6776C3-939C-4FA0-97F8-71869DF6CD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AA1899-E100-48EA-9640-9E6463147B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A3E793-77CE-459A-9FE7-EABBE09118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1D0BDC-22CE-4D09-A6C5-9D3C99D141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1CB1B1-1C1F-434B-9BA8-948E57BB89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5D34B3-BC1F-4292-81F5-158A8B85DD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D43C9E-BAE2-4513-95EF-02B78D6082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AEEDD7-3CD4-4355-A558-D81B525FB5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0D29A7-8E93-4BE7-94B0-A3783E03CB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D8F981-EF18-4B1C-B6E9-403F10D34D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17440" cy="4807800"/>
          </a:xfrm>
          <a:prstGeom prst="rect">
            <a:avLst/>
          </a:prstGeom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386360" cy="13863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16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65240" cy="3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03480" cy="3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0543DE-28DE-4FB4-A20F-2F3EE99B92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03480" cy="3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46" name="Freeform 3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47" name="Picture 6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7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49" name="Group 8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50" name="Freeform 9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Freeform 10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" name="TextBox 14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Marcos Exemplo Prado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5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6"/>
          <p:cNvSpPr/>
          <p:nvPr/>
        </p:nvSpPr>
        <p:spPr>
          <a:xfrm>
            <a:off x="101520" y="2623680"/>
            <a:ext cx="10444680" cy="30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4000" spc="-1" strike="noStrike">
                <a:solidFill>
                  <a:srgbClr val="000000"/>
                </a:solidFill>
                <a:latin typeface="Calibri"/>
                <a:ea typeface="Arial"/>
              </a:rPr>
              <a:t>MARCOS EXEMPLO PRADO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7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8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8" name="Tabela 3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9" name="TextBox 12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AutoShape 1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utoShape 10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8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3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68" name="Freeform 5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69" name="Picture 3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70" name="Picture 4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71" name="Group 4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72" name="Freeform 6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" name="Freeform 7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" name="TextBox 9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Paulo Exemplo Nunes Moura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101520" y="2623680"/>
            <a:ext cx="1044468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PAULO EXEMPLO NUNES MOURA</a:t>
            </a:r>
            <a:r>
              <a:rPr b="0" lang="pt-BR" sz="4000" spc="-1" strike="noStrike">
                <a:solidFill>
                  <a:srgbClr val="000000"/>
                </a:solidFill>
                <a:latin typeface="Calibri"/>
                <a:ea typeface="Arial"/>
              </a:rPr>
              <a:t> 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0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1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22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Tabela 2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1" name="TextBox 23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4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AutoShape 4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AutoShape 5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5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90" name="Freeform 8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91" name="Picture 5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8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93" name="Group 6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94" name="Freeform 11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Freeform 12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6" name="TextBox 25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Carla Exemplo da Moura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26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7"/>
          <p:cNvSpPr/>
          <p:nvPr/>
        </p:nvSpPr>
        <p:spPr>
          <a:xfrm>
            <a:off x="101520" y="2623680"/>
            <a:ext cx="1044468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CARLA EXEMPLO DA MOURA</a:t>
            </a:r>
            <a:r>
              <a:rPr b="0" lang="pt-BR" sz="4000" spc="-1" strike="noStrike">
                <a:solidFill>
                  <a:srgbClr val="000000"/>
                </a:solidFill>
                <a:latin typeface="Calibri"/>
                <a:ea typeface="Arial"/>
              </a:rPr>
              <a:t> 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28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29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30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2" name="Tabela 4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31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2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AutoShape 6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AutoShape 7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3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7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112" name="Freeform 13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13" name="Picture 9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10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115" name="Group 9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116" name="Freeform 14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" name="Freeform 15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8" name="TextBox 33"/>
          <p:cNvSpPr/>
          <p:nvPr/>
        </p:nvSpPr>
        <p:spPr>
          <a:xfrm>
            <a:off x="1260000" y="6399720"/>
            <a:ext cx="369144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Ana Exemplo de Alves Pereira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4"/>
          <p:cNvSpPr/>
          <p:nvPr/>
        </p:nvSpPr>
        <p:spPr>
          <a:xfrm>
            <a:off x="2070000" y="6905160"/>
            <a:ext cx="20534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5"/>
          <p:cNvSpPr/>
          <p:nvPr/>
        </p:nvSpPr>
        <p:spPr>
          <a:xfrm>
            <a:off x="101520" y="2623680"/>
            <a:ext cx="10444680" cy="30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ANA EXEMPLO DE ALVES PEREIRA</a:t>
            </a:r>
            <a:r>
              <a:rPr b="0" lang="pt-BR" sz="4000" spc="-1" strike="noStrike">
                <a:solidFill>
                  <a:srgbClr val="000000"/>
                </a:solidFill>
                <a:latin typeface="Calibri"/>
                <a:ea typeface="Arial"/>
              </a:rPr>
              <a:t> 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6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37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38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Tabela 5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39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40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AutoShape 8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AutoShape 9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5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0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134" name="Freeform 16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35" name="Picture 11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2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137" name="Group 11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138" name="Freeform 17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Freeform 18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0" name="TextBox 41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Joao Exemplo Costa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42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43"/>
          <p:cNvSpPr/>
          <p:nvPr/>
        </p:nvSpPr>
        <p:spPr>
          <a:xfrm>
            <a:off x="101520" y="2623680"/>
            <a:ext cx="10444680" cy="29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JOAO EXEMPLO COSTA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44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45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46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6" name="Tabela 6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47" name="TextBox 47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48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AutoShape 11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AutoShape 12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7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oup 12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156" name="Freeform 19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57" name="Picture 13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14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159" name="Group 13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160" name="Freeform 20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Freeform 21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2" name="TextBox 49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Pedro Exemplo Pereira de Rocha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50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1"/>
          <p:cNvSpPr/>
          <p:nvPr/>
        </p:nvSpPr>
        <p:spPr>
          <a:xfrm>
            <a:off x="101520" y="2623680"/>
            <a:ext cx="10444680" cy="29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PEDRO EXEMPLO PEREIRA DE ROCHA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52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53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54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8" name="Tabela 7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69" name="TextBox 55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56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AutoShape 13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AutoShape 14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57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58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4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178" name="Freeform 22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79" name="Picture 15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16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181" name="Group 15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182" name="Freeform 23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Freeform 24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4" name="TextBox 59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Lucia Exemplo de Rocha Nunes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60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61"/>
          <p:cNvSpPr/>
          <p:nvPr/>
        </p:nvSpPr>
        <p:spPr>
          <a:xfrm>
            <a:off x="101520" y="2623680"/>
            <a:ext cx="10444680" cy="29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LUCIA EXEMPLO DE ROCHA NUNES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62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63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64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0" name="Tabela 8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91" name="TextBox 65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66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AutoShape 15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AutoShape 16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67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68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16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200" name="Freeform 25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01" name="Picture 17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18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203" name="Group 17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204" name="Freeform 26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Freeform 27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6" name="TextBox 69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Bruno Exemplo Pinto Brito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70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71"/>
          <p:cNvSpPr/>
          <p:nvPr/>
        </p:nvSpPr>
        <p:spPr>
          <a:xfrm>
            <a:off x="101520" y="2623680"/>
            <a:ext cx="10444680" cy="29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BRUNO EXEMPLO PINTO BRITO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72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73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74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2" name="Tabela 9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13" name="TextBox 75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76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AutoShape 17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AutoShape 18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77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78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18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222" name="Freeform 28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23" name="Picture 19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20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225" name="Group 19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226" name="Freeform 29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Freeform 30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8" name="TextBox 79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Julia Exemplo de Brito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80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81"/>
          <p:cNvSpPr/>
          <p:nvPr/>
        </p:nvSpPr>
        <p:spPr>
          <a:xfrm>
            <a:off x="101520" y="2623680"/>
            <a:ext cx="10444680" cy="29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JULIA EXEMPLO DE BRITO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82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83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84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4" name="Tabela 10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35" name="TextBox 85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86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AutoShape 19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AutoShape 20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87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88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roup 20"/>
          <p:cNvGrpSpPr/>
          <p:nvPr/>
        </p:nvGrpSpPr>
        <p:grpSpPr>
          <a:xfrm>
            <a:off x="2625480" y="936360"/>
            <a:ext cx="8042040" cy="922680"/>
            <a:chOff x="2625480" y="936360"/>
            <a:chExt cx="8042040" cy="922680"/>
          </a:xfrm>
        </p:grpSpPr>
        <p:sp>
          <p:nvSpPr>
            <p:cNvPr id="244" name="Freeform 31"/>
            <p:cNvSpPr/>
            <p:nvPr/>
          </p:nvSpPr>
          <p:spPr>
            <a:xfrm>
              <a:off x="2625480" y="936360"/>
              <a:ext cx="8042040" cy="922680"/>
            </a:xfrm>
            <a:custGeom>
              <a:avLst/>
              <a:gdLst>
                <a:gd name="textAreaLeft" fmla="*/ 0 w 8042040"/>
                <a:gd name="textAreaRight" fmla="*/ 8072280 w 8042040"/>
                <a:gd name="textAreaTop" fmla="*/ 0 h 922680"/>
                <a:gd name="textAreaBottom" fmla="*/ 952920 h 922680"/>
              </a:gdLst>
              <a:ah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45" name="Picture 21" descr=""/>
          <p:cNvPicPr/>
          <p:nvPr/>
        </p:nvPicPr>
        <p:blipFill>
          <a:blip r:embed="rId1"/>
          <a:stretch/>
        </p:blipFill>
        <p:spPr>
          <a:xfrm>
            <a:off x="6184800" y="6246360"/>
            <a:ext cx="2468520" cy="360"/>
          </a:xfrm>
          <a:prstGeom prst="rect">
            <a:avLst/>
          </a:prstGeom>
          <a:ln w="0">
            <a:noFill/>
          </a:ln>
        </p:spPr>
      </p:pic>
      <p:pic>
        <p:nvPicPr>
          <p:cNvPr id="246" name="Picture 22" descr=""/>
          <p:cNvPicPr/>
          <p:nvPr/>
        </p:nvPicPr>
        <p:blipFill>
          <a:blip r:embed="rId2"/>
          <a:stretch/>
        </p:blipFill>
        <p:spPr>
          <a:xfrm>
            <a:off x="1928880" y="6222240"/>
            <a:ext cx="2468520" cy="360"/>
          </a:xfrm>
          <a:prstGeom prst="rect">
            <a:avLst/>
          </a:prstGeom>
          <a:ln w="0">
            <a:noFill/>
          </a:ln>
        </p:spPr>
      </p:pic>
      <p:grpSp>
        <p:nvGrpSpPr>
          <p:cNvPr id="247" name="Group 21"/>
          <p:cNvGrpSpPr/>
          <p:nvPr/>
        </p:nvGrpSpPr>
        <p:grpSpPr>
          <a:xfrm>
            <a:off x="12600" y="384120"/>
            <a:ext cx="8873280" cy="1598400"/>
            <a:chOff x="12600" y="384120"/>
            <a:chExt cx="8873280" cy="1598400"/>
          </a:xfrm>
        </p:grpSpPr>
        <p:sp>
          <p:nvSpPr>
            <p:cNvPr id="248" name="Freeform 32"/>
            <p:cNvSpPr/>
            <p:nvPr/>
          </p:nvSpPr>
          <p:spPr>
            <a:xfrm>
              <a:off x="12600" y="384120"/>
              <a:ext cx="239760" cy="239760"/>
            </a:xfrm>
            <a:custGeom>
              <a:avLst/>
              <a:gdLst>
                <a:gd name="textAreaLeft" fmla="*/ 0 w 239760"/>
                <a:gd name="textAreaRight" fmla="*/ 270000 w 239760"/>
                <a:gd name="textAreaTop" fmla="*/ 0 h 239760"/>
                <a:gd name="textAreaBottom" fmla="*/ 270000 h 239760"/>
              </a:gdLst>
              <a:ah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9" name="Freeform 33"/>
            <p:cNvSpPr/>
            <p:nvPr/>
          </p:nvSpPr>
          <p:spPr>
            <a:xfrm>
              <a:off x="12600" y="654120"/>
              <a:ext cx="8873280" cy="1328400"/>
            </a:xfrm>
            <a:custGeom>
              <a:avLst/>
              <a:gdLst>
                <a:gd name="textAreaLeft" fmla="*/ 0 w 8873280"/>
                <a:gd name="textAreaRight" fmla="*/ 8903520 w 8873280"/>
                <a:gd name="textAreaTop" fmla="*/ 0 h 1328400"/>
                <a:gd name="textAreaBottom" fmla="*/ 1358640 h 1328400"/>
              </a:gdLst>
              <a:ah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0" name="TextBox 89"/>
          <p:cNvSpPr/>
          <p:nvPr/>
        </p:nvSpPr>
        <p:spPr>
          <a:xfrm>
            <a:off x="1260000" y="6399720"/>
            <a:ext cx="369144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Rita Exemplo Duarte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90"/>
          <p:cNvSpPr/>
          <p:nvPr/>
        </p:nvSpPr>
        <p:spPr>
          <a:xfrm>
            <a:off x="2070000" y="6669000"/>
            <a:ext cx="205344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Calibri"/>
                <a:ea typeface="Open Sans"/>
              </a:rPr>
              <a:t>Aluno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91"/>
          <p:cNvSpPr/>
          <p:nvPr/>
        </p:nvSpPr>
        <p:spPr>
          <a:xfrm>
            <a:off x="101520" y="2623680"/>
            <a:ext cx="10444680" cy="29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ct val="100000"/>
              </a:lnSpc>
            </a:pPr>
            <a:r>
              <a:rPr b="1" lang="pt-BR" sz="3600" spc="-1" strike="noStrike">
                <a:solidFill>
                  <a:srgbClr val="000000"/>
                </a:solidFill>
                <a:latin typeface="Arial"/>
                <a:ea typeface="Arial"/>
              </a:rPr>
              <a:t>RITA EXEMPLO DUARTE</a:t>
            </a:r>
            <a:br>
              <a:rPr sz="4000"/>
            </a:br>
            <a:r>
              <a:rPr b="1" lang="pt-BR" sz="4000" spc="-1" strike="noStrike">
                <a:solidFill>
                  <a:schemeClr val="dk1"/>
                </a:solidFill>
                <a:latin typeface="Calibri"/>
                <a:ea typeface="Arial"/>
              </a:rPr>
              <a:t> CPF: 000.000.000-00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92"/>
          <p:cNvSpPr/>
          <p:nvPr/>
        </p:nvSpPr>
        <p:spPr>
          <a:xfrm>
            <a:off x="1788480" y="1041120"/>
            <a:ext cx="708516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267" strike="noStrike">
                <a:solidFill>
                  <a:srgbClr val="ffffff"/>
                </a:solidFill>
                <a:latin typeface="Avenir LT Std 45 Book"/>
              </a:rPr>
              <a:t>CERTIFICADO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93"/>
          <p:cNvSpPr/>
          <p:nvPr/>
        </p:nvSpPr>
        <p:spPr>
          <a:xfrm>
            <a:off x="1079640" y="4006800"/>
            <a:ext cx="8349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venir Next LT Pro"/>
              </a:rPr>
              <a:t>Participou e concluiu o Treinamento sobre Segurança e Saúde no Trabalho com Inflamáveis e Combustíveis – Classe I, NR 20 realizado em 16 de Junho de 2025 com duração de 4 (quatro) horas. Oferecido pela empresa VOLGA ENGENHARIA INDUSTRIA E COMERCIO LTDA,  na Av. Elmar Arantes Cabral, SN, Quadra 001, Lote 5, Parque Industrial Vice-Presidente José Alencar, Aparecida de Goiânia-GO inscrita no CNPJ: 03.347.463/0001 -12. 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94"/>
          <p:cNvSpPr/>
          <p:nvPr/>
        </p:nvSpPr>
        <p:spPr>
          <a:xfrm>
            <a:off x="1923480" y="21852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0" strike="noStrike">
                <a:solidFill>
                  <a:srgbClr val="000000"/>
                </a:solidFill>
                <a:latin typeface="Avenir LT Std 35 Light"/>
              </a:rPr>
              <a:t>CERTIFICAMOS QUE O COLABORADOR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6" name="Tabela 11"/>
          <p:cNvGraphicFramePr/>
          <p:nvPr/>
        </p:nvGraphicFramePr>
        <p:xfrm>
          <a:off x="457200" y="3543120"/>
          <a:ext cx="207720" cy="640440"/>
        </p:xfrm>
        <a:graphic>
          <a:graphicData uri="http://schemas.openxmlformats.org/drawingml/2006/table">
            <a:tbl>
              <a:tblPr/>
              <a:tblGrid>
                <a:gridCol w="208080"/>
              </a:tblGrid>
              <a:tr h="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800"/>
                      </a:br>
                      <a:endParaRPr b="0" lang="pt-B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257" name="TextBox 95"/>
          <p:cNvSpPr/>
          <p:nvPr/>
        </p:nvSpPr>
        <p:spPr>
          <a:xfrm>
            <a:off x="5957640" y="6427440"/>
            <a:ext cx="2979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  <a:scene3d>
              <a:camera prst="orthographicFront"/>
              <a:lightRig dir="t" rig="threePt"/>
            </a:scene3d>
          </a:bodyPr>
          <a:p>
            <a:pPr algn="ctr" defTabSz="914400">
              <a:lnSpc>
                <a:spcPts val="1400"/>
              </a:lnSpc>
            </a:pPr>
            <a:r>
              <a:rPr b="1" lang="pt-BR" sz="1400" spc="-1" strike="noStrike">
                <a:solidFill>
                  <a:schemeClr val="dk1"/>
                </a:solidFill>
                <a:latin typeface="Avenir LT Std 55 Roman"/>
                <a:ea typeface="Arial"/>
              </a:rPr>
              <a:t>Hiolanda N. de Negreiros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96"/>
          <p:cNvSpPr/>
          <p:nvPr/>
        </p:nvSpPr>
        <p:spPr>
          <a:xfrm>
            <a:off x="5733720" y="6722640"/>
            <a:ext cx="357912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Instrutor/Responsável Técnico 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Téc. Segurança do Trabalho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100"/>
              </a:lnSpc>
            </a:pPr>
            <a:r>
              <a:rPr b="0" lang="pt-BR" sz="1400" spc="-1" strike="noStrike">
                <a:solidFill>
                  <a:srgbClr val="2e2e2e"/>
                </a:solidFill>
                <a:latin typeface="Avenir LT Std 55 Roman"/>
                <a:ea typeface="Open Sans"/>
              </a:rPr>
              <a:t>Reg: 0016958/PE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AutoShape 21"/>
          <p:cNvSpPr/>
          <p:nvPr/>
        </p:nvSpPr>
        <p:spPr>
          <a:xfrm flipV="1">
            <a:off x="1746360" y="3238200"/>
            <a:ext cx="7949880" cy="1908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AutoShape 22"/>
          <p:cNvSpPr/>
          <p:nvPr/>
        </p:nvSpPr>
        <p:spPr>
          <a:xfrm flipV="1">
            <a:off x="552600" y="3233880"/>
            <a:ext cx="9766080" cy="17640"/>
          </a:xfrm>
          <a:prstGeom prst="line">
            <a:avLst/>
          </a:prstGeom>
          <a:ln cap="rnd" w="47625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1621080" y="62917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5991480" y="6302520"/>
            <a:ext cx="3086280" cy="36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97"/>
          <p:cNvSpPr/>
          <p:nvPr/>
        </p:nvSpPr>
        <p:spPr>
          <a:xfrm>
            <a:off x="927000" y="1073880"/>
            <a:ext cx="7665840" cy="70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Inflamáveis: características, propriedades, perigos e riscos;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Controles coletivo e individual para trabalhos com inflamáveis;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Fontes de ignição e seu controle;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Proteção contra incêndio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Procedimentos básicos em situações de emergência com inflamáveis;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Conhecimentos e utilização dos sistemas de segurança contra incêndio com inflamáveis.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individual - EPI;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180" strike="noStrike">
                <a:solidFill>
                  <a:srgbClr val="000000"/>
                </a:solidFill>
                <a:latin typeface="Avenir LT Std 45 Book"/>
              </a:rPr>
              <a:t>Equipamento de proteção coletiva - EPC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98"/>
          <p:cNvSpPr/>
          <p:nvPr/>
        </p:nvSpPr>
        <p:spPr>
          <a:xfrm>
            <a:off x="948600" y="576000"/>
            <a:ext cx="58993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CONTEÚDO PR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O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G</a:t>
            </a:r>
            <a:r>
              <a:rPr b="0" lang="pt-BR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RA</a:t>
            </a:r>
            <a:r>
              <a:rPr b="0" lang="en-US" sz="2000" spc="180" strike="noStrike">
                <a:solidFill>
                  <a:srgbClr val="000000"/>
                </a:solidFill>
                <a:latin typeface="Avenir LT Std 45 Book"/>
                <a:ea typeface="Open Sans"/>
              </a:rPr>
              <a:t>MÁTICO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10122</TotalTime>
  <Application>LibreOffice/7.6.3.2$Windows_X86_64 LibreOffice_project/29d686fea9f6705b262d369fede658f824154cc0</Application>
  <AppVersion>15.0000</AppVersion>
  <Words>190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Larissa Santana Rabelo</dc:creator>
  <dc:description/>
  <dc:language>pt-BR</dc:language>
  <cp:lastModifiedBy/>
  <cp:lastPrinted>2025-06-16T14:25:23Z</cp:lastPrinted>
  <dcterms:modified xsi:type="dcterms:W3CDTF">2025-06-16T14:28:28Z</dcterms:modified>
  <cp:revision>161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53270F7AF4444BBFAAAF47D7207FC836</vt:lpwstr>
  </property>
  <property fmtid="{D5CDD505-2E9C-101B-9397-08002B2CF9AE}" pid="3" name="KSOProductBuildVer">
    <vt:lpwstr>1046-11.2.0.10132</vt:lpwstr>
  </property>
  <property fmtid="{D5CDD505-2E9C-101B-9397-08002B2CF9AE}" pid="4" name="Notes">
    <vt:i4>1</vt:i4>
  </property>
  <property fmtid="{D5CDD505-2E9C-101B-9397-08002B2CF9AE}" pid="5" name="PresentationFormat">
    <vt:lpwstr>Personalizar</vt:lpwstr>
  </property>
  <property fmtid="{D5CDD505-2E9C-101B-9397-08002B2CF9AE}" pid="6" name="Slides">
    <vt:i4>2</vt:i4>
  </property>
</Properties>
</file>