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media/image1.png" ContentType="image/png"/>
  <Override PartName="/ppt/media/image2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1" r:id="rId4"/>
    <p:sldMasterId id="2147483653" r:id="rId5"/>
    <p:sldMasterId id="2147483654" r:id="rId6"/>
    <p:sldMasterId id="2147483655" r:id="rId7"/>
    <p:sldMasterId id="2147483656" r:id="rId8"/>
    <p:sldMasterId id="2147483657" r:id="rId9"/>
    <p:sldMasterId id="2147483658" r:id="rId10"/>
    <p:sldMasterId id="2147483659" r:id="rId11"/>
  </p:sldMasterIdLst>
  <p:sldIdLst>
    <p:sldId id="256" r:id="rId12"/>
    <p:sldId id="257" r:id="rId13"/>
    <p:sldId id="258" r:id="rId14"/>
    <p:sldId id="259" r:id="rId15"/>
    <p:sldId id="260" r:id="rId16"/>
    <p:sldId id="261" r:id="rId17"/>
  </p:sldIdLst>
  <p:sldSz cx="10693400" cy="7556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1000" cy="125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0D8BF82-994E-4187-8B6F-5382E30D8B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9B2423F-7EA9-4074-80B0-B940C23E510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10600" cy="480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379520" cy="13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34600" y="793440"/>
            <a:ext cx="96210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58400" cy="3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096640" cy="3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860F608-2E83-4A50-A659-9DB8619A35D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096640" cy="3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2352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10600" cy="480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379520" cy="13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34600" y="794520"/>
            <a:ext cx="962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58400" cy="3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096640" cy="3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1E0111A-C198-44F1-AE3D-6D02A3C0B8D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096640" cy="3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10600" cy="480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379520" cy="13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58400" cy="3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096640" cy="3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933054-8393-4E1D-868D-021D6E7A3C3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096640" cy="3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1000" cy="125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10600" cy="480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379520" cy="13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58400" cy="3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096640" cy="3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57587A5-62E1-4088-AE5F-1886D5BC7D6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096640" cy="3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1000" cy="125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10600" cy="480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379520" cy="13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58400" cy="3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096640" cy="3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94EC055-B4E4-47DA-9A74-5273E558E36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096640" cy="3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1000" cy="125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10600" cy="480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379520" cy="13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58400" cy="3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096640" cy="3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CC0A003-0C7B-47FE-886C-0D9C1488690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096640" cy="3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1000" cy="125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10600" cy="480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379520" cy="13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58400" cy="3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096640" cy="3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B994D4F-1ECB-487B-990D-C93D9ED91C2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096640" cy="3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1000" cy="125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10600" cy="480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379520" cy="13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58400" cy="3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096640" cy="3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0B2C398-9ABC-4EAC-A2FE-0904C412EC8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096640" cy="3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1000" cy="125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10600" cy="480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379520" cy="13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58400" cy="3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096640" cy="3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C162977-E562-4796-B07D-ED363EB8E3C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096640" cy="3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1000" cy="125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10600" cy="480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379520" cy="13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58400" cy="3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096640" cy="3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99A37C9-98F3-45BF-8F67-F6377E67A7D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096640" cy="3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1000" cy="125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26"/>
          <p:cNvGrpSpPr/>
          <p:nvPr/>
        </p:nvGrpSpPr>
        <p:grpSpPr>
          <a:xfrm>
            <a:off x="2625480" y="936360"/>
            <a:ext cx="8035200" cy="915840"/>
            <a:chOff x="2625480" y="936360"/>
            <a:chExt cx="8035200" cy="915840"/>
          </a:xfrm>
        </p:grpSpPr>
        <p:sp>
          <p:nvSpPr>
            <p:cNvPr id="72" name="Freeform 40"/>
            <p:cNvSpPr/>
            <p:nvPr/>
          </p:nvSpPr>
          <p:spPr>
            <a:xfrm>
              <a:off x="2625480" y="936360"/>
              <a:ext cx="8035200" cy="915840"/>
            </a:xfrm>
            <a:custGeom>
              <a:avLst/>
              <a:gdLst>
                <a:gd name="textAreaLeft" fmla="*/ 0 w 8035200"/>
                <a:gd name="textAreaRight" fmla="*/ 8072280 w 8035200"/>
                <a:gd name="textAreaTop" fmla="*/ 0 h 915840"/>
                <a:gd name="textAreaBottom" fmla="*/ 952920 h 91584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73" name="Group 27"/>
          <p:cNvGrpSpPr/>
          <p:nvPr/>
        </p:nvGrpSpPr>
        <p:grpSpPr>
          <a:xfrm>
            <a:off x="0" y="393840"/>
            <a:ext cx="8866440" cy="1591200"/>
            <a:chOff x="0" y="393840"/>
            <a:chExt cx="8866440" cy="1591200"/>
          </a:xfrm>
        </p:grpSpPr>
        <p:sp>
          <p:nvSpPr>
            <p:cNvPr id="74" name="Freeform 41"/>
            <p:cNvSpPr/>
            <p:nvPr/>
          </p:nvSpPr>
          <p:spPr>
            <a:xfrm>
              <a:off x="0" y="393840"/>
              <a:ext cx="232920" cy="232920"/>
            </a:xfrm>
            <a:custGeom>
              <a:avLst/>
              <a:gdLst>
                <a:gd name="textAreaLeft" fmla="*/ 0 w 232920"/>
                <a:gd name="textAreaRight" fmla="*/ 270000 w 232920"/>
                <a:gd name="textAreaTop" fmla="*/ 0 h 232920"/>
                <a:gd name="textAreaBottom" fmla="*/ 270000 h 23292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5" name="Freeform 42"/>
            <p:cNvSpPr/>
            <p:nvPr/>
          </p:nvSpPr>
          <p:spPr>
            <a:xfrm>
              <a:off x="0" y="663480"/>
              <a:ext cx="8866440" cy="1321560"/>
            </a:xfrm>
            <a:custGeom>
              <a:avLst/>
              <a:gdLst>
                <a:gd name="textAreaLeft" fmla="*/ 0 w 8866440"/>
                <a:gd name="textAreaRight" fmla="*/ 8903520 w 8866440"/>
                <a:gd name="textAreaTop" fmla="*/ 0 h 1321560"/>
                <a:gd name="textAreaBottom" fmla="*/ 1358640 h 132156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76" name="TextBox 109"/>
          <p:cNvSpPr/>
          <p:nvPr/>
        </p:nvSpPr>
        <p:spPr>
          <a:xfrm>
            <a:off x="1788480" y="1041120"/>
            <a:ext cx="707832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pt-BR" sz="5600" spc="320" strike="noStrike" u="none">
                <a:solidFill>
                  <a:srgbClr val="ffffff"/>
                </a:solidFill>
                <a:effectLst/>
                <a:uFillTx/>
                <a:latin typeface="Avenir Next LT Pro"/>
                <a:ea typeface="DejaVu Sans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10"/>
          <p:cNvSpPr/>
          <p:nvPr/>
        </p:nvSpPr>
        <p:spPr>
          <a:xfrm>
            <a:off x="1882080" y="2309040"/>
            <a:ext cx="5892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pt-BR" sz="175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DejaVu Sans"/>
              </a:rPr>
              <a:t>CERTIFICAMOS QUE O COLABORADOR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Caixa de Texto 25"/>
          <p:cNvSpPr/>
          <p:nvPr/>
        </p:nvSpPr>
        <p:spPr>
          <a:xfrm>
            <a:off x="1079640" y="4092120"/>
            <a:ext cx="832644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DejaVu Sans"/>
              </a:rPr>
              <a:t>Concluiu em 20 de Julho de 2026 o curso de NR-18 – Trabalho a quente realizado na empresa Volga Engenharia Ind. E comércio Ltda na Av. Elmar Arantes Cabral, SN, Quadra 001, Lote 5, CEP 74.993-535, Parque Industrial Vice-Presidente José Alencar, Aparecida de Goiânia-GO - CNPJ: 03.347.463/0001-12. Carga horária de 08 (oito) horas conforme determina legislação aplicável.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11"/>
          <p:cNvSpPr/>
          <p:nvPr/>
        </p:nvSpPr>
        <p:spPr>
          <a:xfrm>
            <a:off x="5800680" y="6302160"/>
            <a:ext cx="3882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Microsoft YaHei"/>
              </a:rPr>
              <a:t>    __________________________________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Microsoft YaHei"/>
              </a:rPr>
              <a:t>Hervinio Tomaz da Rocha Sobrinho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12"/>
          <p:cNvSpPr/>
          <p:nvPr/>
        </p:nvSpPr>
        <p:spPr>
          <a:xfrm>
            <a:off x="1398960" y="6945120"/>
            <a:ext cx="204660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venir LT Std 55 Roman"/>
                <a:ea typeface="Open Sans"/>
              </a:rPr>
              <a:t>Colaborador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13"/>
          <p:cNvSpPr/>
          <p:nvPr/>
        </p:nvSpPr>
        <p:spPr>
          <a:xfrm>
            <a:off x="6282000" y="6658200"/>
            <a:ext cx="3049200" cy="5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9"/>
              </a:lnSpc>
            </a:pPr>
            <a:r>
              <a:rPr b="0" lang="pt-BR" sz="14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Instrutor/Responsável Técnico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Téc. Segurança do Trabalho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pt-BR" sz="1400" spc="14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Reg: </a:t>
            </a:r>
            <a:r>
              <a:rPr b="0" lang="pt-BR" sz="13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002622/GO 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14"/>
          <p:cNvSpPr/>
          <p:nvPr/>
        </p:nvSpPr>
        <p:spPr>
          <a:xfrm>
            <a:off x="1117800" y="6344640"/>
            <a:ext cx="283968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3" name="TextBox 115"/>
          <p:cNvSpPr/>
          <p:nvPr/>
        </p:nvSpPr>
        <p:spPr>
          <a:xfrm>
            <a:off x="858960" y="2741400"/>
            <a:ext cx="8645760" cy="12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br>
              <a:rPr sz="4000"/>
            </a:b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AutoShape 14"/>
          <p:cNvSpPr/>
          <p:nvPr/>
        </p:nvSpPr>
        <p:spPr>
          <a:xfrm>
            <a:off x="541440" y="3405600"/>
            <a:ext cx="9253080" cy="360"/>
          </a:xfrm>
          <a:prstGeom prst="line">
            <a:avLst/>
          </a:prstGeom>
          <a:ln cap="rnd" w="47520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5" name="Retângulo 27"/>
          <p:cNvSpPr/>
          <p:nvPr/>
        </p:nvSpPr>
        <p:spPr>
          <a:xfrm>
            <a:off x="163080" y="2691000"/>
            <a:ext cx="10044000" cy="10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BRUNO DAS EXEMPLO BRITO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</a:t>
            </a: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CPF: 000.000.000-00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etângulo 28"/>
          <p:cNvSpPr/>
          <p:nvPr/>
        </p:nvSpPr>
        <p:spPr>
          <a:xfrm>
            <a:off x="784080" y="6480000"/>
            <a:ext cx="3355560" cy="5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ts val="14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Arial"/>
              </a:rPr>
              <a:t>__________________________     </a:t>
            </a:r>
            <a:r>
              <a:rPr b="1" lang="pt-BR" sz="11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Bruno Das Exemplo Brito 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Picture 40" descr=""/>
          <p:cNvPicPr/>
          <p:nvPr/>
        </p:nvPicPr>
        <p:blipFill>
          <a:blip r:embed="rId1"/>
          <a:stretch/>
        </p:blipFill>
        <p:spPr>
          <a:xfrm>
            <a:off x="1234080" y="6464880"/>
            <a:ext cx="2467440" cy="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Picture 41" descr=""/>
          <p:cNvPicPr/>
          <p:nvPr/>
        </p:nvPicPr>
        <p:blipFill>
          <a:blip r:embed="rId2"/>
          <a:stretch/>
        </p:blipFill>
        <p:spPr>
          <a:xfrm>
            <a:off x="6390000" y="6362640"/>
            <a:ext cx="2461680" cy="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Picture 42" descr=""/>
          <p:cNvPicPr/>
          <p:nvPr/>
        </p:nvPicPr>
        <p:blipFill>
          <a:blip r:embed="rId3"/>
          <a:stretch/>
        </p:blipFill>
        <p:spPr>
          <a:xfrm>
            <a:off x="6334560" y="6363000"/>
            <a:ext cx="2461680" cy="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116"/>
          <p:cNvSpPr/>
          <p:nvPr/>
        </p:nvSpPr>
        <p:spPr>
          <a:xfrm>
            <a:off x="1231920" y="654120"/>
            <a:ext cx="7659000" cy="90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2336"/>
              </a:lnSpc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17"/>
          <p:cNvSpPr/>
          <p:nvPr/>
        </p:nvSpPr>
        <p:spPr>
          <a:xfrm>
            <a:off x="546120" y="429480"/>
            <a:ext cx="5892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1" lang="pt-BR" sz="14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CONTEÚDO PROGRAMÁTICO GERAL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Caixa de Texto 26"/>
          <p:cNvSpPr/>
          <p:nvPr/>
        </p:nvSpPr>
        <p:spPr>
          <a:xfrm>
            <a:off x="393840" y="806400"/>
            <a:ext cx="9931320" cy="585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a)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Estudo da NR-18, Item 18.11;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b)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Identificação de Perigos e Análise de Riscos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Conceitos de Perigos e Riscos;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Técnicas de Identificação de Perigos e Análise de Riscos;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APP e APR - Análise Preliminar de Perigos e Análise Preliminar de Riscos.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c)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Permissão para Trabalho - PT;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d)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Limite inferior e superior de explosividade;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e)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Medidas de Controle no Local de Trabalho;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Inspeção Preliminar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Controle de materiais combustíveis e inflamáveis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Proteção Física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Atividades no entorno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Sinalização e Isolamento do Local de Trabalho;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Inspeção Posterior para controle de fontes de ignição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f)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Renovação de Ar no Local de Trabalho (Ventilação/Exaustão);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g)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Rede de Gases (Válvulas e Engates);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h)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Principais tipos de processo de soldagem;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i)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Principais EPI’s nos trabalhos de corte e solda;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j)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Ergonomia;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k)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Doenças ocupacionais;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l)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FISPQ.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roup 2"/>
          <p:cNvGrpSpPr/>
          <p:nvPr/>
        </p:nvGrpSpPr>
        <p:grpSpPr>
          <a:xfrm>
            <a:off x="2625480" y="936360"/>
            <a:ext cx="8035200" cy="915840"/>
            <a:chOff x="2625480" y="936360"/>
            <a:chExt cx="8035200" cy="915840"/>
          </a:xfrm>
        </p:grpSpPr>
        <p:sp>
          <p:nvSpPr>
            <p:cNvPr id="94" name="Freeform 4"/>
            <p:cNvSpPr/>
            <p:nvPr/>
          </p:nvSpPr>
          <p:spPr>
            <a:xfrm>
              <a:off x="2625480" y="936360"/>
              <a:ext cx="8035200" cy="915840"/>
            </a:xfrm>
            <a:custGeom>
              <a:avLst/>
              <a:gdLst>
                <a:gd name="textAreaLeft" fmla="*/ 0 w 8035200"/>
                <a:gd name="textAreaRight" fmla="*/ 8072280 w 8035200"/>
                <a:gd name="textAreaTop" fmla="*/ 0 h 915840"/>
                <a:gd name="textAreaBottom" fmla="*/ 952920 h 91584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95" name="Group 3"/>
          <p:cNvGrpSpPr/>
          <p:nvPr/>
        </p:nvGrpSpPr>
        <p:grpSpPr>
          <a:xfrm>
            <a:off x="0" y="393840"/>
            <a:ext cx="8866440" cy="1591200"/>
            <a:chOff x="0" y="393840"/>
            <a:chExt cx="8866440" cy="1591200"/>
          </a:xfrm>
        </p:grpSpPr>
        <p:sp>
          <p:nvSpPr>
            <p:cNvPr id="96" name="Freeform 5"/>
            <p:cNvSpPr/>
            <p:nvPr/>
          </p:nvSpPr>
          <p:spPr>
            <a:xfrm>
              <a:off x="0" y="393840"/>
              <a:ext cx="232920" cy="232920"/>
            </a:xfrm>
            <a:custGeom>
              <a:avLst/>
              <a:gdLst>
                <a:gd name="textAreaLeft" fmla="*/ 0 w 232920"/>
                <a:gd name="textAreaRight" fmla="*/ 270000 w 232920"/>
                <a:gd name="textAreaTop" fmla="*/ 0 h 232920"/>
                <a:gd name="textAreaBottom" fmla="*/ 270000 h 23292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7" name="Freeform 6"/>
            <p:cNvSpPr/>
            <p:nvPr/>
          </p:nvSpPr>
          <p:spPr>
            <a:xfrm>
              <a:off x="0" y="663480"/>
              <a:ext cx="8866440" cy="1321560"/>
            </a:xfrm>
            <a:custGeom>
              <a:avLst/>
              <a:gdLst>
                <a:gd name="textAreaLeft" fmla="*/ 0 w 8866440"/>
                <a:gd name="textAreaRight" fmla="*/ 8903520 w 8866440"/>
                <a:gd name="textAreaTop" fmla="*/ 0 h 1321560"/>
                <a:gd name="textAreaBottom" fmla="*/ 1358640 h 132156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98" name="TextBox 8"/>
          <p:cNvSpPr/>
          <p:nvPr/>
        </p:nvSpPr>
        <p:spPr>
          <a:xfrm>
            <a:off x="1788480" y="1041120"/>
            <a:ext cx="707832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pt-BR" sz="5600" spc="320" strike="noStrike" u="none">
                <a:solidFill>
                  <a:srgbClr val="ffffff"/>
                </a:solidFill>
                <a:effectLst/>
                <a:uFillTx/>
                <a:latin typeface="Avenir Next LT Pro"/>
                <a:ea typeface="DejaVu Sans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9"/>
          <p:cNvSpPr/>
          <p:nvPr/>
        </p:nvSpPr>
        <p:spPr>
          <a:xfrm>
            <a:off x="1882080" y="2309040"/>
            <a:ext cx="5892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pt-BR" sz="175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DejaVu Sans"/>
              </a:rPr>
              <a:t>CERTIFICAMOS QUE O COLABORADOR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Caixa de Texto 2"/>
          <p:cNvSpPr/>
          <p:nvPr/>
        </p:nvSpPr>
        <p:spPr>
          <a:xfrm>
            <a:off x="1079640" y="4092120"/>
            <a:ext cx="832644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DejaVu Sans"/>
              </a:rPr>
              <a:t>Concluiu em 20 de Julho de 2026 o curso de NR-18 – Trabalho a quente realizado na empresa Volga Engenharia Ind. E comércio Ltda na Av. Elmar Arantes Cabral, SN, Quadra 001, Lote 5, CEP 74.993-535, Parque Industrial Vice-Presidente José Alencar, Aparecida de Goiânia-GO - CNPJ: 03.347.463/0001-12. Carga horária de 08 (oito) horas conforme determina legislação aplicável.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10"/>
          <p:cNvSpPr/>
          <p:nvPr/>
        </p:nvSpPr>
        <p:spPr>
          <a:xfrm>
            <a:off x="5800680" y="6302160"/>
            <a:ext cx="3882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Microsoft YaHei"/>
              </a:rPr>
              <a:t>    __________________________________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Microsoft YaHei"/>
              </a:rPr>
              <a:t>Hervinio Tomaz da Rocha Sobrinho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11"/>
          <p:cNvSpPr/>
          <p:nvPr/>
        </p:nvSpPr>
        <p:spPr>
          <a:xfrm>
            <a:off x="1398960" y="6945120"/>
            <a:ext cx="204660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venir LT Std 55 Roman"/>
                <a:ea typeface="Open Sans"/>
              </a:rPr>
              <a:t>Colaborador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12"/>
          <p:cNvSpPr/>
          <p:nvPr/>
        </p:nvSpPr>
        <p:spPr>
          <a:xfrm>
            <a:off x="6282000" y="6658200"/>
            <a:ext cx="3049200" cy="5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9"/>
              </a:lnSpc>
            </a:pPr>
            <a:r>
              <a:rPr b="0" lang="pt-BR" sz="14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Instrutor/Responsável Técnico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Téc. Segurança do Trabalho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pt-BR" sz="1400" spc="14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Reg: </a:t>
            </a:r>
            <a:r>
              <a:rPr b="0" lang="pt-BR" sz="13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002622/GO 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13"/>
          <p:cNvSpPr/>
          <p:nvPr/>
        </p:nvSpPr>
        <p:spPr>
          <a:xfrm>
            <a:off x="1117800" y="6344640"/>
            <a:ext cx="283968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5" name="TextBox 14"/>
          <p:cNvSpPr/>
          <p:nvPr/>
        </p:nvSpPr>
        <p:spPr>
          <a:xfrm>
            <a:off x="858960" y="2741400"/>
            <a:ext cx="8645760" cy="12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br>
              <a:rPr sz="4000"/>
            </a:b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AutoShape 2"/>
          <p:cNvSpPr/>
          <p:nvPr/>
        </p:nvSpPr>
        <p:spPr>
          <a:xfrm>
            <a:off x="541440" y="3405600"/>
            <a:ext cx="9253080" cy="360"/>
          </a:xfrm>
          <a:prstGeom prst="line">
            <a:avLst/>
          </a:prstGeom>
          <a:ln cap="rnd" w="47520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7" name="Retângulo 3"/>
          <p:cNvSpPr/>
          <p:nvPr/>
        </p:nvSpPr>
        <p:spPr>
          <a:xfrm>
            <a:off x="163080" y="2691000"/>
            <a:ext cx="10044000" cy="10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JULIA DAS EXEMPLO PRADO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</a:t>
            </a: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CPF: 000.000.000-00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tângulo 4"/>
          <p:cNvSpPr/>
          <p:nvPr/>
        </p:nvSpPr>
        <p:spPr>
          <a:xfrm>
            <a:off x="784080" y="6480000"/>
            <a:ext cx="3355560" cy="5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ts val="14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Arial"/>
              </a:rPr>
              <a:t>__________________________     </a:t>
            </a:r>
            <a:r>
              <a:rPr b="1" lang="pt-BR" sz="11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Julia Das Exemplo Prado </a:t>
            </a:r>
            <a:r>
              <a: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Picture 4" descr=""/>
          <p:cNvPicPr/>
          <p:nvPr/>
        </p:nvPicPr>
        <p:blipFill>
          <a:blip r:embed="rId1"/>
          <a:stretch/>
        </p:blipFill>
        <p:spPr>
          <a:xfrm>
            <a:off x="1234080" y="6464880"/>
            <a:ext cx="2467440" cy="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Picture 5" descr=""/>
          <p:cNvPicPr/>
          <p:nvPr/>
        </p:nvPicPr>
        <p:blipFill>
          <a:blip r:embed="rId2"/>
          <a:stretch/>
        </p:blipFill>
        <p:spPr>
          <a:xfrm>
            <a:off x="6390000" y="6362640"/>
            <a:ext cx="2461680" cy="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Picture 6" descr=""/>
          <p:cNvPicPr/>
          <p:nvPr/>
        </p:nvPicPr>
        <p:blipFill>
          <a:blip r:embed="rId3"/>
          <a:stretch/>
        </p:blipFill>
        <p:spPr>
          <a:xfrm>
            <a:off x="6334560" y="6363000"/>
            <a:ext cx="2461680" cy="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"/>
          <p:cNvSpPr/>
          <p:nvPr/>
        </p:nvSpPr>
        <p:spPr>
          <a:xfrm>
            <a:off x="1231920" y="654120"/>
            <a:ext cx="7659000" cy="90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2336"/>
              </a:lnSpc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546120" y="429480"/>
            <a:ext cx="5892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1" lang="pt-BR" sz="14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CONTEÚDO PROGRAMÁTICO GERAL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Caixa de Texto 1"/>
          <p:cNvSpPr/>
          <p:nvPr/>
        </p:nvSpPr>
        <p:spPr>
          <a:xfrm>
            <a:off x="393840" y="806400"/>
            <a:ext cx="9931320" cy="585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a)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Estudo da NR-18, Item 18.11;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b)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Identificação de Perigos e Análise de Riscos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Conceitos de Perigos e Riscos;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Técnicas de Identificação de Perigos e Análise de Riscos;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APP e APR - Análise Preliminar de Perigos e Análise Preliminar de Riscos.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c)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Permissão para Trabalho - PT;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d)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Limite inferior e superior de explosividade;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e)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Medidas de Controle no Local de Trabalho;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Inspeção Preliminar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Controle de materiais combustíveis e inflamáveis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Proteção Física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Atividades no entorno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Sinalização e Isolamento do Local de Trabalho;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Inspeção Posterior para controle de fontes de ignição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f)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Renovação de Ar no Local de Trabalho (Ventilação/Exaustão);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g)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Rede de Gases (Válvulas e Engates);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h)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Principais tipos de processo de soldagem;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i)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Principais EPI’s nos trabalhos de corte e solda;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j)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Ergonomia;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k)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Doenças ocupacionais;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l)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FISPQ.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oup 4"/>
          <p:cNvGrpSpPr/>
          <p:nvPr/>
        </p:nvGrpSpPr>
        <p:grpSpPr>
          <a:xfrm>
            <a:off x="2625480" y="936360"/>
            <a:ext cx="8035200" cy="915840"/>
            <a:chOff x="2625480" y="936360"/>
            <a:chExt cx="8035200" cy="915840"/>
          </a:xfrm>
        </p:grpSpPr>
        <p:sp>
          <p:nvSpPr>
            <p:cNvPr id="116" name="Freeform 7"/>
            <p:cNvSpPr/>
            <p:nvPr/>
          </p:nvSpPr>
          <p:spPr>
            <a:xfrm>
              <a:off x="2625480" y="936360"/>
              <a:ext cx="8035200" cy="915840"/>
            </a:xfrm>
            <a:custGeom>
              <a:avLst/>
              <a:gdLst>
                <a:gd name="textAreaLeft" fmla="*/ 0 w 8035200"/>
                <a:gd name="textAreaRight" fmla="*/ 8072280 w 8035200"/>
                <a:gd name="textAreaTop" fmla="*/ 0 h 915840"/>
                <a:gd name="textAreaBottom" fmla="*/ 952920 h 91584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117" name="Group 5"/>
          <p:cNvGrpSpPr/>
          <p:nvPr/>
        </p:nvGrpSpPr>
        <p:grpSpPr>
          <a:xfrm>
            <a:off x="0" y="393840"/>
            <a:ext cx="8866440" cy="1591200"/>
            <a:chOff x="0" y="393840"/>
            <a:chExt cx="8866440" cy="1591200"/>
          </a:xfrm>
        </p:grpSpPr>
        <p:sp>
          <p:nvSpPr>
            <p:cNvPr id="118" name="Freeform 8"/>
            <p:cNvSpPr/>
            <p:nvPr/>
          </p:nvSpPr>
          <p:spPr>
            <a:xfrm>
              <a:off x="0" y="393840"/>
              <a:ext cx="232920" cy="232920"/>
            </a:xfrm>
            <a:custGeom>
              <a:avLst/>
              <a:gdLst>
                <a:gd name="textAreaLeft" fmla="*/ 0 w 232920"/>
                <a:gd name="textAreaRight" fmla="*/ 270000 w 232920"/>
                <a:gd name="textAreaTop" fmla="*/ 0 h 232920"/>
                <a:gd name="textAreaBottom" fmla="*/ 270000 h 23292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9" name="Freeform 9"/>
            <p:cNvSpPr/>
            <p:nvPr/>
          </p:nvSpPr>
          <p:spPr>
            <a:xfrm>
              <a:off x="0" y="663480"/>
              <a:ext cx="8866440" cy="1321560"/>
            </a:xfrm>
            <a:custGeom>
              <a:avLst/>
              <a:gdLst>
                <a:gd name="textAreaLeft" fmla="*/ 0 w 8866440"/>
                <a:gd name="textAreaRight" fmla="*/ 8903520 w 8866440"/>
                <a:gd name="textAreaTop" fmla="*/ 0 h 1321560"/>
                <a:gd name="textAreaBottom" fmla="*/ 1358640 h 132156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120" name="TextBox 15"/>
          <p:cNvSpPr/>
          <p:nvPr/>
        </p:nvSpPr>
        <p:spPr>
          <a:xfrm>
            <a:off x="1788480" y="1041120"/>
            <a:ext cx="707832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pt-BR" sz="5600" spc="320" strike="noStrike" u="none">
                <a:solidFill>
                  <a:srgbClr val="ffffff"/>
                </a:solidFill>
                <a:effectLst/>
                <a:uFillTx/>
                <a:latin typeface="Avenir Next LT Pro"/>
                <a:ea typeface="DejaVu Sans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16"/>
          <p:cNvSpPr/>
          <p:nvPr/>
        </p:nvSpPr>
        <p:spPr>
          <a:xfrm>
            <a:off x="1882080" y="2309040"/>
            <a:ext cx="5892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pt-BR" sz="175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DejaVu Sans"/>
              </a:rPr>
              <a:t>CERTIFICAMOS QUE O COLABORADOR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Caixa de Texto 3"/>
          <p:cNvSpPr/>
          <p:nvPr/>
        </p:nvSpPr>
        <p:spPr>
          <a:xfrm>
            <a:off x="1079640" y="4092120"/>
            <a:ext cx="832644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venir Next LT Pro"/>
                <a:ea typeface="DejaVu Sans"/>
              </a:rPr>
              <a:t>Concluiu em 20 de Julho de 2026 o curso de NR-18 – Trabalho a quente realizado na empresa Volga Engenharia Ind. E comércio Ltda na Av. Elmar Arantes Cabral, SN, Quadra 001, Lote 5, CEP 74.993-535, Parque Industrial Vice-Presidente José Alencar, Aparecida de Goiânia-GO - CNPJ: 03.347.463/0001-12. Carga horária de 08 (oito) horas conforme determina legislação aplicável.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17"/>
          <p:cNvSpPr/>
          <p:nvPr/>
        </p:nvSpPr>
        <p:spPr>
          <a:xfrm>
            <a:off x="5800680" y="6302160"/>
            <a:ext cx="38822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Microsoft YaHei"/>
              </a:rPr>
              <a:t>    __________________________________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Microsoft YaHei"/>
              </a:rPr>
              <a:t>Hervinio Tomaz da Rocha Sobrinho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18"/>
          <p:cNvSpPr/>
          <p:nvPr/>
        </p:nvSpPr>
        <p:spPr>
          <a:xfrm>
            <a:off x="1398960" y="6945120"/>
            <a:ext cx="204660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venir LT Std 55 Roman"/>
                <a:ea typeface="Open Sans"/>
              </a:rPr>
              <a:t>Colaborador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19"/>
          <p:cNvSpPr/>
          <p:nvPr/>
        </p:nvSpPr>
        <p:spPr>
          <a:xfrm>
            <a:off x="6282000" y="6658200"/>
            <a:ext cx="3049200" cy="5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9"/>
              </a:lnSpc>
            </a:pPr>
            <a:r>
              <a:rPr b="0" lang="pt-BR" sz="14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Instrutor/Responsável Técnico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Téc. Segurança do Trabalho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pt-BR" sz="1400" spc="14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Reg: </a:t>
            </a:r>
            <a:r>
              <a:rPr b="0" lang="pt-BR" sz="13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002622/GO 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20"/>
          <p:cNvSpPr/>
          <p:nvPr/>
        </p:nvSpPr>
        <p:spPr>
          <a:xfrm>
            <a:off x="1117800" y="6344640"/>
            <a:ext cx="283968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7" name="TextBox 21"/>
          <p:cNvSpPr/>
          <p:nvPr/>
        </p:nvSpPr>
        <p:spPr>
          <a:xfrm>
            <a:off x="858960" y="2741400"/>
            <a:ext cx="8645760" cy="12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br>
              <a:rPr sz="4000"/>
            </a:b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AutoShape 3"/>
          <p:cNvSpPr/>
          <p:nvPr/>
        </p:nvSpPr>
        <p:spPr>
          <a:xfrm>
            <a:off x="541440" y="3405600"/>
            <a:ext cx="9253080" cy="360"/>
          </a:xfrm>
          <a:prstGeom prst="line">
            <a:avLst/>
          </a:prstGeom>
          <a:ln cap="rnd" w="47520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9" name="Retângulo 5"/>
          <p:cNvSpPr/>
          <p:nvPr/>
        </p:nvSpPr>
        <p:spPr>
          <a:xfrm>
            <a:off x="163080" y="2691000"/>
            <a:ext cx="10044000" cy="10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 MARCOS EXEMPLO DUARTE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</a:t>
            </a: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CPF: 000.000.000-00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etângulo 6"/>
          <p:cNvSpPr/>
          <p:nvPr/>
        </p:nvSpPr>
        <p:spPr>
          <a:xfrm>
            <a:off x="784080" y="6480000"/>
            <a:ext cx="3355560" cy="5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ts val="14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Arial"/>
              </a:rPr>
              <a:t>__________________________     </a:t>
            </a:r>
            <a:r>
              <a:rPr b="1" lang="pt-BR" sz="11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Marcos Exemplo Duarte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Picture 7" descr=""/>
          <p:cNvPicPr/>
          <p:nvPr/>
        </p:nvPicPr>
        <p:blipFill>
          <a:blip r:embed="rId1"/>
          <a:stretch/>
        </p:blipFill>
        <p:spPr>
          <a:xfrm>
            <a:off x="1234080" y="6464880"/>
            <a:ext cx="2467440" cy="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" name="Picture 8" descr=""/>
          <p:cNvPicPr/>
          <p:nvPr/>
        </p:nvPicPr>
        <p:blipFill>
          <a:blip r:embed="rId2"/>
          <a:stretch/>
        </p:blipFill>
        <p:spPr>
          <a:xfrm>
            <a:off x="6390000" y="6362640"/>
            <a:ext cx="2461680" cy="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Picture 9" descr=""/>
          <p:cNvPicPr/>
          <p:nvPr/>
        </p:nvPicPr>
        <p:blipFill>
          <a:blip r:embed="rId3"/>
          <a:stretch/>
        </p:blipFill>
        <p:spPr>
          <a:xfrm>
            <a:off x="6334560" y="6363000"/>
            <a:ext cx="2461680" cy="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Box 3"/>
          <p:cNvSpPr/>
          <p:nvPr/>
        </p:nvSpPr>
        <p:spPr>
          <a:xfrm>
            <a:off x="1231920" y="654120"/>
            <a:ext cx="7659000" cy="90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2336"/>
              </a:lnSpc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4"/>
          <p:cNvSpPr/>
          <p:nvPr/>
        </p:nvSpPr>
        <p:spPr>
          <a:xfrm>
            <a:off x="546120" y="429480"/>
            <a:ext cx="5892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1" lang="pt-BR" sz="14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Open Sans"/>
              </a:rPr>
              <a:t>CONTEÚDO PROGRAMÁTICO GERAL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Caixa de Texto 4"/>
          <p:cNvSpPr/>
          <p:nvPr/>
        </p:nvSpPr>
        <p:spPr>
          <a:xfrm>
            <a:off x="393840" y="806400"/>
            <a:ext cx="9931320" cy="585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a)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Estudo da NR-18, Item 18.11;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b)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Identificação de Perigos e Análise de Riscos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Conceitos de Perigos e Riscos;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Técnicas de Identificação de Perigos e Análise de Riscos;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APP e APR - Análise Preliminar de Perigos e Análise Preliminar de Riscos.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c)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Permissão para Trabalho - PT;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d)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Limite inferior e superior de explosividade;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e)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Medidas de Controle no Local de Trabalho;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Inspeção Preliminar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Controle de materiais combustíveis e inflamáveis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Proteção Física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Atividades no entorno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Sinalização e Isolamento do Local de Trabalho;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•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Inspeção Posterior para controle de fontes de ignição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f)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Renovação de Ar no Local de Trabalho (Ventilação/Exaustão);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g)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Rede de Gases (Válvulas e Engates);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h)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Principais tipos de processo de soldagem;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i)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Principais EPI’s nos trabalhos de corte e solda;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j)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Ergonomia;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k)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Doenças ocupacionais;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l)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DejaVu Sans"/>
              </a:rPr>
              <a:t>FISPQ.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29362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Larissa Santana Rabelo</dc:creator>
  <dc:description/>
  <dc:language>pt-BR</dc:language>
  <cp:lastModifiedBy/>
  <cp:lastPrinted>2026-07-15T15:23:35Z</cp:lastPrinted>
  <dcterms:modified xsi:type="dcterms:W3CDTF">2026-07-15T16:35:00Z</dcterms:modified>
  <cp:revision>210</cp:revision>
  <dc:subject/>
  <dc:title>of Achievement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F211C065ACC147949C562C12667C37A7</vt:lpwstr>
  </property>
  <property fmtid="{D5CDD505-2E9C-101B-9397-08002B2CF9AE}" pid="3" name="KSOProductBuildVer">
    <vt:lpwstr>1046-11.2.0.10132</vt:lpwstr>
  </property>
  <property fmtid="{D5CDD505-2E9C-101B-9397-08002B2CF9AE}" pid="4" name="Notes">
    <vt:r8>1</vt:r8>
  </property>
  <property fmtid="{D5CDD505-2E9C-101B-9397-08002B2CF9AE}" pid="5" name="PresentationFormat">
    <vt:lpwstr>Personalizar</vt:lpwstr>
  </property>
  <property fmtid="{D5CDD505-2E9C-101B-9397-08002B2CF9AE}" pid="6" name="Slides">
    <vt:r8>2</vt:r8>
  </property>
</Properties>
</file>