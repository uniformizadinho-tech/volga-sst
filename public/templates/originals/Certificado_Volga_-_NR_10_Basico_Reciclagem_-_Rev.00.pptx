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693400" cy="7556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BD7D39D-7990-4056-B584-0B6E2679A2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496E88-0B84-434F-A608-CF70F76C1A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8E9ADA5-233D-4F15-BF75-7268DDB21B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0F8DB5-8C7D-403C-8DFB-83511FAAC8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5E63A9-72B4-494B-8214-D1580BA137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534600" y="301320"/>
            <a:ext cx="9623520" cy="584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F65F59-CB93-48D5-B3DD-409EA57569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FEEDC3-8990-421A-9C94-FDA741BB59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46588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1AD6E2-E141-488D-943D-E180ED685F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4FEEAF-59BB-4E52-8C11-57F305DA6B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534600" y="405720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D0854A-1CA6-4C94-AC1D-46754BE951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46588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0BC713-C5DA-49E5-ABBF-09A2EA8CCA5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78828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704232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53460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78828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704232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80ADFD-EE75-4974-A8AB-D2DE7B6A6C8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6240" cy="4836600"/>
          </a:xfrm>
          <a:prstGeom prst="rect">
            <a:avLst/>
          </a:prstGeom>
          <a:ln w="0">
            <a:noFill/>
          </a:ln>
        </p:spPr>
      </p:pic>
      <p:pic>
        <p:nvPicPr>
          <p:cNvPr id="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5160" cy="14151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603F40-EF47-4E28-9109-228257C9D9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Clique para editar o formato do texto do título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2"/>
          <p:cNvGrpSpPr/>
          <p:nvPr/>
        </p:nvGrpSpPr>
        <p:grpSpPr>
          <a:xfrm>
            <a:off x="2625480" y="936360"/>
            <a:ext cx="8070840" cy="951480"/>
            <a:chOff x="2625480" y="936360"/>
            <a:chExt cx="8070840" cy="951480"/>
          </a:xfrm>
        </p:grpSpPr>
        <p:sp>
          <p:nvSpPr>
            <p:cNvPr id="44" name="Freeform 3"/>
            <p:cNvSpPr/>
            <p:nvPr/>
          </p:nvSpPr>
          <p:spPr>
            <a:xfrm>
              <a:off x="2625480" y="936360"/>
              <a:ext cx="8070840" cy="951480"/>
            </a:xfrm>
            <a:custGeom>
              <a:avLst/>
              <a:gdLst>
                <a:gd name="textAreaLeft" fmla="*/ 0 w 8070840"/>
                <a:gd name="textAreaRight" fmla="*/ 8072280 w 8070840"/>
                <a:gd name="textAreaTop" fmla="*/ 0 h 951480"/>
                <a:gd name="textAreaBottom" fmla="*/ 952920 h 95148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5" name="AutoShape 5"/>
          <p:cNvSpPr/>
          <p:nvPr/>
        </p:nvSpPr>
        <p:spPr>
          <a:xfrm>
            <a:off x="2021760" y="3090240"/>
            <a:ext cx="6408360" cy="36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6" name="Group 8"/>
          <p:cNvGrpSpPr/>
          <p:nvPr/>
        </p:nvGrpSpPr>
        <p:grpSpPr>
          <a:xfrm>
            <a:off x="0" y="393840"/>
            <a:ext cx="8902080" cy="1626840"/>
            <a:chOff x="0" y="393840"/>
            <a:chExt cx="8902080" cy="1626840"/>
          </a:xfrm>
        </p:grpSpPr>
        <p:sp>
          <p:nvSpPr>
            <p:cNvPr id="47" name="Freeform 9"/>
            <p:cNvSpPr/>
            <p:nvPr/>
          </p:nvSpPr>
          <p:spPr>
            <a:xfrm>
              <a:off x="0" y="393840"/>
              <a:ext cx="268560" cy="268560"/>
            </a:xfrm>
            <a:custGeom>
              <a:avLst/>
              <a:gdLst>
                <a:gd name="textAreaLeft" fmla="*/ 0 w 268560"/>
                <a:gd name="textAreaRight" fmla="*/ 270000 w 268560"/>
                <a:gd name="textAreaTop" fmla="*/ 0 h 268560"/>
                <a:gd name="textAreaBottom" fmla="*/ 270000 h 26856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Freeform 10"/>
            <p:cNvSpPr/>
            <p:nvPr/>
          </p:nvSpPr>
          <p:spPr>
            <a:xfrm>
              <a:off x="0" y="663480"/>
              <a:ext cx="8902080" cy="1357200"/>
            </a:xfrm>
            <a:custGeom>
              <a:avLst/>
              <a:gdLst>
                <a:gd name="textAreaLeft" fmla="*/ 0 w 8902080"/>
                <a:gd name="textAreaRight" fmla="*/ 8903520 w 8902080"/>
                <a:gd name="textAreaTop" fmla="*/ 0 h 1357200"/>
                <a:gd name="textAreaBottom" fmla="*/ 1358640 h 135720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9" name="TextBox 17"/>
          <p:cNvSpPr/>
          <p:nvPr/>
        </p:nvSpPr>
        <p:spPr>
          <a:xfrm>
            <a:off x="1788480" y="1041120"/>
            <a:ext cx="711396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4" strike="noStrike">
                <a:solidFill>
                  <a:srgbClr val="ffffff"/>
                </a:solidFill>
                <a:latin typeface="Avenir Next LT Pro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Box 18"/>
          <p:cNvSpPr/>
          <p:nvPr/>
        </p:nvSpPr>
        <p:spPr>
          <a:xfrm>
            <a:off x="952200" y="3640680"/>
            <a:ext cx="878616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</a:rPr>
              <a:t>Concluiu com proficiência o treinamento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pt-BR" sz="1800" spc="-1" strike="noStrike">
                <a:solidFill>
                  <a:schemeClr val="dk1"/>
                </a:solidFill>
                <a:latin typeface="Calibri"/>
              </a:rPr>
              <a:t>NR10 (Básico) Reciclagem – Segurança em Instalações e serviços em Elétricidade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19"/>
          <p:cNvSpPr/>
          <p:nvPr/>
        </p:nvSpPr>
        <p:spPr>
          <a:xfrm>
            <a:off x="1923480" y="2185200"/>
            <a:ext cx="59281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2" strike="noStrike">
                <a:solidFill>
                  <a:srgbClr val="000000"/>
                </a:solidFill>
                <a:latin typeface="Avenir Next LT Pro"/>
              </a:rPr>
              <a:t>CERTIFICAMOS QUE O ALUNO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Caixa de Texto 3"/>
          <p:cNvSpPr/>
          <p:nvPr/>
        </p:nvSpPr>
        <p:spPr>
          <a:xfrm>
            <a:off x="882360" y="4540320"/>
            <a:ext cx="892620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600" spc="-1" strike="noStrike">
                <a:solidFill>
                  <a:schemeClr val="dk1"/>
                </a:solidFill>
                <a:latin typeface="Avenir LT Std 55 Roman"/>
              </a:rPr>
              <a:t>Concluído em 08/07/2025 à 10/07/2025 realizado na empresa Volga Engenharia Ind. E comércio Ltda na Av. Elmar Arantes Cabral, SN, Quadra 001, Lote 5, CEP 74.993-535, Parque Industrial Vice-Presidente José Alencar, Aparecida de Goiânia-GO - CNPJ: 03.347.463/0001-12. Carga horária de 20 (vinte) horas conforme determina legislação aplicável.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Picture 6" descr=""/>
          <p:cNvPicPr/>
          <p:nvPr/>
        </p:nvPicPr>
        <p:blipFill>
          <a:blip r:embed="rId1"/>
          <a:stretch/>
        </p:blipFill>
        <p:spPr>
          <a:xfrm>
            <a:off x="6576840" y="6413400"/>
            <a:ext cx="2497320" cy="20880"/>
          </a:xfrm>
          <a:prstGeom prst="rect">
            <a:avLst/>
          </a:prstGeom>
          <a:ln w="0">
            <a:noFill/>
          </a:ln>
        </p:spPr>
      </p:pic>
      <p:pic>
        <p:nvPicPr>
          <p:cNvPr id="54" name="Picture 7" descr=""/>
          <p:cNvPicPr/>
          <p:nvPr/>
        </p:nvPicPr>
        <p:blipFill>
          <a:blip r:embed="rId2"/>
          <a:stretch/>
        </p:blipFill>
        <p:spPr>
          <a:xfrm>
            <a:off x="560520" y="6374520"/>
            <a:ext cx="2497320" cy="20880"/>
          </a:xfrm>
          <a:prstGeom prst="rect">
            <a:avLst/>
          </a:prstGeom>
          <a:ln w="0">
            <a:noFill/>
          </a:ln>
        </p:spPr>
      </p:pic>
      <p:sp>
        <p:nvSpPr>
          <p:cNvPr id="55" name="TextBox 12"/>
          <p:cNvSpPr/>
          <p:nvPr/>
        </p:nvSpPr>
        <p:spPr>
          <a:xfrm>
            <a:off x="6402600" y="6498720"/>
            <a:ext cx="289872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Calibri"/>
                <a:ea typeface="Microsoft YaHei"/>
              </a:rPr>
              <a:t>Leonardo Batista R. de Godoy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13"/>
          <p:cNvSpPr/>
          <p:nvPr/>
        </p:nvSpPr>
        <p:spPr>
          <a:xfrm>
            <a:off x="5747400" y="6951240"/>
            <a:ext cx="308484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95"/>
              </a:lnSpc>
            </a:pPr>
            <a:br>
              <a:rPr sz="1400"/>
            </a:b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15"/>
          <p:cNvSpPr/>
          <p:nvPr/>
        </p:nvSpPr>
        <p:spPr>
          <a:xfrm>
            <a:off x="768240" y="6780960"/>
            <a:ext cx="208224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300" spc="11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Open Sans"/>
              </a:rPr>
              <a:t>Aluno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13"/>
          <p:cNvSpPr/>
          <p:nvPr/>
        </p:nvSpPr>
        <p:spPr>
          <a:xfrm>
            <a:off x="6215760" y="6831000"/>
            <a:ext cx="32720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alibri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alibri"/>
              </a:rPr>
              <a:t>Eng. Segurança do Trabalho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alibri"/>
              </a:rPr>
              <a:t>CREA: 1016590520/GO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Picture 7" descr=""/>
          <p:cNvPicPr/>
          <p:nvPr/>
        </p:nvPicPr>
        <p:blipFill>
          <a:blip r:embed="rId3"/>
          <a:stretch/>
        </p:blipFill>
        <p:spPr>
          <a:xfrm>
            <a:off x="3417120" y="6382440"/>
            <a:ext cx="2497320" cy="20880"/>
          </a:xfrm>
          <a:prstGeom prst="rect">
            <a:avLst/>
          </a:prstGeom>
          <a:ln w="0">
            <a:noFill/>
          </a:ln>
        </p:spPr>
      </p:pic>
      <p:sp>
        <p:nvSpPr>
          <p:cNvPr id="60" name="CaixaDeTexto 25"/>
          <p:cNvSpPr/>
          <p:nvPr/>
        </p:nvSpPr>
        <p:spPr>
          <a:xfrm>
            <a:off x="3282480" y="6429960"/>
            <a:ext cx="27666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Calibri"/>
              </a:rPr>
              <a:t>Naiara </a:t>
            </a:r>
            <a:r>
              <a:rPr b="1" lang="pt-BR" sz="1400" spc="-1" strike="noStrike">
                <a:solidFill>
                  <a:schemeClr val="dk1"/>
                </a:solidFill>
                <a:latin typeface="Calibri"/>
                <a:ea typeface="Microsoft YaHei"/>
              </a:rPr>
              <a:t>Meireles França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12"/>
          <p:cNvSpPr/>
          <p:nvPr/>
        </p:nvSpPr>
        <p:spPr>
          <a:xfrm>
            <a:off x="393840" y="6567480"/>
            <a:ext cx="264492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br>
              <a:rPr sz="1400"/>
            </a:b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16"/>
          <p:cNvSpPr/>
          <p:nvPr/>
        </p:nvSpPr>
        <p:spPr>
          <a:xfrm>
            <a:off x="270000" y="2431440"/>
            <a:ext cx="9966960" cy="23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chemeClr val="dk1"/>
                </a:solidFill>
                <a:latin typeface="Calibri"/>
                <a:ea typeface="Arial"/>
              </a:rPr>
              <a:t>SAMUEL EXEMPLO FARIAS BARROS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CPF: </a:t>
            </a:r>
            <a:r>
              <a:rPr b="1" lang="pt-BR" sz="3600" spc="-1" strike="noStrike">
                <a:solidFill>
                  <a:schemeClr val="dk1"/>
                </a:solidFill>
                <a:latin typeface="Calibri"/>
                <a:ea typeface="Arial"/>
              </a:rPr>
              <a:t>000.000.000-00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12"/>
          <p:cNvSpPr/>
          <p:nvPr/>
        </p:nvSpPr>
        <p:spPr>
          <a:xfrm>
            <a:off x="293400" y="6460200"/>
            <a:ext cx="303192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Calibri"/>
                <a:ea typeface="Microsoft YaHei"/>
              </a:rPr>
              <a:t>SAMUEL EXEMPLO FARIAS BARROS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CaixaDeTexto 1"/>
          <p:cNvSpPr/>
          <p:nvPr/>
        </p:nvSpPr>
        <p:spPr>
          <a:xfrm>
            <a:off x="3097080" y="6735600"/>
            <a:ext cx="3203640" cy="62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09" strike="noStrike">
                <a:solidFill>
                  <a:srgbClr val="2e2e2e"/>
                </a:solidFill>
                <a:latin typeface="Calibri"/>
                <a:ea typeface="Open Sans"/>
              </a:rPr>
              <a:t>Instrutor/Responsável Técnico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09" strike="noStrike">
                <a:solidFill>
                  <a:srgbClr val="2e2e2e"/>
                </a:solidFill>
                <a:latin typeface="Calibri"/>
                <a:ea typeface="Open Sans"/>
              </a:rPr>
              <a:t>Engenheira Eletricista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09" strike="noStrike">
                <a:solidFill>
                  <a:srgbClr val="2e2e2e"/>
                </a:solidFill>
                <a:latin typeface="Calibri"/>
                <a:ea typeface="Open Sans"/>
              </a:rPr>
              <a:t>CREA: 1018815520D/GO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8"/>
          <p:cNvSpPr/>
          <p:nvPr/>
        </p:nvSpPr>
        <p:spPr>
          <a:xfrm>
            <a:off x="546120" y="739440"/>
            <a:ext cx="4799160" cy="70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1. 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Introdução à segurança com eletricidade.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2. 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Risco em instalações e serviços com eletricidade: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a) O choque elétrico, mecanismo e efeitos;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b) Arcos elétricos, queimaduras e quedas;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c) Campos eletromagnéticos.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3. 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Técnicas de Analise de Risco.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4. 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Medidas de Controle de Risco Elétrico: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a) Desenergização;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b)Aterramento funcional (TN/TT/IT); de proteção temporário;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c) Equipotencialização;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d) Seccionamento automático da alimentação;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e) Dispositivos a corrente de fuga;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f) Extra baixa tensão;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g) Barreiras e invólucros;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h) Bloqueios e impedimentos;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i) Obstáculos e anteparos;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j) Isolamento das partes vivas;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K) Isolação dupla ou reforçada;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l) Colocação fora de alcance;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m) Separação elétrica.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5.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Normas Técnicas Brasileiras – NBR da ABNT: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NBR-5410, NBR 14039 e outras;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57168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6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Regulamentações do MTE: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571680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a) NRs;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b) NR-10 (Segurança em instalações e Serviços com Eletricidade);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c) Qualificação, habilitação, capacitação e autorização.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571680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571680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7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Equipamento de proteção coletiva.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571680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8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Equipamento de proteção individual.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9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Rotinas de trabalho – procedimentos.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19"/>
          <p:cNvSpPr/>
          <p:nvPr/>
        </p:nvSpPr>
        <p:spPr>
          <a:xfrm>
            <a:off x="927000" y="196920"/>
            <a:ext cx="59281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2" strike="noStrike">
                <a:solidFill>
                  <a:srgbClr val="000000"/>
                </a:solidFill>
                <a:latin typeface="Avenir Next LT Pro"/>
                <a:ea typeface="Open Sans"/>
              </a:rPr>
              <a:t>CONTEÚDO PR</a:t>
            </a:r>
            <a:r>
              <a:rPr b="1" lang="pt-BR" sz="2000" spc="182" strike="noStrike">
                <a:solidFill>
                  <a:srgbClr val="000000"/>
                </a:solidFill>
                <a:latin typeface="Avenir Next LT Pro"/>
                <a:ea typeface="Open Sans"/>
              </a:rPr>
              <a:t>O</a:t>
            </a:r>
            <a:r>
              <a:rPr b="1" lang="en-US" sz="2000" spc="182" strike="noStrike">
                <a:solidFill>
                  <a:srgbClr val="000000"/>
                </a:solidFill>
                <a:latin typeface="Avenir Next LT Pro"/>
                <a:ea typeface="Open Sans"/>
              </a:rPr>
              <a:t>G</a:t>
            </a:r>
            <a:r>
              <a:rPr b="1" lang="pt-BR" sz="2000" spc="182" strike="noStrike">
                <a:solidFill>
                  <a:srgbClr val="000000"/>
                </a:solidFill>
                <a:latin typeface="Avenir Next LT Pro"/>
                <a:ea typeface="Open Sans"/>
              </a:rPr>
              <a:t>RA</a:t>
            </a:r>
            <a:r>
              <a:rPr b="1" lang="en-US" sz="2000" spc="182" strike="noStrike">
                <a:solidFill>
                  <a:srgbClr val="000000"/>
                </a:solidFill>
                <a:latin typeface="Avenir Next LT Pro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18"/>
          <p:cNvSpPr/>
          <p:nvPr/>
        </p:nvSpPr>
        <p:spPr>
          <a:xfrm>
            <a:off x="5575320" y="618840"/>
            <a:ext cx="4570560" cy="67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8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Equipamento de proteção individual.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9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Rotinas de trabalho – procedimentos.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a) Instalações desenergizadas;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b) Liberação para serviços;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c) Sinalização;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d) Inspeção de áreas, serviços, ferramental e equipamentos.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10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Documentação de instalações elétricas.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11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Risco adicionais: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a) Altura;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b) Ambiente confinado;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c) Áreas classificadas;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d) Condições atmosféricas.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12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Proteção e combate a incêndios: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a) Noções básicas;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b) Medidas preventivas;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c) Métodos de extinção;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d) Prática;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13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Acidente de origem elétrica: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a) Causas diretas e indiretas;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b) Discussão de Casos;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14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Primeiros socorros: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a) Noções sobre lesões;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b) Priorização de atendimento;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c) Aplicação de respiração artificial;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d) Massagem Cardíaca;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e) Técnica para remoção de transporte de acidentados;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f) Práticas.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15. 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Responsabilidades.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8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8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4169</TotalTime>
  <Application>LibreOffice/7.6.3.2$Windows_X86_64 LibreOffice_project/29d686fea9f6705b262d369fede658f824154cc0</Application>
  <AppVersion>15.0000</AppVersion>
  <Words>523</Words>
  <Paragraphs>103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Larissa Santana Rabelo</dc:creator>
  <dc:description/>
  <dc:language>pt-BR</dc:language>
  <cp:lastModifiedBy/>
  <cp:lastPrinted>2025-06-30T15:26:45Z</cp:lastPrinted>
  <dcterms:modified xsi:type="dcterms:W3CDTF">2025-10-14T15:26:28Z</dcterms:modified>
  <cp:revision>69</cp:revision>
  <dc:subject/>
  <dc:title>of Achievement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5FD197FEF10A4E4FB139637E3CF775E3</vt:lpwstr>
  </property>
  <property fmtid="{D5CDD505-2E9C-101B-9397-08002B2CF9AE}" pid="3" name="KSOProductBuildVer">
    <vt:lpwstr>1046-11.2.0.10132</vt:lpwstr>
  </property>
  <property fmtid="{D5CDD505-2E9C-101B-9397-08002B2CF9AE}" pid="4" name="PresentationFormat">
    <vt:lpwstr>Personalizar</vt:lpwstr>
  </property>
  <property fmtid="{D5CDD505-2E9C-101B-9397-08002B2CF9AE}" pid="5" name="Slides">
    <vt:i4>2</vt:i4>
  </property>
</Properties>
</file>